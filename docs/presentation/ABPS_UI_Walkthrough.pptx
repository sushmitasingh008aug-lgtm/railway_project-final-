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members of the evaluation jury. Today we present the Automated Block Planning System (ABPS v4.0), engineered for the Ministry of Railways to solve the multi-billion rupee operational bottleneck of coordinating heavy track maintenance possessions around dense passenger express movements.</a:t>
            </a:r>
          </a:p>
          <a:p/>
          <a:p>
            <a:r>
              <a:t>Across the 1,447 km Delhi-Howrah mainline, manual planners previously spent 4 to 6 hours negotiating maintenance blocks, often resulting in severe train cascading delays or canceled safety possessions. Our system transforms this through automated CP-SAT constraint optimization, delivering certified zero-collision schedules, +0.67% network capacity gain, and a 63.1% consolidation index across all 18 operational sections.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Overview Defense:</a:t>
            </a:r>
          </a:p>
          <a:p>
            <a:r>
              <a:t>Our system organizes all 18 sections into a 5-tier operational hierarchy:</a:t>
            </a:r>
          </a:p>
          <a:p>
            <a:r>
              <a:t>1. Operations: Daily command, backlog prioritization, and 7-day/30-day block scheduling.</a:t>
            </a:r>
          </a:p>
          <a:p>
            <a:r>
              <a:t>2. Coordination: Cross-departmental synergy, shadow bundling, and train headway collision checking.</a:t>
            </a:r>
          </a:p>
          <a:p>
            <a:r>
              <a:t>3. Intelligence: Physics-informed AI risk scoring, Weibull curves, failure MTBF, and simulation sandboxing.</a:t>
            </a:r>
          </a:p>
          <a:p>
            <a:r>
              <a:t>4. Data: Multi-source enterprise ingestion, 21-dataset schema validation, and scenario benchmarking.</a:t>
            </a:r>
          </a:p>
          <a:p>
            <a:r>
              <a:t>5. Control: Level 4 human-in-the-loop sign-off steppers and 12-check mathematical verification gates.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System &amp; Color Coding Explanation:</a:t>
            </a:r>
          </a:p>
          <a:p>
            <a:r>
              <a:t>Every single UI component across all 18 sections follows a strict 6-color visual grammar. Blue indicates Navigation, Green indicates Primary Action triggers, Orange indicates Form inputs and filters, Purple indicates Cards and tabular content, Red indicates Safety Alerts and non-negotiable overrides, and Teal indicates Charts, Maps, and Telemetry timelines. This consistency ensures immediate familiarity for operators.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VIVA DEFENSE SCRIPT FOR SECTION 01: 1. Dashboard / GIS Map</a:t>
            </a:r>
          </a:p>
          <a:p/>
          <a:p>
            <a:r>
              <a:t>1. Spoken Viva Pitch:</a:t>
            </a:r>
          </a:p>
          <a:p>
            <a:r>
              <a:t>"The Dashboard is our operational nerve-center. It combines mathematical telemetry with Leaflet GIS spatial mapping so divisional controllers can monitor 1,447 km of high-density track, 72 certified maintenance blocks, and 1,819 train movements in a single, conflict-free interface."</a:t>
            </a:r>
          </a:p>
          <a:p/>
          <a:p>
            <a:r>
              <a:t>2. Core Function &amp; Why Included:</a:t>
            </a:r>
          </a:p>
          <a:p>
            <a:r>
              <a:t>The Dashboard / GIS Map is the executive operational landing page of ABPS v4.0. It integrates real-time network health, scheduled CP-SAT block status, pending asset maintenance alerts, and an interactive GIS spatial map across all 6 high-density corridor sections of Delhi Division. Without a unified command dashboard, railway traffic controllers must cross-reference isolated logbooks, scada alarms, and train control charts. This section brings all operational threads into a single glass pane, allowing instant decision-making and rapid bottleneck identification.</a:t>
            </a:r>
          </a:p>
          <a:p/>
          <a:p>
            <a:r>
              <a:t>3. Practical Example:</a:t>
            </a:r>
          </a:p>
          <a:p>
            <a:r>
              <a:t>At 06:30 AM during morning peak, a Sectional Controller notices the 'Critical Tasks' badge turns red (15 urgent defects). By clicking the top urgent TRD task on the GIS map, the controller instantly sees a sagging catenary wire at KM 142/8 and initiates an emergency block recommendation before freight congestion peaks.</a:t>
            </a:r>
          </a:p>
          <a:p/>
          <a:p>
            <a:r>
              <a:t>4. Key Component Callouts:</a:t>
            </a:r>
          </a:p>
          <a:p>
            <a:r>
              <a:t>- Callout #1: Global Brand &amp; Divisional Shell Header [NAV] -&gt; Our shell header anchors the system to Delhi Division, displaying live connection status to the central dispatch server.</a:t>
            </a:r>
          </a:p>
          <a:p>
            <a:r>
              <a:t>- Callout #2: Critical KPI Telemetry Ribbon [CARD] -&gt; At a glance, division controllers see our system has certified 72 conflict-free block windows while resolving all 15 high-criticality asset defects.</a:t>
            </a:r>
          </a:p>
          <a:p>
            <a:r>
              <a:t>- Callout #3: Maintenance Priority Queue [ALERT] -&gt; Our priority queue ranks work orders using physics-informed degradation models, guaranteeing that safety-critical rail cracks are addressed first.</a:t>
            </a:r>
          </a:p>
          <a:p>
            <a:r>
              <a:t>- Callout #4: Leaflet GIS Corridor Asset Map [CHART] -&gt; This interactive GIS map provides live geospatial tracking of Delhi Division's 6 main sections, highlighting active track possessions in real time.</a:t>
            </a:r>
          </a:p>
          <a:p>
            <a:r>
              <a:t>- Callout #5: Corridor Performance &amp; Punctuality Matrix [CHART] -&gt; Here controllers monitor throughput and punctuality across all 6 corridor segments, proving that our block allocations preserve track capacity.</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VIVA DEFENSE SCRIPT FOR SECTION 02: 2. Asset Backlog</a:t>
            </a:r>
          </a:p>
          <a:p/>
          <a:p>
            <a:r>
              <a:t>1. Spoken Viva Pitch:</a:t>
            </a:r>
          </a:p>
          <a:p>
            <a:r>
              <a:t>"Asset Backlog breaks departmental silos by aggregating engineering, traction, and signaling work orders into one place. Every task is scored with our expected-loss formula so life-safety track repairs always take precedence."</a:t>
            </a:r>
          </a:p>
          <a:p/>
          <a:p>
            <a:r>
              <a:t>2. Core Function &amp; Why Included:</a:t>
            </a:r>
          </a:p>
          <a:p>
            <a:r>
              <a:t>Asset Backlog is the centralized inventory of all pending, approved, and completed railway maintenance tasks across permanent way, overhead electrification, and signaling assets. Historically, each railway department operated in silos using separate paper ledgers or disparate legacy databases. Asset Backlog unifies all departments into a standardized schema with rigorous priority scoring.</a:t>
            </a:r>
          </a:p>
          <a:p/>
          <a:p>
            <a:r>
              <a:t>3. Practical Example:</a:t>
            </a:r>
          </a:p>
          <a:p>
            <a:r>
              <a:t>A Permanent Way Inspector logs an ultrasonic flaw detected at KM 142/8. The task enters Asset Backlog, is flagged as ENG with Criticality 96.7, and is immediately color-coded in red with a statutory 48-hour completion deadline.</a:t>
            </a:r>
          </a:p>
          <a:p/>
          <a:p>
            <a:r>
              <a:t>4. Key Component Callouts:</a:t>
            </a:r>
          </a:p>
          <a:p>
            <a:r>
              <a:t>- Callout #1: Departmental Quick-Filter Toolbar [ACTION] -&gt; These quick-filters allow track, overhead electric, and signaling supervisors to instantly filter their respective work orders.</a:t>
            </a:r>
          </a:p>
          <a:p>
            <a:r>
              <a:t>- Callout #2: Urgency &amp; Risk Distribution Cards [CARD] -&gt; These summary cards categorize the backlog into 4 distinct risk tiers, highlighting the 15 non-negotiable safety tasks.</a:t>
            </a:r>
          </a:p>
          <a:p>
            <a:r>
              <a:t>- Callout #3: Backlog Search &amp; Corridor Filter Input [FORM] -&gt; With this search bar, a controller can type 'KM 142' and immediately find all pending track, signal, and wire work at that exact kilometer.</a:t>
            </a:r>
          </a:p>
          <a:p>
            <a:r>
              <a:t>- Callout #4: Unified Asset Maintenance Task Table [CARD] -&gt; This table lists every pending task with its mathematical priority score, department code, required duration, and statutory deadline.</a:t>
            </a:r>
          </a:p>
          <a:p>
            <a:r>
              <a:t>- Callout #5: Task Action &amp; Drawer Trigger [ACTION] -&gt; Clicking inspect opens our detailed engineering drawer, displaying ultrasonic flaw depth, required tamping machinery, and electrical isolation checklists.</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VIVA DEFENSE SCRIPT FOR SECTION 03: 3. Weekly Block Planner</a:t>
            </a:r>
          </a:p>
          <a:p/>
          <a:p>
            <a:r>
              <a:t>1. Spoken Viva Pitch:</a:t>
            </a:r>
          </a:p>
          <a:p>
            <a:r>
              <a:t>"The Weekly Block Planner is powered by Google OR-Tools CP-SAT. It converts complex railway constraints into mathematical equations, delivering 72 certified, conflict-free maintenance windows across 7 days with zero headway violations."</a:t>
            </a:r>
          </a:p>
          <a:p/>
          <a:p>
            <a:r>
              <a:t>2. Core Function &amp; Why Included:</a:t>
            </a:r>
          </a:p>
          <a:p>
            <a:r>
              <a:t>The Weekly Block Planner is the tactical scheduling canvas of ABPS v4.0. It renders a 7-day, 24-hour visual Gantt timeline of certified maintenance blocks allocated across Delhi Division's 6 corridor sections. Manual scheduling of line blocks across saturated double-track lines frequently leads to canceled blocks, emergency train stoppages, or unsafe overlapping possessions. The Weekly Block Planner delivers mathematically certified, conflict-free block windows.</a:t>
            </a:r>
          </a:p>
          <a:p/>
          <a:p>
            <a:r>
              <a:t>3. Practical Example:</a:t>
            </a:r>
          </a:p>
          <a:p>
            <a:r>
              <a:t>During weekend planning, the optimizer detects a 180-minute maintenance window between Kanpur and Prayagraj at 02:30 AM. It allocates a combined OHE wire replacement and track tamping possession, automatically keeping the UP line clear for Prayagraj Express.</a:t>
            </a:r>
          </a:p>
          <a:p/>
          <a:p>
            <a:r>
              <a:t>4. Key Component Callouts:</a:t>
            </a:r>
          </a:p>
          <a:p>
            <a:r>
              <a:t>- Callout #1: Planner Date Navigator &amp; Horizon Toolbar [NAV] -&gt; This date navigator allows controllers to scroll seamlessly through 7 days of scheduled blocks or jump directly to weekend possession windows.</a:t>
            </a:r>
          </a:p>
          <a:p>
            <a:r>
              <a:t>- Callout #2: CP-SAT Optimization Execution Button [ACTION] -&gt; Clicking this button invokes Google OR-Tools CP-SAT, solving 15,000 constraint equations in under 2 seconds to generate a conflict-free plan.</a:t>
            </a:r>
          </a:p>
          <a:p>
            <a:r>
              <a:t>- Callout #3: 6 Corridor Sections Gantt Swimlanes [CHART] -&gt; These 6 corridor swimlanes map out all maintenance blocks across the Delhi-Howrah route, color-coded by department so controllers immediately see track occupancy.</a:t>
            </a:r>
          </a:p>
          <a:p>
            <a:r>
              <a:t>- Callout #4: Assigned Corridor Possessions Table [CARD] -&gt; Below the timeline, this table provides the official possession roster, showing exact line allocations, start/end times, and certified safety clearances.</a:t>
            </a:r>
          </a:p>
          <a:p>
            <a:r>
              <a:t>- Callout #5: Statutory Headway Clearance Indicator [ALERT] -&gt; This compliance badge proves that all 72 blocks strictly adhere to the mandatory 10-minute headway clearance from high-speed trains.</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VIVA DEFENSE SCRIPT FOR SECTION 04: 4. Monthly Forecast</a:t>
            </a:r>
          </a:p>
          <a:p/>
          <a:p>
            <a:r>
              <a:t>1. Spoken Viva Pitch:</a:t>
            </a:r>
          </a:p>
          <a:p>
            <a:r>
              <a:t>"While the Weekly Planner handles tactical execution, the Monthly Forecast provides 30-day strategic foresight. It allows headquarters to plan heavy track renewal and bridge works weeks in advance without causing unannounced train cancellations."</a:t>
            </a:r>
          </a:p>
          <a:p/>
          <a:p>
            <a:r>
              <a:t>2. Core Function &amp; Why Included:</a:t>
            </a:r>
          </a:p>
          <a:p>
            <a:r>
              <a:t>The Monthly Forecast section is the strategic capacity planning dashboard of ABPS v4.0. It projects maintenance requirements and track possession opportunities across a 30-day planning horizon. Major infrastructure works (such as deep track screening, bridge girder rebuilding, or OHE rewiring) require weeks of advance notice to coordinate loco diversions and freight re-routing. This section enables long-range strategic coordination.</a:t>
            </a:r>
          </a:p>
          <a:p/>
          <a:p>
            <a:r>
              <a:t>3. Practical Example:</a:t>
            </a:r>
          </a:p>
          <a:p>
            <a:r>
              <a:t>A Senior Divisional Engineer plans a 4-hour track renewal near Aligarh. Looking at the 30-day forecast, the system highlights Day 18 (low freight density window) as having 42% lower passenger traffic disruption than Day 12.</a:t>
            </a:r>
          </a:p>
          <a:p/>
          <a:p>
            <a:r>
              <a:t>4. Key Component Callouts:</a:t>
            </a:r>
          </a:p>
          <a:p>
            <a:r>
              <a:t>- Callout #1: Horizon Duration Toggle [NAV] -&gt; This horizon switcher toggles between tactical 7-day schedules and strategic 30-day long-range corridor projections.</a:t>
            </a:r>
          </a:p>
          <a:p>
            <a:r>
              <a:t>- Callout #2: Corridor Capacity &amp; Traffic Projection Chart [CHART] -&gt; This chart plots 30 days of train density against available maintenance capacity, highlighting optimal low-traffic days for major track works.</a:t>
            </a:r>
          </a:p>
          <a:p>
            <a:r>
              <a:t>- Callout #3: Multi-Horizon Day Cards Grid [CARD] -&gt; These day cards break down the 30-day forecast day-by-day, color-coding each day by maintenance density to prevent workload clustering.</a:t>
            </a:r>
          </a:p>
          <a:p>
            <a:r>
              <a:t>- Callout #4: Preventive vs Emergency Workload Breakdown [CHART] -&gt; Here we track our preventive vs emergency workload: ABPS achieves an 88% planned maintenance ratio, drastically reducing reactive emergency line closures.</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VIVA DEFENSE SCRIPT FOR SECTION 05: 5. Anomaly Handling</a:t>
            </a:r>
          </a:p>
          <a:p/>
          <a:p>
            <a:r>
              <a:t>1. Spoken Viva Pitch:</a:t>
            </a:r>
          </a:p>
          <a:p>
            <a:r>
              <a:t>"Anomaly Handling protects live operations from unexpected disruptions. Our system recognizes 29 scenario classes—from tamping machine failures to sudden fog restrictions—and computes verified auto-remediations in under 3 seconds."</a:t>
            </a:r>
          </a:p>
          <a:p/>
          <a:p>
            <a:r>
              <a:t>2. Core Function &amp; Why Included:</a:t>
            </a:r>
          </a:p>
          <a:p>
            <a:r>
              <a:t>Anomaly Handling is the real-time disruption management system of ABPS v4.0. It continuously monitors live train feeds and asset sensors to detect schedule infringements and generate instant auto-remediation recommendations. Even the best planned schedule faces unexpected operational disruptions in live railway operations—track machine breakdowns, signal failures, or train delays. This section ensures the system responds autonomously within seconds.</a:t>
            </a:r>
          </a:p>
          <a:p/>
          <a:p>
            <a:r>
              <a:t>3. Practical Example:</a:t>
            </a:r>
          </a:p>
          <a:p>
            <a:r>
              <a:t>A track tamping machine experiences hydraulic failure 40 minutes into a 180-minute block. Anomaly Handling detects the stall, isolates the stranded machine at KM 84, immediately re-opens the adjacent track line for Rajdhani Express, and re-allocates the remaining tamping work to Thursday.</a:t>
            </a:r>
          </a:p>
          <a:p/>
          <a:p>
            <a:r>
              <a:t>4. Key Component Callouts:</a:t>
            </a:r>
          </a:p>
          <a:p>
            <a:r>
              <a:t>- Callout #1: 29 Scenario Benchmark Coverage Header [CARD] -&gt; This banner confirms that our anomaly engine has 100% test coverage across all 29 standard Indian Railways disruption scenarios.</a:t>
            </a:r>
          </a:p>
          <a:p>
            <a:r>
              <a:t>- Callout #2: Active Anomaly Incident Trace Panel [ALERT] -&gt; When an incident occurs, this red trace panel immediately surfaces the disruption details, affected track kilometer, and severity level.</a:t>
            </a:r>
          </a:p>
          <a:p>
            <a:r>
              <a:t>- Callout #3: Automated Remediation Strategy Recommender [ACTION] -&gt; Our system doesn't just flag problems—it solves them. Here it evaluates 3 distinct recovery options and recommends the one with lowest delay.</a:t>
            </a:r>
          </a:p>
          <a:p>
            <a:r>
              <a:t>- Callout #4: Incident Chronology &amp; Audit Trace Log [CHART] -&gt; This chronology maintains an immutable audit log of the disruption from initial detection to final resolution, timestamped to the millisecond.</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VIVA DEFENSE SCRIPT FOR SECTION 06: 6. Coordination Centre</a:t>
            </a:r>
          </a:p>
          <a:p/>
          <a:p>
            <a:r>
              <a:t>1. Spoken Viva Pitch:</a:t>
            </a:r>
          </a:p>
          <a:p>
            <a:r>
              <a:t>"The Coordination Centre breaks the greatest efficiency barrier in Indian Railways: departmental silos. By bundling track, electrical, and signal work into shared shadow blocks, we achieve a 63.1% reduction in line possession requests without compromising safety."</a:t>
            </a:r>
          </a:p>
          <a:p/>
          <a:p>
            <a:r>
              <a:t>2. Core Function &amp; Why Included:</a:t>
            </a:r>
          </a:p>
          <a:p>
            <a:r>
              <a:t>The Coordination Centre is the cross-departmental synergy hub of ABPS v4.0. It clusters maintenance tasks from different railway engineering wings into single, coordinated track possessions (known as 'shadow blocks'). In Indian Railways, Engineering, Electrical (TRD), and Signaling (S&amp;T) traditionally demand separate block possessions on the same track segment, closing the line multiple times. Bundling them into one possession eliminates redundant track closures.</a:t>
            </a:r>
          </a:p>
          <a:p/>
          <a:p>
            <a:r>
              <a:t>3. Practical Example:</a:t>
            </a:r>
          </a:p>
          <a:p>
            <a:r>
              <a:t>At Ghaziabad Yard, TRD requests 2 hours for OHE isolator maintenance, while P-Way requests 2 hours for point machine packing. The Coordination Centre bundles both into a single 2-hour block, saving 120 minutes of line closure.</a:t>
            </a:r>
          </a:p>
          <a:p/>
          <a:p>
            <a:r>
              <a:t>4. Key Component Callouts:</a:t>
            </a:r>
          </a:p>
          <a:p>
            <a:r>
              <a:t>- Callout #1: Hero Coordination Candidate Card [ACTION] -&gt; Our AI spotlights this high-impact opportunity: bundling rail welding, track circuit testing, and OHE maintenance saves 2 complete line closures.</a:t>
            </a:r>
          </a:p>
          <a:p>
            <a:r>
              <a:t>- Callout #2: Deterministic 8-Point Compatibility Matrix [ALERT] -&gt; Our 8-point deterministic safety matrix validates 15,000 potential task combinations, strictly prohibiting hazardous overlaps like ballast cleaning near optical sensors.</a:t>
            </a:r>
          </a:p>
          <a:p>
            <a:r>
              <a:t>- Callout #3: Canonical Synergy Principles Breakdown [CARD] -&gt; These 4 synergy principles quantify our savings: shared 25kV power shutoffs, co-located crew staging, and joint track inspection.</a:t>
            </a:r>
          </a:p>
          <a:p>
            <a:r>
              <a:t>- Callout #4: Pairwise Coordination Audit Roster [CHART] -&gt; This audit roster allows engineering supervisors to verify the exact spatial proximity and power shutoff synergy for every proposed shadow block.</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VIVA DEFENSE SCRIPT FOR SECTION 07: 7. Integrated / Shadow Blocks</a:t>
            </a:r>
          </a:p>
          <a:p/>
          <a:p>
            <a:r>
              <a:t>1. Spoken Viva Pitch:</a:t>
            </a:r>
          </a:p>
          <a:p>
            <a:r>
              <a:t>"This Before-and-After view provides concrete proof of our impact: we compress 11 hours of scattered departmental block requests into 5 synchronized hours. That delivers a 63.1% consolidation index and returns 6 hours of line capacity to revenue trains."</a:t>
            </a:r>
          </a:p>
          <a:p/>
          <a:p>
            <a:r>
              <a:t>2. Core Function &amp; Why Included:</a:t>
            </a:r>
          </a:p>
          <a:p>
            <a:r>
              <a:t>Integrated / Shadow Blocks (Before vs After) is the quantitative business intelligence and ROI dashboard of ABPS v4.0. It compares traditional uncoordinated railway operations against ABPS-optimized shadow block scheduling. Railway senior executives require rigorous mathematical proof that AI optimization delivers tangible improvements in punctuality, line capacity, and financial return. This screen visualizes those gains side-by-side.</a:t>
            </a:r>
          </a:p>
          <a:p/>
          <a:p>
            <a:r>
              <a:t>3. Practical Example:</a:t>
            </a:r>
          </a:p>
          <a:p>
            <a:r>
              <a:t>In traditional scheduling, Delhi-Ghaziabad was blocked 5 separate times in one week (totaling 11 hours). Under ABPS, those same tasks were executed in 2 integrated windows totaling 5 hours, returning 6 full hours of track capacity to freight trains.</a:t>
            </a:r>
          </a:p>
          <a:p/>
          <a:p>
            <a:r>
              <a:t>4. Key Component Callouts:</a:t>
            </a:r>
          </a:p>
          <a:p>
            <a:r>
              <a:t>- Callout #1: Optimization ROI &amp; Impact Ribbon [CARD] -&gt; This ROI ribbon highlights our core results: 63.1% block consolidation, a 0.67% gain in mainline availability, and zero train collisions.</a:t>
            </a:r>
          </a:p>
          <a:p>
            <a:r>
              <a:t>- Callout #2: Baseline vs Integrated Comparative Gantt [CHART] -&gt; Comparing the two timelines side-by-side: top shows fragmented manual planning blocking the line 5 times; bottom shows ABPS compressing them into 2 clean windows.</a:t>
            </a:r>
          </a:p>
          <a:p>
            <a:r>
              <a:t>- Callout #3: Corridor Availability Gain Analysis [CHART] -&gt; A 0.67% availability gain might sound modest, but on Delhi-Howrah it unlocks enough track capacity to run 14 additional freight trains every single day.</a:t>
            </a:r>
          </a:p>
          <a:p>
            <a:r>
              <a:t>- Callout #4: Departmental Possession Compression Ledger [CARD] -&gt; This ledger shows that all 3 departments received 100% of their requested maintenance hours, but through shadow scheduling we saved 38 hours of line closures.</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VIVA DEFENSE SCRIPT FOR SECTION 08: 8. Train &amp; Block Conflicts</a:t>
            </a:r>
          </a:p>
          <a:p/>
          <a:p>
            <a:r>
              <a:t>1. Spoken Viva Pitch:</a:t>
            </a:r>
          </a:p>
          <a:p>
            <a:r>
              <a:t>"This screen is our safety proof. It cross-examines all 72 maintenance blocks against 1,819 timetabled passenger trains across both UP and DOWN lines, proving with mathematical certainty that every single train maintains at least 10 minutes of buffer."</a:t>
            </a:r>
          </a:p>
          <a:p/>
          <a:p>
            <a:r>
              <a:t>2. Core Function &amp; Why Included:</a:t>
            </a:r>
          </a:p>
          <a:p>
            <a:r>
              <a:t>Train &amp; Block Conflicts is the collision auditing and timetable verification canvas of ABPS v4.0. It maps every timetabled passenger and freight train against planned track maintenance blocks on UP and DOWN tracks. The primary constraint in railway block planning is passenger train safety and punctuality. A block must never overlap with a train movement or violate statutory braking headways. This section proves collision-free operation.</a:t>
            </a:r>
          </a:p>
          <a:p/>
          <a:p>
            <a:r>
              <a:t>3. Practical Example:</a:t>
            </a:r>
          </a:p>
          <a:p>
            <a:r>
              <a:t>A controller schedules an OHE maintenance block on the UP Line between Ghaziabad and Aligarh from 07:00 to 09:00. The conflict engine checks all UP trains, notes that Rajdhani Express passes at 06:46 (+14m buffer) and Gomti Express at 09:12 (+12m buffer), certifying the block window as 100% compliant.</a:t>
            </a:r>
          </a:p>
          <a:p/>
          <a:p>
            <a:r>
              <a:t>4. Key Component Callouts:</a:t>
            </a:r>
          </a:p>
          <a:p>
            <a:r>
              <a:t>- Callout #1: Directional Track Line Selector [FORM] -&gt; This directional selector allows controllers to audit the UP and DOWN mainlines independently, matching actual Indian Railways double-track operations.</a:t>
            </a:r>
          </a:p>
          <a:p>
            <a:r>
              <a:t>- Callout #2: 1,819 Timetable Trains Telemetry Banner [CARD] -&gt; This banner confirms that our system has checked all 1,819 scheduled train movements and certified that zero conflicts exist across the entire division.</a:t>
            </a:r>
          </a:p>
          <a:p>
            <a:r>
              <a:t>- Callout #3: Directional UP/DOWN Conflict Swimlanes [ALERT] -&gt; This string chart plots train trajectories against our maintenance blocks, making it visually obvious that every train passes safely outside block possession windows.</a:t>
            </a:r>
          </a:p>
          <a:p>
            <a:r>
              <a:t>- Callout #4: Statutory 10-Minute Headway Buffer Compliance Card [ACTION] -&gt; This certificate verifies that our closest train-to-block margin is +14 minutes, exceeding the statutory 10-minute requirement and ensuring complete safety.</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VIVA DEFENSE SCRIPT FOR SECTION 09: 9. AI Risk &amp; Priority</a:t>
            </a:r>
          </a:p>
          <a:p/>
          <a:p>
            <a:r>
              <a:t>1. Spoken Viva Pitch:</a:t>
            </a:r>
          </a:p>
          <a:p>
            <a:r>
              <a:t>"Our AI is not a black box. We combine an XGBoost champion model with physics-based Weibull degradation curves, and explain every decision using SHAP feature attributions. When rail safety is involved, deterministic rules override AI to guarantee protection."</a:t>
            </a:r>
          </a:p>
          <a:p/>
          <a:p>
            <a:r>
              <a:t>2. Core Function &amp; Why Included:</a:t>
            </a:r>
          </a:p>
          <a:p>
            <a:r>
              <a:t>AI Risk &amp; Priority is the predictive intelligence and explainable AI (XAI) dashboard of ABPS v4.0. It reveals how machine learning models and physics degradation equations compute asset failure risk and maintenance urgency. Railway engineers cannot trust 'black box' AI models when passenger lives are at stake. This section makes every AI prediction fully transparent, explainable, and accountable using SHAP values and physical degradation laws.</a:t>
            </a:r>
          </a:p>
          <a:p/>
          <a:p>
            <a:r>
              <a:t>3. Practical Example:</a:t>
            </a:r>
          </a:p>
          <a:p>
            <a:r>
              <a:t>A track section at KM 142/8 has an AI risk score of 96.7. Opening the SHAP chart, the engineer sees Track Age (+0.104) and High Summer Temperature (+0.047) drove the score up, while recent tamping (-0.032) slightly reduced it, justifying an immediate block.</a:t>
            </a:r>
          </a:p>
          <a:p/>
          <a:p>
            <a:r>
              <a:t>4. Key Component Callouts:</a:t>
            </a:r>
          </a:p>
          <a:p>
            <a:r>
              <a:t>- Callout #1: XGBoost Champion Model Telemetry Banner [CARD] -&gt; Our AI intelligence engine runs an XGBoost v2.4 Champion model, trained on 15,000 real railway operational records with verified PR-AUC benchmarks.</a:t>
            </a:r>
          </a:p>
          <a:p>
            <a:r>
              <a:t>- Callout #2: Physics-Informed Weibull Hazard Curve [CHART] -&gt; We combine machine learning with classical Weibull physics modeling to compute an asset's exact probability of failure based on accumulated gross million tonnes.</a:t>
            </a:r>
          </a:p>
          <a:p>
            <a:r>
              <a:t>- Callout #3: Deterministic Safety Override Policy Panel [ALERT] -&gt; While AI optimizes efficiency, passenger safety is non-negotiable: our safety override rule forces critical track defects to the maximum priority immediately.</a:t>
            </a:r>
          </a:p>
          <a:p>
            <a:r>
              <a:t>- Callout #4: Local SHAP Feature Attribution Chart [CHART] -&gt; This SHAP explainability chart removes the AI 'black box', clearly showing controllers that high track age and temperature stress drove the urgent maintenance score.</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VIVA DEFENSE SCRIPT FOR SECTION 10: 10. Failure Intelligence</a:t>
            </a:r>
          </a:p>
          <a:p/>
          <a:p>
            <a:r>
              <a:t>1. Spoken Viva Pitch:</a:t>
            </a:r>
          </a:p>
          <a:p>
            <a:r>
              <a:t>"Failure Intelligence transforms Indian Railways' historical incident data into actionable foresight. By analyzing UIMS breakdown logs with MTBF and Pareto analytics, we pinpoint recurring defect hotspots and stop failures before they stop trains."</a:t>
            </a:r>
          </a:p>
          <a:p/>
          <a:p>
            <a:r>
              <a:t>2. Core Function &amp; Why Included:</a:t>
            </a:r>
          </a:p>
          <a:p>
            <a:r>
              <a:t>Failure Intelligence is the reliability engineering and incident analytics hub of ABPS v4.0. It mines historical breakdown logs to identify failure patterns, recurring defect clusters, and asset MTBF trends. Without historical failure intelligence, railways continually repair the same defective assets without resolving systemic root causes. This section shifts operations from repetitive firefighting to long-term reliability engineering.</a:t>
            </a:r>
          </a:p>
          <a:p/>
          <a:p>
            <a:r>
              <a:t>3. Practical Example:</a:t>
            </a:r>
          </a:p>
          <a:p>
            <a:r>
              <a:t>Analysis of the Kanpur-Prayagraj section reveals an MTBF drop from 720 hours to 180 hours on point machine motors. Failure Intelligence traces this to water ingress during monsoon, automatically issuing an urgent drainage clearing work order.</a:t>
            </a:r>
          </a:p>
          <a:p/>
          <a:p>
            <a:r>
              <a:t>4. Key Component Callouts:</a:t>
            </a:r>
          </a:p>
          <a:p>
            <a:r>
              <a:t>- Callout #1: UIMS Incident Telemetry Header [CARD] -&gt; This header tracks our core reliability metrics: our current Mean Time Between Failures stands at 412 hours with an average repair time under 48 minutes.</a:t>
            </a:r>
          </a:p>
          <a:p>
            <a:r>
              <a:t>- Callout #2: Chronological Incident Timeline &amp; Filter Toolbar [FORM] -&gt; With this toolbar, engineers can isolate failures by department and season, filtering specifically for monsoon or summer heat incidents.</a:t>
            </a:r>
          </a:p>
          <a:p>
            <a:r>
              <a:t>- Callout #3: Root-Cause Failure Pareto Chart [CHART] -&gt; Our Pareto chart proves the 80/20 rule: just 3 defect modes—weld fractures, insulator flashovers, and point motor jams—cause 80% of our line delays.</a:t>
            </a:r>
          </a:p>
          <a:p>
            <a:r>
              <a:t>- Callout #4: Preventative Remediation Action Table [ACTION] -&gt; This table takes immediate action: it flags assets nearing their MTBF limit and allows controllers to dispatch a preventative work order with one click.</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VIVA DEFENSE SCRIPT FOR SECTION 11: 11. Asset Health</a:t>
            </a:r>
          </a:p>
          <a:p/>
          <a:p>
            <a:r>
              <a:t>1. Spoken Viva Pitch:</a:t>
            </a:r>
          </a:p>
          <a:p>
            <a:r>
              <a:t>"Asset Health monitors all 12,000 physical assets across Delhi Division. It integrates ultrasonic flaw detection scans directly into our planning pipeline, catching rail cracks millimeters before they become catastrophic derailments."</a:t>
            </a:r>
          </a:p>
          <a:p/>
          <a:p>
            <a:r>
              <a:t>2. Core Function &amp; Why Included:</a:t>
            </a:r>
          </a:p>
          <a:p>
            <a:r>
              <a:t>Asset Health is the physical infrastructure health telemetry center of ABPS v4.0. It tracks the real-time condition, wear rate, and inspection history of all 12,000 canonical railway assets across the division. Railway infrastructure degrades continuously under heavy axle loads and extreme weather. Without asset-level condition monitoring, maintenance is either performed too late (causing accidents) or too early (wasting budget).</a:t>
            </a:r>
          </a:p>
          <a:p/>
          <a:p>
            <a:r>
              <a:t>3. Practical Example:</a:t>
            </a:r>
          </a:p>
          <a:p>
            <a:r>
              <a:t>During routine USFD car testing, rail TRK-DH01-0428 at KM 142/8 shows an internal transverse fissure of 2.4 mm (limit 3.0 mm). Asset Health immediately marks the asset Condition Index as 86/100, assigns Priority 96.7, and specifies a CSM Continuous Tamping machine with 8 P-Way crew.</a:t>
            </a:r>
          </a:p>
          <a:p/>
          <a:p>
            <a:r>
              <a:t>4. Key Component Callouts:</a:t>
            </a:r>
          </a:p>
          <a:p>
            <a:r>
              <a:t>- Callout #1: 12,000 Canonical Assets Monitor Header [CARD] -&gt; This header tracks our entire physical asset fleet—12,000 canonical assets across Delhi Division—with a verified network health score of 98.4%.</a:t>
            </a:r>
          </a:p>
          <a:p>
            <a:r>
              <a:t>- Callout #2: Departmental Asset Health Distribution [FORM] -&gt; Here we compare health across engineering branches: track stands at 98.1%, electrical at 98.8%, and signaling at 98.4%, showing balanced maintenance.</a:t>
            </a:r>
          </a:p>
          <a:p>
            <a:r>
              <a:t>- Callout #3: USFD Rail Flaw Telemetry &amp; Wear Monitor [CHART] -&gt; This USFD telemetry card displays precision ultrasonic flaw scans: here a 2.4 mm rail crack is tracked against its 3.0 mm statutory limit, ensuring timely intervention.</a:t>
            </a:r>
          </a:p>
          <a:p>
            <a:r>
              <a:t>- Callout #4: Machinery &amp; Crew Requirement Specification [ACTION] -&gt; Our system doesn't just allocate time—it verifies logistics. Here it confirms machine availability, base depot transit times, and crew staging before block approval.</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VIVA DEFENSE SCRIPT FOR SECTION 12: 12. What-If Simulator</a:t>
            </a:r>
          </a:p>
          <a:p/>
          <a:p>
            <a:r>
              <a:t>1. Spoken Viva Pitch:</a:t>
            </a:r>
          </a:p>
          <a:p>
            <a:r>
              <a:t>"The What-If Simulator provides a risk-free sandbox where controllers can ask: 'What happens if our tamping machine is delayed by 2 hours?' Our engine computes the exact ripple effects on 1,819 trains in seconds, preventing real-world operational chaos."</a:t>
            </a:r>
          </a:p>
          <a:p/>
          <a:p>
            <a:r>
              <a:t>2. Core Function &amp; Why Included:</a:t>
            </a:r>
          </a:p>
          <a:p>
            <a:r>
              <a:t>The What-If Simulator is the risk-free scenario testing laboratory of ABPS v4.0. It creates an isolated sandbox where controllers can perturb schedules, inject disruptions, and evaluate contingency plans without affecting live operations. In high-density corridors, altering a block time or delaying a train can cause catastrophic ripple delays across dozens of subsequent trains. Controllers need a simulator to evaluate the downstream consequences of their decisions before executing them.</a:t>
            </a:r>
          </a:p>
          <a:p/>
          <a:p>
            <a:r>
              <a:t>3. Practical Example:</a:t>
            </a:r>
          </a:p>
          <a:p>
            <a:r>
              <a:t>A track machine arrives 120 minutes late at Ghaziabad. The controller simulates shifting Block CB_001 by +120 minutes. The simulator immediately flags a red conflict: the shifted block collides with 12301 Rajdhani Express (headway buffer -35 min). The controller tests +60m instead, which clears with +18m buffer.</a:t>
            </a:r>
          </a:p>
          <a:p/>
          <a:p>
            <a:r>
              <a:t>4. Key Component Callouts:</a:t>
            </a:r>
          </a:p>
          <a:p>
            <a:r>
              <a:t>- Callout #1: Simulation Sandbox Banner &amp; Reset Controls [NAV] -&gt; Our What-If simulator provides a risk-free sandbox where controllers can simulate emergency breakdowns and evaluate contingency plans before touching live operations.</a:t>
            </a:r>
          </a:p>
          <a:p>
            <a:r>
              <a:t>- Callout #2: Target Block Selector &amp; Temporal Shift Controls [FORM] -&gt; With these controls, a dispatcher can ask: 'What happens if our track tamping machine arrives 2 hours late?' and see the immediate ripple effects.</a:t>
            </a:r>
          </a:p>
          <a:p>
            <a:r>
              <a:t>- Callout #3: Collision Radar &amp; Infeasible Conflict Alert Banner [ALERT] -&gt; Here our collision radar catches the hazard immediately: shifting the block by 120 minutes violates headway for Rajdhani Express by 35 minutes, instantly blocking the shift.</a:t>
            </a:r>
          </a:p>
          <a:p>
            <a:r>
              <a:t>- Callout #4: Ripple Delay Propagation Analytics [CHART] -&gt; This delay propagation chart models how a primary 45-minute delay ripples across downstream trains, giving controllers complete visibility into total system impact.</a:t>
            </a:r>
          </a:p>
          <a:p>
            <a:r>
              <a:t>- Callout #5: Alternative Feasible Schedule Recommender [ACTION] -&gt; When an initial shift fails, our engine immediately suggests a verified alternative: 'Shift by 60 minutes instead', which clears with an 18-minute headway buffer.</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VIVA DEFENSE SCRIPT FOR SECTION 13: 13. Data Ingestion</a:t>
            </a:r>
          </a:p>
          <a:p/>
          <a:p>
            <a:r>
              <a:t>1. Spoken Viva Pitch:</a:t>
            </a:r>
          </a:p>
          <a:p>
            <a:r>
              <a:t>"Data Ingestion is our enterprise bridge to Indian Railways. It pulls real-time feeds from ICMS timetables, COIS freight rakes, and UIMS defect logs, standardizing millions of operational data points into a unified schema."</a:t>
            </a:r>
          </a:p>
          <a:p/>
          <a:p>
            <a:r>
              <a:t>2. Core Function &amp; Why Included:</a:t>
            </a:r>
          </a:p>
          <a:p>
            <a:r>
              <a:t>Data Ingestion is the enterprise data gateway of ABPS v4.0. It manages incoming data feeds from Indian Railways production enterprise systems (COIS, ICMS, UIMS, TMS) and handles manual CSV/JSON data uploads. Railway operational data originates in disparate legacy systems—passenger timetables in ICMS, freight rakes in COIS, track defects in UIMS, and live signals in TMS. This section creates a clean, robust data ingestion bridge.</a:t>
            </a:r>
          </a:p>
          <a:p/>
          <a:p>
            <a:r>
              <a:t>3. Practical Example:</a:t>
            </a:r>
          </a:p>
          <a:p>
            <a:r>
              <a:t>A new seasonal timetable circular is issued by Northern Railway. The administrator uploads the revised timetable CSV via Data Ingestion; the pipeline validates 1,819 train records in 1.4 seconds and updates the master timetable database.</a:t>
            </a:r>
          </a:p>
          <a:p/>
          <a:p>
            <a:r>
              <a:t>4. Key Component Callouts:</a:t>
            </a:r>
          </a:p>
          <a:p>
            <a:r>
              <a:t>- Callout #1: Enterprise Ingestion Feed Status Ribbon [CARD] -&gt; This ribbon monitors our 4 enterprise feeds—ICMS, COIS, UIMS, and TMS—ensuring that live train schedules and defect logs are synchronized continuously.</a:t>
            </a:r>
          </a:p>
          <a:p>
            <a:r>
              <a:t>- Callout #2: Manual File Upload &amp; Batch ETL Trigger [FORM] -&gt; This upload dropzone allows administrators to import new seasonal timetables or track geometry files with instant schema validation.</a:t>
            </a:r>
          </a:p>
          <a:p>
            <a:r>
              <a:t>- Callout #3: Immutable Ingestion Audit History Table [CARD] -&gt; This audit table maintains an immutable log of every data ingestion batch with SHA-256 hashes, ensuring complete data traceability.</a:t>
            </a:r>
          </a:p>
          <a:p>
            <a:r>
              <a:t>- Callout #4: Validation Pipeline Telemetry &amp; Error Monitor [ALERT] -&gt; This telemetry card proves our ingestion pipeline is hardened: all 21 canonical datasets achieve a 100% validation pass rate before entering the database.</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VIVA DEFENSE SCRIPT FOR SECTION 14: 14. Data Quality</a:t>
            </a:r>
          </a:p>
          <a:p/>
          <a:p>
            <a:r>
              <a:t>1. Spoken Viva Pitch:</a:t>
            </a:r>
          </a:p>
          <a:p>
            <a:r>
              <a:t>"Mathematical optimization requires pristine data. Our Data Quality gate audits all 21 canonical datasets—from train timetables to track geometry—enforcing zero-null rules and referential integrity with a 100% pass rate."</a:t>
            </a:r>
          </a:p>
          <a:p/>
          <a:p>
            <a:r>
              <a:t>2. Core Function &amp; Why Included:</a:t>
            </a:r>
          </a:p>
          <a:p>
            <a:r>
              <a:t>Data Quality is the automated data validation and schema integrity laboratory of ABPS v4.0. It continuously audits all 21 canonical datasets powering the optimization engine. Garbage in, garbage out: an optimization solver fed with missing track coordinates, negative durations, or duplicate train IDs will produce invalid or dangerous schedules. This section enforces zero-compromise data standards.</a:t>
            </a:r>
          </a:p>
          <a:p/>
          <a:p>
            <a:r>
              <a:t>3. Practical Example:</a:t>
            </a:r>
          </a:p>
          <a:p>
            <a:r>
              <a:t>A data import from an external track database contains a typo: a rail section with length -450 meters. The Data Quality gate immediately flags a range constraint violation, blocks database commit, and prevents the optimizer from crashing.</a:t>
            </a:r>
          </a:p>
          <a:p/>
          <a:p>
            <a:r>
              <a:t>4. Key Component Callouts:</a:t>
            </a:r>
          </a:p>
          <a:p>
            <a:r>
              <a:t>- Callout #1: 21 Canonical Datasets Audit Overview [CARD] -&gt; This overview confirms that all 21 canonical datasets powering our solver have been audited and achieved a 100% integrity pass.</a:t>
            </a:r>
          </a:p>
          <a:p>
            <a:r>
              <a:t>- Callout #2: Data Integrity Verification Rules Panel [ALERT] -&gt; These 4 rule panels show our integrity checks: zero nulls in critical fields, strict foreign key links, chronological time validation, and mathematical bounds.</a:t>
            </a:r>
          </a:p>
          <a:p>
            <a:r>
              <a:t>- Callout #3: Dataset-by-Dataset Verification Matrix [CHART] -&gt; This matrix breaks down all 21 tables—including our 1,819 trains and 12,000 assets—confirming that each table is populated and 100% valid.</a:t>
            </a:r>
          </a:p>
          <a:p>
            <a:r>
              <a:t>- Callout #4: Trigger Re-Validation &amp; Anomaly Export Controls [ACTION] -&gt; Clicking this button runs our automated verification suite across all 21 tables in 1.5 seconds, guaranteeing pristine data before scheduling begins.</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VIVA DEFENSE SCRIPT FOR SECTION 15: 15. Scenario Explorer</a:t>
            </a:r>
          </a:p>
          <a:p/>
          <a:p>
            <a:r>
              <a:t>1. Spoken Viva Pitch:</a:t>
            </a:r>
          </a:p>
          <a:p>
            <a:r>
              <a:t>"Scenario Explorer proves our system's robustness. We catalog 29 operational disruption scenarios—from severe monsoons to signaling failures—and prove that ABPS successfully mitigates every single one within seconds."</a:t>
            </a:r>
          </a:p>
          <a:p/>
          <a:p>
            <a:r>
              <a:t>2. Core Function &amp; Why Included:</a:t>
            </a:r>
          </a:p>
          <a:p>
            <a:r>
              <a:t>Scenario Explorer is the stress-testing workbench of ABPS v4.0. It catalogs 29 pre-modeled operational railway scenarios (e.g. monsoon washouts, freight derailments, power grid trips) and tests how the system responds to each. Railway systems must be resilient against extreme, low-probability events. Rather than waiting for a real emergency, Scenario Explorer allows controllers to stress-test the system against 29 historical disruption classes.</a:t>
            </a:r>
          </a:p>
          <a:p/>
          <a:p>
            <a:r>
              <a:t>3. Practical Example:</a:t>
            </a:r>
          </a:p>
          <a:p>
            <a:r>
              <a:t>During winter timetable prep, the committee tests Scenario #14 ('Dense Fog: 60 km/h Speed Restriction across Delhi-Aligarh'). The engine re-calculates block windows, spreads headway buffers to 15 minutes, and delivers a fog-resilient schedule.</a:t>
            </a:r>
          </a:p>
          <a:p/>
          <a:p>
            <a:r>
              <a:t>4. Key Component Callouts:</a:t>
            </a:r>
          </a:p>
          <a:p>
            <a:r>
              <a:t>- Callout #1: 29 Disruptions Benchmark Header [CARD] -&gt; This header confirms that our system has been benchmarked against all 29 operational disruption scenarios with an average recovery time of just 2.1 seconds.</a:t>
            </a:r>
          </a:p>
          <a:p>
            <a:r>
              <a:t>- Callout #2: 8 Metric Tiles Coverage Ribbon [CHART] -&gt; These 8 metric tiles quantify our stress-test performance: 94.2% punctuality preserved and a 42% reduction in secondary delay during major disruptions.</a:t>
            </a:r>
          </a:p>
          <a:p>
            <a:r>
              <a:t>- Callout #3: Scenario Category Filter &amp; Search Bar [FORM] -&gt; This filter bar categorizes our 29 scenarios into Weather, Mechanical, Signaling, and Traffic disruptions, allowing instant retrieval.</a:t>
            </a:r>
          </a:p>
          <a:p>
            <a:r>
              <a:t>- Callout #4: 29 Scenarios Coverage &amp; Robustness Matrix [CARD] -&gt; This matrix displays our full library of 29 scenarios, allowing controllers to click any card to inspect simulated disruption parameters.</a:t>
            </a:r>
          </a:p>
          <a:p>
            <a:r>
              <a:t>- Callout #5: Scenario Detail &amp; Stress-Test Executor [ACTION] -&gt; Clicking simulate executes the stress-test in memory, proving that our optimizer recovers timetable flow within 2 seconds without human panic.</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VIVA DEFENSE SCRIPT FOR SECTION 16: 16. Model / Data Versions</a:t>
            </a:r>
          </a:p>
          <a:p/>
          <a:p>
            <a:r>
              <a:t>1. Spoken Viva Pitch:</a:t>
            </a:r>
          </a:p>
          <a:p>
            <a:r>
              <a:t>"Model / Data Versions brings enterprise MLOps governance to Indian Railways. We maintain full lineage of our training data and benchmark 6 candidate algorithms, ensuring that only the highest-precision model ever guides live operations."</a:t>
            </a:r>
          </a:p>
          <a:p/>
          <a:p>
            <a:r>
              <a:t>2. Core Function &amp; Why Included:</a:t>
            </a:r>
          </a:p>
          <a:p>
            <a:r>
              <a:t>Model / Data Versions is the MLOps governance and data provenance repository of ABPS v4.0. It tracks the training lineage, hyperparameters, validation benchmarks, and active production status of all AI models. Railway operations require strict auditability. Regulators must know exactly which model version made a prediction, what training dataset it used, and how its precision was validated before it was promoted to production.</a:t>
            </a:r>
          </a:p>
          <a:p/>
          <a:p>
            <a:r>
              <a:t>3. Practical Example:</a:t>
            </a:r>
          </a:p>
          <a:p>
            <a:r>
              <a:t>A new training cycle completes on 15,000 recent operational records. CatBoost achieves PR-AUC of 0.3110 versus XGBoost's 0.3138. The registry maintains XGBoost as Champion, documenting why CatBoost was kept in shadow challenger mode.</a:t>
            </a:r>
          </a:p>
          <a:p/>
          <a:p>
            <a:r>
              <a:t>4. Key Component Callouts:</a:t>
            </a:r>
          </a:p>
          <a:p>
            <a:r>
              <a:t>- Callout #1: Model Governance &amp; Registry Banner [CARD] -&gt; This banner displays our active production model—XGBoost v2.4 Champion—with its unique MLflow run ID and verified deployment timestamp.</a:t>
            </a:r>
          </a:p>
          <a:p>
            <a:r>
              <a:t>- Callout #2: 6 Candidate Benchmark Leaderboard [CHART] -&gt; Our leaderboard benchmarks 6 candidate algorithms: XGBoost wins with a PR-AUC of 0.3138 and a Brier score of 0.0812, outperforming Random Forest and CatBoost.</a:t>
            </a:r>
          </a:p>
          <a:p>
            <a:r>
              <a:t>- Callout #3: Hyperparameter Lineage &amp; Dataset Splits [CARD] -&gt; This table documents the exact hyperparameters and 80/20 training splits used for XGBoost v2.4, ensuring 100% reproducibility.</a:t>
            </a:r>
          </a:p>
          <a:p>
            <a:r>
              <a:t>- Callout #4: Champion Promotion &amp; Hot-Swap Action Button [ACTION] -&gt; This action button enables zero-downtime model promotion: when a challenger outperforms the champion, it can be promoted atomically in under 50 milliseconds.</a:t>
            </a:r>
          </a:p>
          <a:p>
            <a:r>
              <a:t>- Callout #5: Data Version Snapshot Hash Card [NAV] -&gt; This card displays the SHA-256 hash of our 15,000-record training dataset, proving complete data provenance and tamper-evident lineage.</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VIVA DEFENSE SCRIPT FOR SECTION 17: 17. Human Review &amp; Audit</a:t>
            </a:r>
          </a:p>
          <a:p/>
          <a:p>
            <a:r>
              <a:t>1. Spoken Viva Pitch:</a:t>
            </a:r>
          </a:p>
          <a:p>
            <a:r>
              <a:t>"AI recommends, but humans decide. This screen enforces statutory Level 4 human-in-the-loop governance: no machine moves and no line closes until an authorized Divisional Traffic Controller verifies the safety checklists and signs the digital authority."</a:t>
            </a:r>
          </a:p>
          <a:p/>
          <a:p>
            <a:r>
              <a:t>2. Core Function &amp; Why Included:</a:t>
            </a:r>
          </a:p>
          <a:p>
            <a:r>
              <a:t>Human Review &amp; Audit is the statutory human-in-the-loop governance center of ABPS v4.0. It ensures that no automated AI or solver-generated block schedule can be dispatched without explicit sign-off by a certified Level 4 (L4) Divisional Traffic Controller. Under Indian Railways General Rules (GR), automated algorithms cannot legally execute line closures without human authorization. This screen enforces statutory human accountability, ensuring full compliance with railway safety law.</a:t>
            </a:r>
          </a:p>
          <a:p/>
          <a:p>
            <a:r>
              <a:t>3. Practical Example:</a:t>
            </a:r>
          </a:p>
          <a:p>
            <a:r>
              <a:t>The Chief Controller reviews Block BLK_DH01_042 (2-hour tamping at KM 142/8). The controller checks the electrical interlock box, verifies that the 10-minute headway buffer to Rajdhani Express is +14 minutes, enters badge ID 'DEL-CTRL-409', and signs the block authority.</a:t>
            </a:r>
          </a:p>
          <a:p/>
          <a:p>
            <a:r>
              <a:t>4. Key Component Callouts:</a:t>
            </a:r>
          </a:p>
          <a:p>
            <a:r>
              <a:t>- Callout #1: L4 Controller Multi-Stage Review Stepper [NAV] -&gt; This 4-stage stepper guides the controller through mandatory verification steps, ensuring that safety checklists cannot be bypassed before sign-off.</a:t>
            </a:r>
          </a:p>
          <a:p>
            <a:r>
              <a:t>- Callout #2: Pending Block Allocation Review Card [CARD] -&gt; This review card presents all block parameters—corridor section, affected track line, bundled tasks, and station limits—for human controller verification.</a:t>
            </a:r>
          </a:p>
          <a:p>
            <a:r>
              <a:t>- Callout #3: Controller Decision &amp; Override Controls [ACTION] -&gt; These action buttons embody human command: the controller has ultimate authority to authorize, adjust, or reject any AI recommendation.</a:t>
            </a:r>
          </a:p>
          <a:p>
            <a:r>
              <a:t>- Callout #4: Mandatory Safety &amp; Interlock Checklist [ALERT] -&gt; This safety checklist enforces physical life-safety protocols: confirming that 25kV wires are de-energized, SCADA permits issued, and earthing rods staged before dispatch.</a:t>
            </a:r>
          </a:p>
          <a:p>
            <a:r>
              <a:t>- Callout #5: Immutable Dispatch Audit Trail Record [CHART] -&gt; This audit card generates an immutable cryptographic signature for every approved possession, binding controller badge ID and timestamp into an unalterable legal record.</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VIVA DEFENSE SCRIPT FOR SECTION 18: 18. Verification Suite</a:t>
            </a:r>
          </a:p>
          <a:p/>
          <a:p>
            <a:r>
              <a:t>1. Spoken Viva Pitch:</a:t>
            </a:r>
          </a:p>
          <a:p>
            <a:r>
              <a:t>"The Verification Suite provides formal mathematical proof of safety. Our 12-check test suite validates 6 physical railway laws in 35 milliseconds, proving with 100% certainty that every generated schedule has zero collisions and zero headway violations."</a:t>
            </a:r>
          </a:p>
          <a:p/>
          <a:p>
            <a:r>
              <a:t>2. Core Function &amp; Why Included:</a:t>
            </a:r>
          </a:p>
          <a:p>
            <a:r>
              <a:t>The Verification Suite is the mathematical proof and safety certification gate of ABPS v4.0. It executes 12 rigorous automated verification checks across 6 physical railway safety laws, certifying every schedule before execution. Railway operations require mathematical guarantees, not heuristic guesses. This suite provides formal proof that the generated schedule violates zero physical constraints, maintains non-negative KPIs, and strictly enforces 10-minute train headways.</a:t>
            </a:r>
          </a:p>
          <a:p/>
          <a:p>
            <a:r>
              <a:t>3. Practical Example:</a:t>
            </a:r>
          </a:p>
          <a:p>
            <a:r>
              <a:t>During automated testing, test [7.1] artificially injects an overlapping train conflict into the schedule. The Verification Suite immediately detects the collision, proves the validator catches violations, rejects the bad plan, and restores the certified schedule.</a:t>
            </a:r>
          </a:p>
          <a:p/>
          <a:p>
            <a:r>
              <a:t>4. Key Component Callouts:</a:t>
            </a:r>
          </a:p>
          <a:p>
            <a:r>
              <a:t>- Callout #1: 12/12 Mathematical Proof Gate Header [ALERT] -&gt; This banner declares our formal certification: 12 out of 12 mathematical and safety proof checks have passed, proving the schedule is 100% collision-free.</a:t>
            </a:r>
          </a:p>
          <a:p>
            <a:r>
              <a:t>- Callout #2: 6 Physical Railway Safety Laws Matrix [CHART] -&gt; These 6 cards verify our physical safety laws: geospatial mapping, timetable causality, mathematical bounds, non-negotiable overrides, and train headway clearance.</a:t>
            </a:r>
          </a:p>
          <a:p>
            <a:r>
              <a:t>- Callout #3: Injected Collision Detection Proof Validator [CHART] -&gt; To prove our validator isn't a passive rubber-stamp, Test 7.1 injects an artificial train collision: our validator reliably caught it in 16 milliseconds and rejected the schedule.</a:t>
            </a:r>
          </a:p>
          <a:p>
            <a:r>
              <a:t>- Callout #4: Singleflight Mutex &amp; 60s Recompute Lock Monitor [CARD] -&gt; This monitor displays our Singleflight Mutex lock: it prevents solver thrashing by ensuring only one optimization runs at a time while serving cached results safely.</a:t>
            </a:r>
          </a:p>
          <a:p>
            <a:r>
              <a:t>- Callout #5: Formal Safety Certificate Export &amp; Audit Seal [ACTION] -&gt; With all 12 checks passed, this button exports our formal Safety Compliance Certificate, signed and sealed for submission to the Commissioner of Railway Safety.</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Workflow Walkthrough Defense:</a:t>
            </a:r>
          </a:p>
          <a:p>
            <a:r>
              <a:t>Here we show evaluators how our 18 sections connect during live operations. Whether it's routine daily dispatch, emergency breakdown recovery, or cross-departmental shadow bundling, the controller flows logically from situational awareness to automated optimization and final human sign-off.</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Mathematical Defense:</a:t>
            </a:r>
          </a:p>
          <a:p>
            <a:r>
              <a:t>When examiners ask about mathematical rigor:</a:t>
            </a:r>
          </a:p>
          <a:p>
            <a:r>
              <a:t>1. We model the problem as a Constraint Satisfaction and Optimization Problem (COP) using Google OR-Tools CP-SAT.</a:t>
            </a:r>
          </a:p>
          <a:p>
            <a:r>
              <a:t>2. The objective function maximizes maintenance volume while minimizing passenger train delay penalties.</a:t>
            </a:r>
          </a:p>
          <a:p>
            <a:r>
              <a:t>3. Hard constraints enforce non-overlapping intervals, track line exclusivity, and statutory 10-minute headway buffers.</a:t>
            </a:r>
          </a:p>
          <a:p>
            <a:r>
              <a:t>4. Our 12-check verification suite formally proves that every generated schedule satisfies all physical safety laws.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Concluding Viva Defense Statement:</a:t>
            </a:r>
          </a:p>
          <a:p>
            <a:r>
              <a:t>Respected jury members, in conclusion, the Automated Block Planning System (ABPS v4.0) delivers an end-to-end, production-ready solution for Indian Railways. By combining Google OR-Tools CP-SAT optimization with explainable AI and Level 4 human review, we achieve a 63.1% block consolidation, unlock +0.67% corridor capacity, and maintain 100% passenger train safety. The system is fully tested, mathematically verified, and ready for deployment. Thank you, and we welcome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362895" cy="4114800"/>
          </a:xfrm>
          <a:prstGeom prst="rect">
            <a:avLst/>
          </a:prstGeom>
          <a:noFill/>
        </p:spPr>
        <p:txBody>
          <a:bodyPr wrap="square">
            <a:spAutoFit/>
          </a:bodyPr>
          <a:lstStyle/>
          <a:p>
            <a:pPr>
              <a:defRPr sz="3600" b="1">
                <a:solidFill>
                  <a:srgbClr val="D96F13"/>
                </a:solidFill>
              </a:defRPr>
            </a:pPr>
            <a:r>
              <a:t>AUTOMATED BLOCK PLANNING SYSTEM</a:t>
            </a:r>
          </a:p>
          <a:p>
            <a:pPr>
              <a:defRPr sz="1800">
                <a:solidFill>
                  <a:srgbClr val="F1F5F9"/>
                </a:solidFill>
              </a:defRPr>
            </a:pPr>
            <a:r>
              <a:t>Comprehensive 18-Section Website UI Walkthrough, Mathematical Optimization &amp; Operational Defense (ABPS v4.0)</a:t>
            </a:r>
          </a:p>
          <a:p>
            <a:br/>
            <a:pPr>
              <a:defRPr sz="1300">
                <a:solidFill>
                  <a:srgbClr val="94A3B8"/>
                </a:solidFill>
              </a:defRPr>
            </a:pPr>
            <a:r>
              <a:t>Ministry of Railways · Smart India Hackathon 2026 · Delhi Division (Delhi-Howrah 1,447 km Mainline)</a:t>
            </a:r>
          </a:p>
          <a:p>
            <a:pPr>
              <a:defRPr sz="1200">
                <a:solidFill>
                  <a:srgbClr val="D96F13"/>
                </a:solidFill>
              </a:defRPr>
            </a:pPr>
            <a:r>
              <a:t>Tech Stack: React 18 + Vite | Go Fiber Gateway | Google OR-Tools CP-SAT | PostgreSQL 16 + Redis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D96F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8686800" cy="777240"/>
          </a:xfrm>
          <a:prstGeom prst="rect">
            <a:avLst/>
          </a:prstGeom>
          <a:noFill/>
        </p:spPr>
        <p:txBody>
          <a:bodyPr wrap="square">
            <a:spAutoFit/>
          </a:bodyPr>
          <a:lstStyle/>
          <a:p>
            <a:pPr>
              <a:defRPr sz="2000" b="1">
                <a:solidFill>
                  <a:srgbClr val="FFFFFF"/>
                </a:solidFill>
              </a:defRPr>
            </a:pPr>
            <a:r>
              <a:t>SYSTEM ARCHITECTURE &amp; 5-TIER OPERATIONAL HIERARCHY</a:t>
            </a:r>
          </a:p>
          <a:p>
            <a:pPr>
              <a:defRPr sz="1100">
                <a:solidFill>
                  <a:srgbClr val="D96F13"/>
                </a:solidFill>
              </a:defRPr>
            </a:pPr>
            <a:r>
              <a:t>Comprehensive 18-Section Operational Flow from Raw Data to Certified Dispatch</a:t>
            </a:r>
          </a:p>
        </p:txBody>
      </p:sp>
      <p:sp>
        <p:nvSpPr>
          <p:cNvPr id="5" name="Rectangle 4"/>
          <p:cNvSpPr/>
          <p:nvPr/>
        </p:nvSpPr>
        <p:spPr>
          <a:xfrm>
            <a:off x="548640" y="1280160"/>
            <a:ext cx="2057400" cy="5029200"/>
          </a:xfrm>
          <a:prstGeom prst="rect">
            <a:avLst/>
          </a:prstGeom>
          <a:solidFill>
            <a:srgbClr val="F8FAFC"/>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2563EB"/>
                </a:solidFill>
              </a:defRPr>
            </a:pPr>
            <a:r>
              <a:t>1. OPERATIONS</a:t>
            </a:r>
            <a:br/>
          </a:p>
          <a:p>
            <a:pPr>
              <a:defRPr sz="1000">
                <a:solidFill>
                  <a:srgbClr val="334155"/>
                </a:solidFill>
              </a:defRPr>
            </a:pPr>
            <a:r>
              <a:t>• 01. Dashboard / GIS Map</a:t>
            </a:r>
            <a:br/>
            <a:r>
              <a:t>• 02. Asset Backlog</a:t>
            </a:r>
            <a:br/>
            <a:r>
              <a:t>• 03. Weekly Block Planner</a:t>
            </a:r>
            <a:br/>
            <a:r>
              <a:t>• 04. Monthly Forecast</a:t>
            </a:r>
            <a:br/>
            <a:r>
              <a:t>• 05. Anomaly Handling</a:t>
            </a:r>
          </a:p>
        </p:txBody>
      </p:sp>
      <p:sp>
        <p:nvSpPr>
          <p:cNvPr id="6" name="Rectangle 5"/>
          <p:cNvSpPr/>
          <p:nvPr/>
        </p:nvSpPr>
        <p:spPr>
          <a:xfrm>
            <a:off x="2788920" y="1280160"/>
            <a:ext cx="2057400" cy="5029200"/>
          </a:xfrm>
          <a:prstGeom prst="rect">
            <a:avLst/>
          </a:prstGeom>
          <a:solidFill>
            <a:srgbClr val="F8FAFC"/>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10B981"/>
                </a:solidFill>
              </a:defRPr>
            </a:pPr>
            <a:r>
              <a:t>2. COORDINATION</a:t>
            </a:r>
            <a:br/>
          </a:p>
          <a:p>
            <a:pPr>
              <a:defRPr sz="1000">
                <a:solidFill>
                  <a:srgbClr val="334155"/>
                </a:solidFill>
              </a:defRPr>
            </a:pPr>
            <a:r>
              <a:t>• 06. Coordination Centre</a:t>
            </a:r>
            <a:br/>
            <a:r>
              <a:t>• 07. Integrated / Shadow Blocks</a:t>
            </a:r>
            <a:br/>
            <a:r>
              <a:t>• 08. Train &amp; Block Conflicts</a:t>
            </a:r>
          </a:p>
        </p:txBody>
      </p:sp>
      <p:sp>
        <p:nvSpPr>
          <p:cNvPr id="7" name="Rectangle 6"/>
          <p:cNvSpPr/>
          <p:nvPr/>
        </p:nvSpPr>
        <p:spPr>
          <a:xfrm>
            <a:off x="5029200" y="1280160"/>
            <a:ext cx="2057400" cy="5029200"/>
          </a:xfrm>
          <a:prstGeom prst="rect">
            <a:avLst/>
          </a:prstGeom>
          <a:solidFill>
            <a:srgbClr val="F8FAFC"/>
          </a:solidFill>
          <a:ln w="254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7C3AED"/>
                </a:solidFill>
              </a:defRPr>
            </a:pPr>
            <a:r>
              <a:t>3. INTELLIGENCE</a:t>
            </a:r>
            <a:br/>
          </a:p>
          <a:p>
            <a:pPr>
              <a:defRPr sz="1000">
                <a:solidFill>
                  <a:srgbClr val="334155"/>
                </a:solidFill>
              </a:defRPr>
            </a:pPr>
            <a:r>
              <a:t>• 09. AI Risk &amp; Priority</a:t>
            </a:r>
            <a:br/>
            <a:r>
              <a:t>• 10. Failure Intelligence</a:t>
            </a:r>
            <a:br/>
            <a:r>
              <a:t>• 11. Asset Health</a:t>
            </a:r>
            <a:br/>
            <a:r>
              <a:t>• 12. What-If Simulator</a:t>
            </a:r>
          </a:p>
        </p:txBody>
      </p:sp>
      <p:sp>
        <p:nvSpPr>
          <p:cNvPr id="8" name="Rectangle 7"/>
          <p:cNvSpPr/>
          <p:nvPr/>
        </p:nvSpPr>
        <p:spPr>
          <a:xfrm>
            <a:off x="7269480" y="1280160"/>
            <a:ext cx="2057400" cy="5029200"/>
          </a:xfrm>
          <a:prstGeom prst="rect">
            <a:avLst/>
          </a:prstGeom>
          <a:solidFill>
            <a:srgbClr val="F8FAFC"/>
          </a:solidFill>
          <a:ln w="25400">
            <a:solidFill>
              <a:srgbClr val="D96F1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D96F13"/>
                </a:solidFill>
              </a:defRPr>
            </a:pPr>
            <a:r>
              <a:t>4. DATA</a:t>
            </a:r>
            <a:br/>
          </a:p>
          <a:p>
            <a:pPr>
              <a:defRPr sz="1000">
                <a:solidFill>
                  <a:srgbClr val="334155"/>
                </a:solidFill>
              </a:defRPr>
            </a:pPr>
            <a:r>
              <a:t>• 13. Data Ingestion</a:t>
            </a:r>
            <a:br/>
            <a:r>
              <a:t>• 14. Data Quality</a:t>
            </a:r>
            <a:br/>
            <a:r>
              <a:t>• 15. Scenario Explorer</a:t>
            </a:r>
            <a:br/>
            <a:r>
              <a:t>• 16. Model / Data Versions</a:t>
            </a:r>
          </a:p>
        </p:txBody>
      </p:sp>
      <p:sp>
        <p:nvSpPr>
          <p:cNvPr id="9" name="Rectangle 8"/>
          <p:cNvSpPr/>
          <p:nvPr/>
        </p:nvSpPr>
        <p:spPr>
          <a:xfrm>
            <a:off x="9509760" y="1280160"/>
            <a:ext cx="2057400" cy="5029200"/>
          </a:xfrm>
          <a:prstGeom prst="rect">
            <a:avLst/>
          </a:prstGeom>
          <a:solidFill>
            <a:srgbClr val="F8FAFC"/>
          </a:solidFill>
          <a:ln w="254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DC2626"/>
                </a:solidFill>
              </a:defRPr>
            </a:pPr>
            <a:r>
              <a:t>5. CONTROL</a:t>
            </a:r>
            <a:br/>
          </a:p>
          <a:p>
            <a:pPr>
              <a:defRPr sz="1000">
                <a:solidFill>
                  <a:srgbClr val="334155"/>
                </a:solidFill>
              </a:defRPr>
            </a:pPr>
            <a:r>
              <a:t>• 17. Human Review &amp; Audit</a:t>
            </a:r>
            <a:br/>
            <a:r>
              <a:t>• 18. Verification Suite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D96F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8686800" cy="777240"/>
          </a:xfrm>
          <a:prstGeom prst="rect">
            <a:avLst/>
          </a:prstGeom>
          <a:noFill/>
        </p:spPr>
        <p:txBody>
          <a:bodyPr wrap="square">
            <a:spAutoFit/>
          </a:bodyPr>
          <a:lstStyle/>
          <a:p>
            <a:pPr>
              <a:defRPr sz="2000" b="1">
                <a:solidFill>
                  <a:srgbClr val="FFFFFF"/>
                </a:solidFill>
              </a:defRPr>
            </a:pPr>
            <a:r>
              <a:t>APPLICATION NAVIGATION MAP &amp; MULTI-COLOR TAXONOMY</a:t>
            </a:r>
          </a:p>
          <a:p>
            <a:pPr>
              <a:defRPr sz="1100">
                <a:solidFill>
                  <a:srgbClr val="D96F13"/>
                </a:solidFill>
              </a:defRPr>
            </a:pPr>
            <a:r>
              <a:t>Unified Design System &amp; Category-Coded Component Annotations</a:t>
            </a:r>
          </a:p>
        </p:txBody>
      </p:sp>
      <p:sp>
        <p:nvSpPr>
          <p:cNvPr id="5" name="Rectangle 4"/>
          <p:cNvSpPr/>
          <p:nvPr/>
        </p:nvSpPr>
        <p:spPr>
          <a:xfrm>
            <a:off x="548640" y="1280160"/>
            <a:ext cx="11094415" cy="50292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0F172A"/>
                </a:solidFill>
              </a:defRPr>
            </a:pPr>
            <a:r>
              <a:t>MULTI-COLOR COMPONENT TAXONOMY SYSTEM</a:t>
            </a:r>
            <a:br/>
          </a:p>
          <a:p>
            <a:pPr>
              <a:defRPr sz="1100">
                <a:solidFill>
                  <a:srgbClr val="334155"/>
                </a:solidFill>
              </a:defRPr>
            </a:pPr>
            <a:r>
              <a:t>• NAV (Blue #2563EB): Navigation and Page Structure: Global headers, division branding, date navigators, horizon toggles, progress steppers.</a:t>
            </a:r>
            <a:br/>
          </a:p>
          <a:p>
            <a:pPr>
              <a:defRPr sz="1100">
                <a:solidFill>
                  <a:srgbClr val="334155"/>
                </a:solidFill>
              </a:defRPr>
            </a:pPr>
            <a:r>
              <a:t>• ACTION (Green #10B981): Primary Actions &amp; Buttons: Re-run CP-SAT solver, optimize group, dispatch work order, promote model, export certificate.</a:t>
            </a:r>
            <a:br/>
          </a:p>
          <a:p>
            <a:pPr>
              <a:defRPr sz="1100">
                <a:solidFill>
                  <a:srgbClr val="334155"/>
                </a:solidFill>
              </a:defRPr>
            </a:pPr>
            <a:r>
              <a:t>• FORM (Orange #D96F13): Forms, Filters &amp; Inputs: Department filters, search inputs, temporal shift buttons, CSV upload dropzones.</a:t>
            </a:r>
            <a:br/>
          </a:p>
          <a:p>
            <a:pPr>
              <a:defRPr sz="1100">
                <a:solidFill>
                  <a:srgbClr val="334155"/>
                </a:solidFill>
              </a:defRPr>
            </a:pPr>
            <a:r>
              <a:t>• CARD (Purple #7C3AED): Cards &amp; Content Sections: Critical KPI summary ribbons, work order tables, scheduled block rosters, hyperparameter manifests.</a:t>
            </a:r>
            <a:br/>
          </a:p>
          <a:p>
            <a:pPr>
              <a:defRPr sz="1100">
                <a:solidFill>
                  <a:srgbClr val="334155"/>
                </a:solidFill>
              </a:defRPr>
            </a:pPr>
            <a:r>
              <a:t>• ALERT (Red #DC2626): Alerts, Errors &amp; Safety Warnings: Urgent priority queues, headway collision radar, 25kV power interlock checklists.</a:t>
            </a:r>
            <a:br/>
          </a:p>
          <a:p>
            <a:pPr>
              <a:defRPr sz="1100">
                <a:solidFill>
                  <a:srgbClr val="334155"/>
                </a:solidFill>
              </a:defRPr>
            </a:pPr>
            <a:r>
              <a:t>• CHART (Teal #0891B2): Charts, Analytics &amp; Telemetry: Leaflet GIS corridor maps, 6-corridor Gantt timelines, Weibull hazard curves, Pareto charts.</a:t>
            </a:r>
            <a:b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D96F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8686800" cy="777240"/>
          </a:xfrm>
          <a:prstGeom prst="rect">
            <a:avLst/>
          </a:prstGeom>
          <a:noFill/>
        </p:spPr>
        <p:txBody>
          <a:bodyPr wrap="square">
            <a:spAutoFit/>
          </a:bodyPr>
          <a:lstStyle/>
          <a:p>
            <a:pPr>
              <a:defRPr sz="2000" b="1">
                <a:solidFill>
                  <a:srgbClr val="FFFFFF"/>
                </a:solidFill>
              </a:defRPr>
            </a:pPr>
            <a:r>
              <a:t>SECTION 01: 1. Dashboard / GIS Map</a:t>
            </a:r>
          </a:p>
          <a:p>
            <a:pPr>
              <a:defRPr sz="1100">
                <a:solidFill>
                  <a:srgbClr val="D96F13"/>
                </a:solidFill>
              </a:defRPr>
            </a:pPr>
            <a:r>
              <a:t>Real-Time Network State, Disruption Telemetry &amp; Leaflet Asset Map</a:t>
            </a:r>
          </a:p>
        </p:txBody>
      </p:sp>
      <p:sp>
        <p:nvSpPr>
          <p:cNvPr id="5" name="Rectangle 4"/>
          <p:cNvSpPr/>
          <p:nvPr/>
        </p:nvSpPr>
        <p:spPr>
          <a:xfrm>
            <a:off x="9601200" y="228600"/>
            <a:ext cx="2103120" cy="50292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96F13"/>
                </a:solidFill>
              </a:defRPr>
            </a:pPr>
            <a:r>
              <a:t>TIER: OPERATIONS</a:t>
            </a:r>
          </a:p>
        </p:txBody>
      </p:sp>
      <p:pic>
        <p:nvPicPr>
          <p:cNvPr id="6" name="Picture 5" descr="01_dashboard_annotated.png"/>
          <p:cNvPicPr>
            <a:picLocks noChangeAspect="1"/>
          </p:cNvPicPr>
          <p:nvPr/>
        </p:nvPicPr>
        <p:blipFill>
          <a:blip r:embed="rId2"/>
          <a:stretch>
            <a:fillRect/>
          </a:stretch>
        </p:blipFill>
        <p:spPr>
          <a:xfrm>
            <a:off x="548640" y="1234440"/>
            <a:ext cx="7132320" cy="4389120"/>
          </a:xfrm>
          <a:prstGeom prst="rect">
            <a:avLst/>
          </a:prstGeom>
        </p:spPr>
      </p:pic>
      <p:sp>
        <p:nvSpPr>
          <p:cNvPr id="7" name="Rectangle 6"/>
          <p:cNvSpPr/>
          <p:nvPr/>
        </p:nvSpPr>
        <p:spPr>
          <a:xfrm>
            <a:off x="7863840" y="1234440"/>
            <a:ext cx="3779215" cy="950976"/>
          </a:xfrm>
          <a:prstGeom prst="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2563EB"/>
                </a:solidFill>
              </a:defRPr>
            </a:pPr>
            <a:r>
              <a:t>#1 [NAV] Global Brand &amp; Divisional Shell </a:t>
            </a:r>
          </a:p>
          <a:p>
            <a:pPr>
              <a:defRPr sz="900">
                <a:solidFill>
                  <a:srgbClr val="475569"/>
                </a:solidFill>
              </a:defRPr>
            </a:pPr>
            <a:r>
              <a:t>Role: Establishes system context, operational jurisdiction, and verified server c...</a:t>
            </a:r>
          </a:p>
          <a:p>
            <a:pPr>
              <a:defRPr sz="850" i="1">
                <a:solidFill>
                  <a:srgbClr val="065F46"/>
                </a:solidFill>
              </a:defRPr>
            </a:pPr>
            <a:r>
              <a:t>Viva: Our shell header anchors the system to Delhi Division, displaying live connection sta...</a:t>
            </a:r>
          </a:p>
        </p:txBody>
      </p:sp>
      <p:sp>
        <p:nvSpPr>
          <p:cNvPr id="8" name="Rectangle 7"/>
          <p:cNvSpPr/>
          <p:nvPr/>
        </p:nvSpPr>
        <p:spPr>
          <a:xfrm>
            <a:off x="7863840" y="2258568"/>
            <a:ext cx="3779215" cy="950976"/>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7C3AED"/>
                </a:solidFill>
              </a:defRPr>
            </a:pPr>
            <a:r>
              <a:t>#2 [CARD] Critical KPI Telemetry Ribbon</a:t>
            </a:r>
          </a:p>
          <a:p>
            <a:pPr>
              <a:defRPr sz="900">
                <a:solidFill>
                  <a:srgbClr val="475569"/>
                </a:solidFill>
              </a:defRPr>
            </a:pPr>
            <a:r>
              <a:t>Role: Provides instant situational awareness of safety-critical tasks, approved p...</a:t>
            </a:r>
          </a:p>
          <a:p>
            <a:pPr>
              <a:defRPr sz="850" i="1">
                <a:solidFill>
                  <a:srgbClr val="065F46"/>
                </a:solidFill>
              </a:defRPr>
            </a:pPr>
            <a:r>
              <a:t>Viva: At a glance, division controllers see our system has certified 72 conflict-free block...</a:t>
            </a:r>
          </a:p>
        </p:txBody>
      </p:sp>
      <p:sp>
        <p:nvSpPr>
          <p:cNvPr id="9" name="Rectangle 8"/>
          <p:cNvSpPr/>
          <p:nvPr/>
        </p:nvSpPr>
        <p:spPr>
          <a:xfrm>
            <a:off x="7863840" y="3282696"/>
            <a:ext cx="3779215" cy="950976"/>
          </a:xfrm>
          <a:prstGeom prst="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DC2626"/>
                </a:solidFill>
              </a:defRPr>
            </a:pPr>
            <a:r>
              <a:t>#3 [ALERT] Maintenance Priority Queue</a:t>
            </a:r>
          </a:p>
          <a:p>
            <a:pPr>
              <a:defRPr sz="900">
                <a:solidFill>
                  <a:srgbClr val="475569"/>
                </a:solidFill>
              </a:defRPr>
            </a:pPr>
            <a:r>
              <a:t>Role: Prevents catastrophic asset failures by ranking maintenance tasks using exp...</a:t>
            </a:r>
          </a:p>
          <a:p>
            <a:pPr>
              <a:defRPr sz="850" i="1">
                <a:solidFill>
                  <a:srgbClr val="065F46"/>
                </a:solidFill>
              </a:defRPr>
            </a:pPr>
            <a:r>
              <a:t>Viva: Our priority queue ranks work orders using physics-informed degradation models, guara...</a:t>
            </a:r>
          </a:p>
        </p:txBody>
      </p:sp>
      <p:sp>
        <p:nvSpPr>
          <p:cNvPr id="10" name="Rectangle 9"/>
          <p:cNvSpPr/>
          <p:nvPr/>
        </p:nvSpPr>
        <p:spPr>
          <a:xfrm>
            <a:off x="7863840" y="4306824"/>
            <a:ext cx="3779215" cy="950976"/>
          </a:xfrm>
          <a:prstGeom prst="rect">
            <a:avLst/>
          </a:prstGeom>
          <a:solidFill>
            <a:srgbClr val="FFFFFF"/>
          </a:solidFill>
          <a:ln w="19050">
            <a:solidFill>
              <a:srgbClr val="0891B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0891B2"/>
                </a:solidFill>
              </a:defRPr>
            </a:pPr>
            <a:r>
              <a:t>#4 [CHART] Leaflet GIS Corridor Asset Map</a:t>
            </a:r>
          </a:p>
          <a:p>
            <a:pPr>
              <a:defRPr sz="900">
                <a:solidFill>
                  <a:srgbClr val="475569"/>
                </a:solidFill>
              </a:defRPr>
            </a:pPr>
            <a:r>
              <a:t>Role: Visualizes geospatial track topology, active line closures, and maintenance...</a:t>
            </a:r>
          </a:p>
          <a:p>
            <a:pPr>
              <a:defRPr sz="850" i="1">
                <a:solidFill>
                  <a:srgbClr val="065F46"/>
                </a:solidFill>
              </a:defRPr>
            </a:pPr>
            <a:r>
              <a:t>Viva: This interactive GIS map provides live geospatial tracking of Delhi Division's 6 main...</a:t>
            </a:r>
          </a:p>
        </p:txBody>
      </p:sp>
      <p:sp>
        <p:nvSpPr>
          <p:cNvPr id="11" name="Rectangle 10"/>
          <p:cNvSpPr/>
          <p:nvPr/>
        </p:nvSpPr>
        <p:spPr>
          <a:xfrm>
            <a:off x="7863840" y="5330952"/>
            <a:ext cx="3779215" cy="950976"/>
          </a:xfrm>
          <a:prstGeom prst="rect">
            <a:avLst/>
          </a:prstGeom>
          <a:solidFill>
            <a:srgbClr val="FFFFFF"/>
          </a:solidFill>
          <a:ln w="19050">
            <a:solidFill>
              <a:srgbClr val="0891B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0891B2"/>
                </a:solidFill>
              </a:defRPr>
            </a:pPr>
            <a:r>
              <a:t>#5 [CHART] Corridor Performance &amp; Punctuali</a:t>
            </a:r>
          </a:p>
          <a:p>
            <a:pPr>
              <a:defRPr sz="900">
                <a:solidFill>
                  <a:srgbClr val="475569"/>
                </a:solidFill>
              </a:defRPr>
            </a:pPr>
            <a:r>
              <a:t>Role: Monitors throughput efficiency and passenger punctuality impact across all ...</a:t>
            </a:r>
          </a:p>
          <a:p>
            <a:pPr>
              <a:defRPr sz="850" i="1">
                <a:solidFill>
                  <a:srgbClr val="065F46"/>
                </a:solidFill>
              </a:defRPr>
            </a:pPr>
            <a:r>
              <a:t>Viva: Here controllers monitor throughput and punctuality across all 6 corridor segments, 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D96F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8686800" cy="777240"/>
          </a:xfrm>
          <a:prstGeom prst="rect">
            <a:avLst/>
          </a:prstGeom>
          <a:noFill/>
        </p:spPr>
        <p:txBody>
          <a:bodyPr wrap="square">
            <a:spAutoFit/>
          </a:bodyPr>
          <a:lstStyle/>
          <a:p>
            <a:pPr>
              <a:defRPr sz="2000" b="1">
                <a:solidFill>
                  <a:srgbClr val="FFFFFF"/>
                </a:solidFill>
              </a:defRPr>
            </a:pPr>
            <a:r>
              <a:t>SECTION 02: 2. Asset Backlog</a:t>
            </a:r>
          </a:p>
          <a:p>
            <a:pPr>
              <a:defRPr sz="1100">
                <a:solidFill>
                  <a:srgbClr val="D96F13"/>
                </a:solidFill>
              </a:defRPr>
            </a:pPr>
            <a:r>
              <a:t>Unified Multi-Department Work Order Repository &amp; Urgency Ranking</a:t>
            </a:r>
          </a:p>
        </p:txBody>
      </p:sp>
      <p:sp>
        <p:nvSpPr>
          <p:cNvPr id="5" name="Rectangle 4"/>
          <p:cNvSpPr/>
          <p:nvPr/>
        </p:nvSpPr>
        <p:spPr>
          <a:xfrm>
            <a:off x="9601200" y="228600"/>
            <a:ext cx="2103120" cy="50292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96F13"/>
                </a:solidFill>
              </a:defRPr>
            </a:pPr>
            <a:r>
              <a:t>TIER: OPERATIONS</a:t>
            </a:r>
          </a:p>
        </p:txBody>
      </p:sp>
      <p:pic>
        <p:nvPicPr>
          <p:cNvPr id="6" name="Picture 5" descr="02_asset_backlog_annotated.png"/>
          <p:cNvPicPr>
            <a:picLocks noChangeAspect="1"/>
          </p:cNvPicPr>
          <p:nvPr/>
        </p:nvPicPr>
        <p:blipFill>
          <a:blip r:embed="rId2"/>
          <a:stretch>
            <a:fillRect/>
          </a:stretch>
        </p:blipFill>
        <p:spPr>
          <a:xfrm>
            <a:off x="548640" y="1234440"/>
            <a:ext cx="7132320" cy="4389120"/>
          </a:xfrm>
          <a:prstGeom prst="rect">
            <a:avLst/>
          </a:prstGeom>
        </p:spPr>
      </p:pic>
      <p:sp>
        <p:nvSpPr>
          <p:cNvPr id="7" name="Rectangle 6"/>
          <p:cNvSpPr/>
          <p:nvPr/>
        </p:nvSpPr>
        <p:spPr>
          <a:xfrm>
            <a:off x="7863840" y="1234440"/>
            <a:ext cx="3779215" cy="950976"/>
          </a:xfrm>
          <a:prstGeom prst="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10B981"/>
                </a:solidFill>
              </a:defRPr>
            </a:pPr>
            <a:r>
              <a:t>#1 [ACTION] Departmental Quick-Filter Toolba</a:t>
            </a:r>
          </a:p>
          <a:p>
            <a:pPr>
              <a:defRPr sz="900">
                <a:solidFill>
                  <a:srgbClr val="475569"/>
                </a:solidFill>
              </a:defRPr>
            </a:pPr>
            <a:r>
              <a:t>Role: Allows sectional engineers to isolate work orders belonging strictly to the...</a:t>
            </a:r>
          </a:p>
          <a:p>
            <a:pPr>
              <a:defRPr sz="850" i="1">
                <a:solidFill>
                  <a:srgbClr val="065F46"/>
                </a:solidFill>
              </a:defRPr>
            </a:pPr>
            <a:r>
              <a:t>Viva: These quick-filters allow track, overhead electric, and signaling supervisors to inst...</a:t>
            </a:r>
          </a:p>
        </p:txBody>
      </p:sp>
      <p:sp>
        <p:nvSpPr>
          <p:cNvPr id="8" name="Rectangle 7"/>
          <p:cNvSpPr/>
          <p:nvPr/>
        </p:nvSpPr>
        <p:spPr>
          <a:xfrm>
            <a:off x="7863840" y="2258568"/>
            <a:ext cx="3779215" cy="950976"/>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7C3AED"/>
                </a:solidFill>
              </a:defRPr>
            </a:pPr>
            <a:r>
              <a:t>#2 [CARD] Urgency &amp; Risk Distribution Card</a:t>
            </a:r>
          </a:p>
          <a:p>
            <a:pPr>
              <a:defRPr sz="900">
                <a:solidFill>
                  <a:srgbClr val="475569"/>
                </a:solidFill>
              </a:defRPr>
            </a:pPr>
            <a:r>
              <a:t>Role: Displays current backlog risk profile and statutory deadline urgency breakd...</a:t>
            </a:r>
          </a:p>
          <a:p>
            <a:pPr>
              <a:defRPr sz="850" i="1">
                <a:solidFill>
                  <a:srgbClr val="065F46"/>
                </a:solidFill>
              </a:defRPr>
            </a:pPr>
            <a:r>
              <a:t>Viva: These summary cards categorize the backlog into 4 distinct risk tiers, highlighting t...</a:t>
            </a:r>
          </a:p>
        </p:txBody>
      </p:sp>
      <p:sp>
        <p:nvSpPr>
          <p:cNvPr id="9" name="Rectangle 8"/>
          <p:cNvSpPr/>
          <p:nvPr/>
        </p:nvSpPr>
        <p:spPr>
          <a:xfrm>
            <a:off x="7863840" y="3282696"/>
            <a:ext cx="3779215" cy="950976"/>
          </a:xfrm>
          <a:prstGeom prst="rect">
            <a:avLst/>
          </a:prstGeom>
          <a:solidFill>
            <a:srgbClr val="FFFFFF"/>
          </a:solidFill>
          <a:ln w="19050">
            <a:solidFill>
              <a:srgbClr val="D96F1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D96F13"/>
                </a:solidFill>
              </a:defRPr>
            </a:pPr>
            <a:r>
              <a:t>#3 [FORM] Backlog Search &amp; Corridor Filter</a:t>
            </a:r>
          </a:p>
          <a:p>
            <a:pPr>
              <a:defRPr sz="900">
                <a:solidFill>
                  <a:srgbClr val="475569"/>
                </a:solidFill>
              </a:defRPr>
            </a:pPr>
            <a:r>
              <a:t>Role: Enables rapid retrieval of specific maintenance jobs by physical kilometer ...</a:t>
            </a:r>
          </a:p>
          <a:p>
            <a:pPr>
              <a:defRPr sz="850" i="1">
                <a:solidFill>
                  <a:srgbClr val="065F46"/>
                </a:solidFill>
              </a:defRPr>
            </a:pPr>
            <a:r>
              <a:t>Viva: With this search bar, a controller can type 'KM 142' and immediately find all pending...</a:t>
            </a:r>
          </a:p>
        </p:txBody>
      </p:sp>
      <p:sp>
        <p:nvSpPr>
          <p:cNvPr id="10" name="Rectangle 9"/>
          <p:cNvSpPr/>
          <p:nvPr/>
        </p:nvSpPr>
        <p:spPr>
          <a:xfrm>
            <a:off x="7863840" y="4306824"/>
            <a:ext cx="3779215" cy="950976"/>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7C3AED"/>
                </a:solidFill>
              </a:defRPr>
            </a:pPr>
            <a:r>
              <a:t>#4 [CARD] Unified Asset Maintenance Task T</a:t>
            </a:r>
          </a:p>
          <a:p>
            <a:pPr>
              <a:defRPr sz="900">
                <a:solidFill>
                  <a:srgbClr val="475569"/>
                </a:solidFill>
              </a:defRPr>
            </a:pPr>
            <a:r>
              <a:t>Role: Presents comprehensive work order details with full operational parameters....</a:t>
            </a:r>
          </a:p>
          <a:p>
            <a:pPr>
              <a:defRPr sz="850" i="1">
                <a:solidFill>
                  <a:srgbClr val="065F46"/>
                </a:solidFill>
              </a:defRPr>
            </a:pPr>
            <a:r>
              <a:t>Viva: This table lists every pending task with its mathematical priority score, department ...</a:t>
            </a:r>
          </a:p>
        </p:txBody>
      </p:sp>
      <p:sp>
        <p:nvSpPr>
          <p:cNvPr id="11" name="Rectangle 10"/>
          <p:cNvSpPr/>
          <p:nvPr/>
        </p:nvSpPr>
        <p:spPr>
          <a:xfrm>
            <a:off x="7863840" y="5330952"/>
            <a:ext cx="3779215" cy="950976"/>
          </a:xfrm>
          <a:prstGeom prst="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10B981"/>
                </a:solidFill>
              </a:defRPr>
            </a:pPr>
            <a:r>
              <a:t>#5 [ACTION] Task Action &amp; Drawer Trigger</a:t>
            </a:r>
          </a:p>
          <a:p>
            <a:pPr>
              <a:defRPr sz="900">
                <a:solidFill>
                  <a:srgbClr val="475569"/>
                </a:solidFill>
              </a:defRPr>
            </a:pPr>
            <a:r>
              <a:t>Role: Opens detailed engineering specifications, failure curves, and isolation ch...</a:t>
            </a:r>
          </a:p>
          <a:p>
            <a:pPr>
              <a:defRPr sz="850" i="1">
                <a:solidFill>
                  <a:srgbClr val="065F46"/>
                </a:solidFill>
              </a:defRPr>
            </a:pPr>
            <a:r>
              <a:t>Viva: Clicking inspect opens our detailed engineering drawer, displaying ultrasonic flaw 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D96F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8686800" cy="777240"/>
          </a:xfrm>
          <a:prstGeom prst="rect">
            <a:avLst/>
          </a:prstGeom>
          <a:noFill/>
        </p:spPr>
        <p:txBody>
          <a:bodyPr wrap="square">
            <a:spAutoFit/>
          </a:bodyPr>
          <a:lstStyle/>
          <a:p>
            <a:pPr>
              <a:defRPr sz="2000" b="1">
                <a:solidFill>
                  <a:srgbClr val="FFFFFF"/>
                </a:solidFill>
              </a:defRPr>
            </a:pPr>
            <a:r>
              <a:t>SECTION 03: 3. Weekly Block Planner</a:t>
            </a:r>
          </a:p>
          <a:p>
            <a:pPr>
              <a:defRPr sz="1100">
                <a:solidFill>
                  <a:srgbClr val="D96F13"/>
                </a:solidFill>
              </a:defRPr>
            </a:pPr>
            <a:r>
              <a:t>CP-SAT 7-Day Corridor Block Schedule &amp; Interactive Gantt Timeline</a:t>
            </a:r>
          </a:p>
        </p:txBody>
      </p:sp>
      <p:sp>
        <p:nvSpPr>
          <p:cNvPr id="5" name="Rectangle 4"/>
          <p:cNvSpPr/>
          <p:nvPr/>
        </p:nvSpPr>
        <p:spPr>
          <a:xfrm>
            <a:off x="9601200" y="228600"/>
            <a:ext cx="2103120" cy="50292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96F13"/>
                </a:solidFill>
              </a:defRPr>
            </a:pPr>
            <a:r>
              <a:t>TIER: OPERATIONS</a:t>
            </a:r>
          </a:p>
        </p:txBody>
      </p:sp>
      <p:pic>
        <p:nvPicPr>
          <p:cNvPr id="6" name="Picture 5" descr="03_weekly_planner_annotated.png"/>
          <p:cNvPicPr>
            <a:picLocks noChangeAspect="1"/>
          </p:cNvPicPr>
          <p:nvPr/>
        </p:nvPicPr>
        <p:blipFill>
          <a:blip r:embed="rId2"/>
          <a:stretch>
            <a:fillRect/>
          </a:stretch>
        </p:blipFill>
        <p:spPr>
          <a:xfrm>
            <a:off x="548640" y="1234440"/>
            <a:ext cx="7132320" cy="4389120"/>
          </a:xfrm>
          <a:prstGeom prst="rect">
            <a:avLst/>
          </a:prstGeom>
        </p:spPr>
      </p:pic>
      <p:sp>
        <p:nvSpPr>
          <p:cNvPr id="7" name="Rectangle 6"/>
          <p:cNvSpPr/>
          <p:nvPr/>
        </p:nvSpPr>
        <p:spPr>
          <a:xfrm>
            <a:off x="7863840" y="1234440"/>
            <a:ext cx="3779215" cy="950976"/>
          </a:xfrm>
          <a:prstGeom prst="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2563EB"/>
                </a:solidFill>
              </a:defRPr>
            </a:pPr>
            <a:r>
              <a:t>#1 [NAV] Planner Date Navigator &amp; Horizon</a:t>
            </a:r>
          </a:p>
          <a:p>
            <a:pPr>
              <a:defRPr sz="900">
                <a:solidFill>
                  <a:srgbClr val="475569"/>
                </a:solidFill>
              </a:defRPr>
            </a:pPr>
            <a:r>
              <a:t>Role: Controls the temporal window displayed on the Gantt timeline....</a:t>
            </a:r>
          </a:p>
          <a:p>
            <a:pPr>
              <a:defRPr sz="850" i="1">
                <a:solidFill>
                  <a:srgbClr val="065F46"/>
                </a:solidFill>
              </a:defRPr>
            </a:pPr>
            <a:r>
              <a:t>Viva: This date navigator allows controllers to scroll seamlessly through 7 days of schedul...</a:t>
            </a:r>
          </a:p>
        </p:txBody>
      </p:sp>
      <p:sp>
        <p:nvSpPr>
          <p:cNvPr id="8" name="Rectangle 7"/>
          <p:cNvSpPr/>
          <p:nvPr/>
        </p:nvSpPr>
        <p:spPr>
          <a:xfrm>
            <a:off x="7863840" y="2258568"/>
            <a:ext cx="3779215" cy="950976"/>
          </a:xfrm>
          <a:prstGeom prst="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10B981"/>
                </a:solidFill>
              </a:defRPr>
            </a:pPr>
            <a:r>
              <a:t>#2 [ACTION] CP-SAT Optimization Execution Bu</a:t>
            </a:r>
          </a:p>
          <a:p>
            <a:pPr>
              <a:defRPr sz="900">
                <a:solidFill>
                  <a:srgbClr val="475569"/>
                </a:solidFill>
              </a:defRPr>
            </a:pPr>
            <a:r>
              <a:t>Role: Triggers the Google OR-Tools CP-SAT constraint solver to compute an optimal...</a:t>
            </a:r>
          </a:p>
          <a:p>
            <a:pPr>
              <a:defRPr sz="850" i="1">
                <a:solidFill>
                  <a:srgbClr val="065F46"/>
                </a:solidFill>
              </a:defRPr>
            </a:pPr>
            <a:r>
              <a:t>Viva: Clicking this button invokes Google OR-Tools CP-SAT, solving 15,000 constraint equati...</a:t>
            </a:r>
          </a:p>
        </p:txBody>
      </p:sp>
      <p:sp>
        <p:nvSpPr>
          <p:cNvPr id="9" name="Rectangle 8"/>
          <p:cNvSpPr/>
          <p:nvPr/>
        </p:nvSpPr>
        <p:spPr>
          <a:xfrm>
            <a:off x="7863840" y="3282696"/>
            <a:ext cx="3779215" cy="950976"/>
          </a:xfrm>
          <a:prstGeom prst="rect">
            <a:avLst/>
          </a:prstGeom>
          <a:solidFill>
            <a:srgbClr val="FFFFFF"/>
          </a:solidFill>
          <a:ln w="19050">
            <a:solidFill>
              <a:srgbClr val="0891B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0891B2"/>
                </a:solidFill>
              </a:defRPr>
            </a:pPr>
            <a:r>
              <a:t>#3 [CHART] 6 Corridor Sections Gantt Swimla</a:t>
            </a:r>
          </a:p>
          <a:p>
            <a:pPr>
              <a:defRPr sz="900">
                <a:solidFill>
                  <a:srgbClr val="475569"/>
                </a:solidFill>
              </a:defRPr>
            </a:pPr>
            <a:r>
              <a:t>Role: Displays spatial and temporal allocation of maintenance blocks across all c...</a:t>
            </a:r>
          </a:p>
          <a:p>
            <a:pPr>
              <a:defRPr sz="850" i="1">
                <a:solidFill>
                  <a:srgbClr val="065F46"/>
                </a:solidFill>
              </a:defRPr>
            </a:pPr>
            <a:r>
              <a:t>Viva: These 6 corridor swimlanes map out all maintenance blocks across the Delhi-Howrah rou...</a:t>
            </a:r>
          </a:p>
        </p:txBody>
      </p:sp>
      <p:sp>
        <p:nvSpPr>
          <p:cNvPr id="10" name="Rectangle 9"/>
          <p:cNvSpPr/>
          <p:nvPr/>
        </p:nvSpPr>
        <p:spPr>
          <a:xfrm>
            <a:off x="7863840" y="4306824"/>
            <a:ext cx="3779215" cy="950976"/>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7C3AED"/>
                </a:solidFill>
              </a:defRPr>
            </a:pPr>
            <a:r>
              <a:t>#4 [CARD] Assigned Corridor Possessions Ta</a:t>
            </a:r>
          </a:p>
          <a:p>
            <a:pPr>
              <a:defRPr sz="900">
                <a:solidFill>
                  <a:srgbClr val="475569"/>
                </a:solidFill>
              </a:defRPr>
            </a:pPr>
            <a:r>
              <a:t>Role: Provides an auditable tabular breakdown of all scheduled blocks shown on th...</a:t>
            </a:r>
          </a:p>
          <a:p>
            <a:pPr>
              <a:defRPr sz="850" i="1">
                <a:solidFill>
                  <a:srgbClr val="065F46"/>
                </a:solidFill>
              </a:defRPr>
            </a:pPr>
            <a:r>
              <a:t>Viva: Below the timeline, this table provides the official possession roster, showing exact...</a:t>
            </a:r>
          </a:p>
        </p:txBody>
      </p:sp>
      <p:sp>
        <p:nvSpPr>
          <p:cNvPr id="11" name="Rectangle 10"/>
          <p:cNvSpPr/>
          <p:nvPr/>
        </p:nvSpPr>
        <p:spPr>
          <a:xfrm>
            <a:off x="7863840" y="5330952"/>
            <a:ext cx="3779215" cy="950976"/>
          </a:xfrm>
          <a:prstGeom prst="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DC2626"/>
                </a:solidFill>
              </a:defRPr>
            </a:pPr>
            <a:r>
              <a:t>#5 [ALERT] Statutory Headway Clearance Indi</a:t>
            </a:r>
          </a:p>
          <a:p>
            <a:pPr>
              <a:defRPr sz="900">
                <a:solidFill>
                  <a:srgbClr val="475569"/>
                </a:solidFill>
              </a:defRPr>
            </a:pPr>
            <a:r>
              <a:t>Role: Verifies that every scheduled block maintains the mandatory 10-minute buffe...</a:t>
            </a:r>
          </a:p>
          <a:p>
            <a:pPr>
              <a:defRPr sz="850" i="1">
                <a:solidFill>
                  <a:srgbClr val="065F46"/>
                </a:solidFill>
              </a:defRPr>
            </a:pPr>
            <a:r>
              <a:t>Viva: This compliance badge proves that all 72 blocks strictly adhere to the mandatory 10-m...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D96F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8686800" cy="777240"/>
          </a:xfrm>
          <a:prstGeom prst="rect">
            <a:avLst/>
          </a:prstGeom>
          <a:noFill/>
        </p:spPr>
        <p:txBody>
          <a:bodyPr wrap="square">
            <a:spAutoFit/>
          </a:bodyPr>
          <a:lstStyle/>
          <a:p>
            <a:pPr>
              <a:defRPr sz="2000" b="1">
                <a:solidFill>
                  <a:srgbClr val="FFFFFF"/>
                </a:solidFill>
              </a:defRPr>
            </a:pPr>
            <a:r>
              <a:t>SECTION 04: 4. Monthly Forecast</a:t>
            </a:r>
          </a:p>
          <a:p>
            <a:pPr>
              <a:defRPr sz="1100">
                <a:solidFill>
                  <a:srgbClr val="D96F13"/>
                </a:solidFill>
              </a:defRPr>
            </a:pPr>
            <a:r>
              <a:t>30-Day Strategic Corridor Capacity &amp; Multi-Horizon Possession Projections</a:t>
            </a:r>
          </a:p>
        </p:txBody>
      </p:sp>
      <p:sp>
        <p:nvSpPr>
          <p:cNvPr id="5" name="Rectangle 4"/>
          <p:cNvSpPr/>
          <p:nvPr/>
        </p:nvSpPr>
        <p:spPr>
          <a:xfrm>
            <a:off x="9601200" y="228600"/>
            <a:ext cx="2103120" cy="50292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96F13"/>
                </a:solidFill>
              </a:defRPr>
            </a:pPr>
            <a:r>
              <a:t>TIER: OPERATIONS</a:t>
            </a:r>
          </a:p>
        </p:txBody>
      </p:sp>
      <p:pic>
        <p:nvPicPr>
          <p:cNvPr id="6" name="Picture 5" descr="04_monthly_forecast_annotated.png"/>
          <p:cNvPicPr>
            <a:picLocks noChangeAspect="1"/>
          </p:cNvPicPr>
          <p:nvPr/>
        </p:nvPicPr>
        <p:blipFill>
          <a:blip r:embed="rId2"/>
          <a:stretch>
            <a:fillRect/>
          </a:stretch>
        </p:blipFill>
        <p:spPr>
          <a:xfrm>
            <a:off x="548640" y="1234440"/>
            <a:ext cx="7132320" cy="4389120"/>
          </a:xfrm>
          <a:prstGeom prst="rect">
            <a:avLst/>
          </a:prstGeom>
        </p:spPr>
      </p:pic>
      <p:sp>
        <p:nvSpPr>
          <p:cNvPr id="7" name="Rectangle 6"/>
          <p:cNvSpPr/>
          <p:nvPr/>
        </p:nvSpPr>
        <p:spPr>
          <a:xfrm>
            <a:off x="7863840" y="1234440"/>
            <a:ext cx="3779215" cy="1207008"/>
          </a:xfrm>
          <a:prstGeom prst="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2563EB"/>
                </a:solidFill>
              </a:defRPr>
            </a:pPr>
            <a:r>
              <a:t>#1 [NAV] Horizon Duration Toggle</a:t>
            </a:r>
          </a:p>
          <a:p>
            <a:pPr>
              <a:defRPr sz="900">
                <a:solidFill>
                  <a:srgbClr val="475569"/>
                </a:solidFill>
              </a:defRPr>
            </a:pPr>
            <a:r>
              <a:t>Role: Switches the view between intermediate weekly outlook and full 30-day strat...</a:t>
            </a:r>
          </a:p>
          <a:p>
            <a:pPr>
              <a:defRPr sz="850" i="1">
                <a:solidFill>
                  <a:srgbClr val="065F46"/>
                </a:solidFill>
              </a:defRPr>
            </a:pPr>
            <a:r>
              <a:t>Viva: This horizon switcher toggles between tactical 7-day schedules and strategic 30-day l...</a:t>
            </a:r>
          </a:p>
        </p:txBody>
      </p:sp>
      <p:sp>
        <p:nvSpPr>
          <p:cNvPr id="8" name="Rectangle 7"/>
          <p:cNvSpPr/>
          <p:nvPr/>
        </p:nvSpPr>
        <p:spPr>
          <a:xfrm>
            <a:off x="7863840" y="2514600"/>
            <a:ext cx="3779215" cy="1207008"/>
          </a:xfrm>
          <a:prstGeom prst="rect">
            <a:avLst/>
          </a:prstGeom>
          <a:solidFill>
            <a:srgbClr val="FFFFFF"/>
          </a:solidFill>
          <a:ln w="19050">
            <a:solidFill>
              <a:srgbClr val="0891B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0891B2"/>
                </a:solidFill>
              </a:defRPr>
            </a:pPr>
            <a:r>
              <a:t>#2 [CHART] Corridor Capacity &amp; Traffic Proj</a:t>
            </a:r>
          </a:p>
          <a:p>
            <a:pPr>
              <a:defRPr sz="900">
                <a:solidFill>
                  <a:srgbClr val="475569"/>
                </a:solidFill>
              </a:defRPr>
            </a:pPr>
            <a:r>
              <a:t>Role: Identifies recurring low-density traffic troughs ideal for scheduling heavy...</a:t>
            </a:r>
          </a:p>
          <a:p>
            <a:pPr>
              <a:defRPr sz="850" i="1">
                <a:solidFill>
                  <a:srgbClr val="065F46"/>
                </a:solidFill>
              </a:defRPr>
            </a:pPr>
            <a:r>
              <a:t>Viva: This chart plots 30 days of train density against available maintenance capacity, hig...</a:t>
            </a:r>
          </a:p>
        </p:txBody>
      </p:sp>
      <p:sp>
        <p:nvSpPr>
          <p:cNvPr id="9" name="Rectangle 8"/>
          <p:cNvSpPr/>
          <p:nvPr/>
        </p:nvSpPr>
        <p:spPr>
          <a:xfrm>
            <a:off x="7863840" y="3794760"/>
            <a:ext cx="3779215" cy="1207008"/>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7C3AED"/>
                </a:solidFill>
              </a:defRPr>
            </a:pPr>
            <a:r>
              <a:t>#3 [CARD] Multi-Horizon Day Cards Grid</a:t>
            </a:r>
          </a:p>
          <a:p>
            <a:pPr>
              <a:defRPr sz="900">
                <a:solidFill>
                  <a:srgbClr val="475569"/>
                </a:solidFill>
              </a:defRPr>
            </a:pPr>
            <a:r>
              <a:t>Role: Provides day-by-day operational summary of planned maintenance possessions ...</a:t>
            </a:r>
          </a:p>
          <a:p>
            <a:pPr>
              <a:defRPr sz="850" i="1">
                <a:solidFill>
                  <a:srgbClr val="065F46"/>
                </a:solidFill>
              </a:defRPr>
            </a:pPr>
            <a:r>
              <a:t>Viva: These day cards break down the 30-day forecast day-by-day, color-coding each day by m...</a:t>
            </a:r>
          </a:p>
        </p:txBody>
      </p:sp>
      <p:sp>
        <p:nvSpPr>
          <p:cNvPr id="10" name="Rectangle 9"/>
          <p:cNvSpPr/>
          <p:nvPr/>
        </p:nvSpPr>
        <p:spPr>
          <a:xfrm>
            <a:off x="7863840" y="5074920"/>
            <a:ext cx="3779215" cy="1207008"/>
          </a:xfrm>
          <a:prstGeom prst="rect">
            <a:avLst/>
          </a:prstGeom>
          <a:solidFill>
            <a:srgbClr val="FFFFFF"/>
          </a:solidFill>
          <a:ln w="19050">
            <a:solidFill>
              <a:srgbClr val="0891B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0891B2"/>
                </a:solidFill>
              </a:defRPr>
            </a:pPr>
            <a:r>
              <a:t>#4 [CHART] Preventive vs Emergency Workload</a:t>
            </a:r>
          </a:p>
          <a:p>
            <a:pPr>
              <a:defRPr sz="900">
                <a:solidFill>
                  <a:srgbClr val="475569"/>
                </a:solidFill>
              </a:defRPr>
            </a:pPr>
            <a:r>
              <a:t>Role: Tracks organizational shift from reactive firefighting to predictive, plann...</a:t>
            </a:r>
          </a:p>
          <a:p>
            <a:pPr>
              <a:defRPr sz="850" i="1">
                <a:solidFill>
                  <a:srgbClr val="065F46"/>
                </a:solidFill>
              </a:defRPr>
            </a:pPr>
            <a:r>
              <a:t>Viva: Here we track our preventive vs emergency workload: ABPS achieves an 88% planned main...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D96F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8686800" cy="777240"/>
          </a:xfrm>
          <a:prstGeom prst="rect">
            <a:avLst/>
          </a:prstGeom>
          <a:noFill/>
        </p:spPr>
        <p:txBody>
          <a:bodyPr wrap="square">
            <a:spAutoFit/>
          </a:bodyPr>
          <a:lstStyle/>
          <a:p>
            <a:pPr>
              <a:defRPr sz="2000" b="1">
                <a:solidFill>
                  <a:srgbClr val="FFFFFF"/>
                </a:solidFill>
              </a:defRPr>
            </a:pPr>
            <a:r>
              <a:t>SECTION 05: 5. Anomaly Handling</a:t>
            </a:r>
          </a:p>
          <a:p>
            <a:pPr>
              <a:defRPr sz="1100">
                <a:solidFill>
                  <a:srgbClr val="D96F13"/>
                </a:solidFill>
              </a:defRPr>
            </a:pPr>
            <a:r>
              <a:t>29 Scenario Classes, Active Disruption Traces &amp; Real-Time Auto-Remediation</a:t>
            </a:r>
          </a:p>
        </p:txBody>
      </p:sp>
      <p:sp>
        <p:nvSpPr>
          <p:cNvPr id="5" name="Rectangle 4"/>
          <p:cNvSpPr/>
          <p:nvPr/>
        </p:nvSpPr>
        <p:spPr>
          <a:xfrm>
            <a:off x="9601200" y="228600"/>
            <a:ext cx="2103120" cy="50292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96F13"/>
                </a:solidFill>
              </a:defRPr>
            </a:pPr>
            <a:r>
              <a:t>TIER: OPERATIONS</a:t>
            </a:r>
          </a:p>
        </p:txBody>
      </p:sp>
      <p:pic>
        <p:nvPicPr>
          <p:cNvPr id="6" name="Picture 5" descr="05_anomaly_handling_annotated.png"/>
          <p:cNvPicPr>
            <a:picLocks noChangeAspect="1"/>
          </p:cNvPicPr>
          <p:nvPr/>
        </p:nvPicPr>
        <p:blipFill>
          <a:blip r:embed="rId2"/>
          <a:stretch>
            <a:fillRect/>
          </a:stretch>
        </p:blipFill>
        <p:spPr>
          <a:xfrm>
            <a:off x="548640" y="1234440"/>
            <a:ext cx="7132320" cy="4389120"/>
          </a:xfrm>
          <a:prstGeom prst="rect">
            <a:avLst/>
          </a:prstGeom>
        </p:spPr>
      </p:pic>
      <p:sp>
        <p:nvSpPr>
          <p:cNvPr id="7" name="Rectangle 6"/>
          <p:cNvSpPr/>
          <p:nvPr/>
        </p:nvSpPr>
        <p:spPr>
          <a:xfrm>
            <a:off x="7863840" y="1234440"/>
            <a:ext cx="3779215" cy="1207008"/>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7C3AED"/>
                </a:solidFill>
              </a:defRPr>
            </a:pPr>
            <a:r>
              <a:t>#1 [CARD] 29 Scenario Benchmark Coverage H</a:t>
            </a:r>
          </a:p>
          <a:p>
            <a:pPr>
              <a:defRPr sz="900">
                <a:solidFill>
                  <a:srgbClr val="475569"/>
                </a:solidFill>
              </a:defRPr>
            </a:pPr>
            <a:r>
              <a:t>Role: Verifies that the anomaly handling system has formal coverage for all 29 re...</a:t>
            </a:r>
          </a:p>
          <a:p>
            <a:pPr>
              <a:defRPr sz="850" i="1">
                <a:solidFill>
                  <a:srgbClr val="065F46"/>
                </a:solidFill>
              </a:defRPr>
            </a:pPr>
            <a:r>
              <a:t>Viva: This banner confirms that our anomaly engine has 100% test coverage across all 29 sta...</a:t>
            </a:r>
          </a:p>
        </p:txBody>
      </p:sp>
      <p:sp>
        <p:nvSpPr>
          <p:cNvPr id="8" name="Rectangle 7"/>
          <p:cNvSpPr/>
          <p:nvPr/>
        </p:nvSpPr>
        <p:spPr>
          <a:xfrm>
            <a:off x="7863840" y="2514600"/>
            <a:ext cx="3779215" cy="1207008"/>
          </a:xfrm>
          <a:prstGeom prst="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DC2626"/>
                </a:solidFill>
              </a:defRPr>
            </a:pPr>
            <a:r>
              <a:t>#2 [ALERT] Active Anomaly Incident Trace Pa</a:t>
            </a:r>
          </a:p>
          <a:p>
            <a:pPr>
              <a:defRPr sz="900">
                <a:solidFill>
                  <a:srgbClr val="475569"/>
                </a:solidFill>
              </a:defRPr>
            </a:pPr>
            <a:r>
              <a:t>Role: Highlights live disruptions requiring immediate controller attention and de...</a:t>
            </a:r>
          </a:p>
          <a:p>
            <a:pPr>
              <a:defRPr sz="850" i="1">
                <a:solidFill>
                  <a:srgbClr val="065F46"/>
                </a:solidFill>
              </a:defRPr>
            </a:pPr>
            <a:r>
              <a:t>Viva: When an incident occurs, this red trace panel immediately surfaces the disruption det...</a:t>
            </a:r>
          </a:p>
        </p:txBody>
      </p:sp>
      <p:sp>
        <p:nvSpPr>
          <p:cNvPr id="9" name="Rectangle 8"/>
          <p:cNvSpPr/>
          <p:nvPr/>
        </p:nvSpPr>
        <p:spPr>
          <a:xfrm>
            <a:off x="7863840" y="3794760"/>
            <a:ext cx="3779215" cy="1207008"/>
          </a:xfrm>
          <a:prstGeom prst="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10B981"/>
                </a:solidFill>
              </a:defRPr>
            </a:pPr>
            <a:r>
              <a:t>#3 [ACTION] Automated Remediation Strategy R</a:t>
            </a:r>
          </a:p>
          <a:p>
            <a:pPr>
              <a:defRPr sz="900">
                <a:solidFill>
                  <a:srgbClr val="475569"/>
                </a:solidFill>
              </a:defRPr>
            </a:pPr>
            <a:r>
              <a:t>Role: Presents evaluated, conflict-free recovery actions ranked by minimum passen...</a:t>
            </a:r>
          </a:p>
          <a:p>
            <a:pPr>
              <a:defRPr sz="850" i="1">
                <a:solidFill>
                  <a:srgbClr val="065F46"/>
                </a:solidFill>
              </a:defRPr>
            </a:pPr>
            <a:r>
              <a:t>Viva: Our system doesn't just flag problems—it solves them. Here it evaluates 3 distinct re...</a:t>
            </a:r>
          </a:p>
        </p:txBody>
      </p:sp>
      <p:sp>
        <p:nvSpPr>
          <p:cNvPr id="10" name="Rectangle 9"/>
          <p:cNvSpPr/>
          <p:nvPr/>
        </p:nvSpPr>
        <p:spPr>
          <a:xfrm>
            <a:off x="7863840" y="5074920"/>
            <a:ext cx="3779215" cy="1207008"/>
          </a:xfrm>
          <a:prstGeom prst="rect">
            <a:avLst/>
          </a:prstGeom>
          <a:solidFill>
            <a:srgbClr val="FFFFFF"/>
          </a:solidFill>
          <a:ln w="19050">
            <a:solidFill>
              <a:srgbClr val="0891B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0891B2"/>
                </a:solidFill>
              </a:defRPr>
            </a:pPr>
            <a:r>
              <a:t>#4 [CHART] Incident Chronology &amp; Audit Trac</a:t>
            </a:r>
          </a:p>
          <a:p>
            <a:pPr>
              <a:defRPr sz="900">
                <a:solidFill>
                  <a:srgbClr val="475569"/>
                </a:solidFill>
              </a:defRPr>
            </a:pPr>
            <a:r>
              <a:t>Role: Maintains an unalterable chronological record of incident progression for p...</a:t>
            </a:r>
          </a:p>
          <a:p>
            <a:pPr>
              <a:defRPr sz="850" i="1">
                <a:solidFill>
                  <a:srgbClr val="065F46"/>
                </a:solidFill>
              </a:defRPr>
            </a:pPr>
            <a:r>
              <a:t>Viva: This chronology maintains an immutable audit log of the disruption from initial detec...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D96F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8686800" cy="777240"/>
          </a:xfrm>
          <a:prstGeom prst="rect">
            <a:avLst/>
          </a:prstGeom>
          <a:noFill/>
        </p:spPr>
        <p:txBody>
          <a:bodyPr wrap="square">
            <a:spAutoFit/>
          </a:bodyPr>
          <a:lstStyle/>
          <a:p>
            <a:pPr>
              <a:defRPr sz="2000" b="1">
                <a:solidFill>
                  <a:srgbClr val="FFFFFF"/>
                </a:solidFill>
              </a:defRPr>
            </a:pPr>
            <a:r>
              <a:t>SECTION 06: 6. Coordination Centre</a:t>
            </a:r>
          </a:p>
          <a:p>
            <a:pPr>
              <a:defRPr sz="1100">
                <a:solidFill>
                  <a:srgbClr val="D96F13"/>
                </a:solidFill>
              </a:defRPr>
            </a:pPr>
            <a:r>
              <a:t>Cross-Departmental Synergy, Shadow Block Opportunities &amp; 8-Point Compatibility Matrix</a:t>
            </a:r>
          </a:p>
        </p:txBody>
      </p:sp>
      <p:sp>
        <p:nvSpPr>
          <p:cNvPr id="5" name="Rectangle 4"/>
          <p:cNvSpPr/>
          <p:nvPr/>
        </p:nvSpPr>
        <p:spPr>
          <a:xfrm>
            <a:off x="9601200" y="228600"/>
            <a:ext cx="2103120" cy="50292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96F13"/>
                </a:solidFill>
              </a:defRPr>
            </a:pPr>
            <a:r>
              <a:t>TIER: COORDINATION</a:t>
            </a:r>
          </a:p>
        </p:txBody>
      </p:sp>
      <p:pic>
        <p:nvPicPr>
          <p:cNvPr id="6" name="Picture 5" descr="06_coordination_annotated.png"/>
          <p:cNvPicPr>
            <a:picLocks noChangeAspect="1"/>
          </p:cNvPicPr>
          <p:nvPr/>
        </p:nvPicPr>
        <p:blipFill>
          <a:blip r:embed="rId2"/>
          <a:stretch>
            <a:fillRect/>
          </a:stretch>
        </p:blipFill>
        <p:spPr>
          <a:xfrm>
            <a:off x="548640" y="1234440"/>
            <a:ext cx="7132320" cy="4389120"/>
          </a:xfrm>
          <a:prstGeom prst="rect">
            <a:avLst/>
          </a:prstGeom>
        </p:spPr>
      </p:pic>
      <p:sp>
        <p:nvSpPr>
          <p:cNvPr id="7" name="Rectangle 6"/>
          <p:cNvSpPr/>
          <p:nvPr/>
        </p:nvSpPr>
        <p:spPr>
          <a:xfrm>
            <a:off x="7863840" y="1234440"/>
            <a:ext cx="3779215" cy="1207008"/>
          </a:xfrm>
          <a:prstGeom prst="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10B981"/>
                </a:solidFill>
              </a:defRPr>
            </a:pPr>
            <a:r>
              <a:t>#1 [ACTION] Hero Coordination Candidate Card</a:t>
            </a:r>
          </a:p>
          <a:p>
            <a:pPr>
              <a:defRPr sz="900">
                <a:solidFill>
                  <a:srgbClr val="475569"/>
                </a:solidFill>
              </a:defRPr>
            </a:pPr>
            <a:r>
              <a:t>Role: Spotlights the single highest-impact multi-departmental bundling opportunit...</a:t>
            </a:r>
          </a:p>
          <a:p>
            <a:pPr>
              <a:defRPr sz="850" i="1">
                <a:solidFill>
                  <a:srgbClr val="065F46"/>
                </a:solidFill>
              </a:defRPr>
            </a:pPr>
            <a:r>
              <a:t>Viva: Our AI spotlights this high-impact opportunity: bundling rail welding, track circuit ...</a:t>
            </a:r>
          </a:p>
        </p:txBody>
      </p:sp>
      <p:sp>
        <p:nvSpPr>
          <p:cNvPr id="8" name="Rectangle 7"/>
          <p:cNvSpPr/>
          <p:nvPr/>
        </p:nvSpPr>
        <p:spPr>
          <a:xfrm>
            <a:off x="7863840" y="2514600"/>
            <a:ext cx="3779215" cy="1207008"/>
          </a:xfrm>
          <a:prstGeom prst="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DC2626"/>
                </a:solidFill>
              </a:defRPr>
            </a:pPr>
            <a:r>
              <a:t>#2 [ALERT] Deterministic 8-Point Compatibil</a:t>
            </a:r>
          </a:p>
          <a:p>
            <a:pPr>
              <a:defRPr sz="900">
                <a:solidFill>
                  <a:srgbClr val="475569"/>
                </a:solidFill>
              </a:defRPr>
            </a:pPr>
            <a:r>
              <a:t>Role: Ensures physical safety by enforcing deterministic prohibitions (e.g. balla...</a:t>
            </a:r>
          </a:p>
          <a:p>
            <a:pPr>
              <a:defRPr sz="850" i="1">
                <a:solidFill>
                  <a:srgbClr val="065F46"/>
                </a:solidFill>
              </a:defRPr>
            </a:pPr>
            <a:r>
              <a:t>Viva: Our 8-point deterministic safety matrix validates 15,000 potential task combinations,...</a:t>
            </a:r>
          </a:p>
        </p:txBody>
      </p:sp>
      <p:sp>
        <p:nvSpPr>
          <p:cNvPr id="9" name="Rectangle 8"/>
          <p:cNvSpPr/>
          <p:nvPr/>
        </p:nvSpPr>
        <p:spPr>
          <a:xfrm>
            <a:off x="7863840" y="3794760"/>
            <a:ext cx="3779215" cy="1207008"/>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7C3AED"/>
                </a:solidFill>
              </a:defRPr>
            </a:pPr>
            <a:r>
              <a:t>#3 [CARD] Canonical Synergy Principles Bre</a:t>
            </a:r>
          </a:p>
          <a:p>
            <a:pPr>
              <a:defRPr sz="900">
                <a:solidFill>
                  <a:srgbClr val="475569"/>
                </a:solidFill>
              </a:defRPr>
            </a:pPr>
            <a:r>
              <a:t>Role: Explains the underlying operational justification for bundling recommendati...</a:t>
            </a:r>
          </a:p>
          <a:p>
            <a:pPr>
              <a:defRPr sz="850" i="1">
                <a:solidFill>
                  <a:srgbClr val="065F46"/>
                </a:solidFill>
              </a:defRPr>
            </a:pPr>
            <a:r>
              <a:t>Viva: These 4 synergy principles quantify our savings: shared 25kV power shutoffs, co-locat...</a:t>
            </a:r>
          </a:p>
        </p:txBody>
      </p:sp>
      <p:sp>
        <p:nvSpPr>
          <p:cNvPr id="10" name="Rectangle 9"/>
          <p:cNvSpPr/>
          <p:nvPr/>
        </p:nvSpPr>
        <p:spPr>
          <a:xfrm>
            <a:off x="7863840" y="5074920"/>
            <a:ext cx="3779215" cy="1207008"/>
          </a:xfrm>
          <a:prstGeom prst="rect">
            <a:avLst/>
          </a:prstGeom>
          <a:solidFill>
            <a:srgbClr val="FFFFFF"/>
          </a:solidFill>
          <a:ln w="19050">
            <a:solidFill>
              <a:srgbClr val="0891B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0891B2"/>
                </a:solidFill>
              </a:defRPr>
            </a:pPr>
            <a:r>
              <a:t>#4 [CHART] Pairwise Coordination Audit Rost</a:t>
            </a:r>
          </a:p>
          <a:p>
            <a:pPr>
              <a:defRPr sz="900">
                <a:solidFill>
                  <a:srgbClr val="475569"/>
                </a:solidFill>
              </a:defRPr>
            </a:pPr>
            <a:r>
              <a:t>Role: Provides transparency and auditability for every bundled possession recomme...</a:t>
            </a:r>
          </a:p>
          <a:p>
            <a:pPr>
              <a:defRPr sz="850" i="1">
                <a:solidFill>
                  <a:srgbClr val="065F46"/>
                </a:solidFill>
              </a:defRPr>
            </a:pPr>
            <a:r>
              <a:t>Viva: This audit roster allows engineering supervisors to verify the exact spatial proximit...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D96F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8686800" cy="777240"/>
          </a:xfrm>
          <a:prstGeom prst="rect">
            <a:avLst/>
          </a:prstGeom>
          <a:noFill/>
        </p:spPr>
        <p:txBody>
          <a:bodyPr wrap="square">
            <a:spAutoFit/>
          </a:bodyPr>
          <a:lstStyle/>
          <a:p>
            <a:pPr>
              <a:defRPr sz="2000" b="1">
                <a:solidFill>
                  <a:srgbClr val="FFFFFF"/>
                </a:solidFill>
              </a:defRPr>
            </a:pPr>
            <a:r>
              <a:t>SECTION 07: 7. Integrated / Shadow Blocks</a:t>
            </a:r>
          </a:p>
          <a:p>
            <a:pPr>
              <a:defRPr sz="1100">
                <a:solidFill>
                  <a:srgbClr val="D96F13"/>
                </a:solidFill>
              </a:defRPr>
            </a:pPr>
            <a:r>
              <a:t>Before vs. After Optimization ROI Analysis &amp; Corridor Possessions Compression</a:t>
            </a:r>
          </a:p>
        </p:txBody>
      </p:sp>
      <p:sp>
        <p:nvSpPr>
          <p:cNvPr id="5" name="Rectangle 4"/>
          <p:cNvSpPr/>
          <p:nvPr/>
        </p:nvSpPr>
        <p:spPr>
          <a:xfrm>
            <a:off x="9601200" y="228600"/>
            <a:ext cx="2103120" cy="50292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96F13"/>
                </a:solidFill>
              </a:defRPr>
            </a:pPr>
            <a:r>
              <a:t>TIER: COORDINATION</a:t>
            </a:r>
          </a:p>
        </p:txBody>
      </p:sp>
      <p:pic>
        <p:nvPicPr>
          <p:cNvPr id="6" name="Picture 5" descr="07_shadow_blocks_annotated.png"/>
          <p:cNvPicPr>
            <a:picLocks noChangeAspect="1"/>
          </p:cNvPicPr>
          <p:nvPr/>
        </p:nvPicPr>
        <p:blipFill>
          <a:blip r:embed="rId2"/>
          <a:stretch>
            <a:fillRect/>
          </a:stretch>
        </p:blipFill>
        <p:spPr>
          <a:xfrm>
            <a:off x="548640" y="1234440"/>
            <a:ext cx="7132320" cy="4389120"/>
          </a:xfrm>
          <a:prstGeom prst="rect">
            <a:avLst/>
          </a:prstGeom>
        </p:spPr>
      </p:pic>
      <p:sp>
        <p:nvSpPr>
          <p:cNvPr id="7" name="Rectangle 6"/>
          <p:cNvSpPr/>
          <p:nvPr/>
        </p:nvSpPr>
        <p:spPr>
          <a:xfrm>
            <a:off x="7863840" y="1234440"/>
            <a:ext cx="3779215" cy="1207008"/>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7C3AED"/>
                </a:solidFill>
              </a:defRPr>
            </a:pPr>
            <a:r>
              <a:t>#1 [CARD] Optimization ROI &amp; Impact Ribbon</a:t>
            </a:r>
          </a:p>
          <a:p>
            <a:pPr>
              <a:defRPr sz="900">
                <a:solidFill>
                  <a:srgbClr val="475569"/>
                </a:solidFill>
              </a:defRPr>
            </a:pPr>
            <a:r>
              <a:t>Role: Summarizes macro-level operational improvements achieved through CP-SAT opt...</a:t>
            </a:r>
          </a:p>
          <a:p>
            <a:pPr>
              <a:defRPr sz="850" i="1">
                <a:solidFill>
                  <a:srgbClr val="065F46"/>
                </a:solidFill>
              </a:defRPr>
            </a:pPr>
            <a:r>
              <a:t>Viva: This ROI ribbon highlights our core results: 63.1% block consolidation, a 0.67% gain ...</a:t>
            </a:r>
          </a:p>
        </p:txBody>
      </p:sp>
      <p:sp>
        <p:nvSpPr>
          <p:cNvPr id="8" name="Rectangle 7"/>
          <p:cNvSpPr/>
          <p:nvPr/>
        </p:nvSpPr>
        <p:spPr>
          <a:xfrm>
            <a:off x="7863840" y="2514600"/>
            <a:ext cx="3779215" cy="1207008"/>
          </a:xfrm>
          <a:prstGeom prst="rect">
            <a:avLst/>
          </a:prstGeom>
          <a:solidFill>
            <a:srgbClr val="FFFFFF"/>
          </a:solidFill>
          <a:ln w="19050">
            <a:solidFill>
              <a:srgbClr val="0891B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0891B2"/>
                </a:solidFill>
              </a:defRPr>
            </a:pPr>
            <a:r>
              <a:t>#2 [CHART] Baseline vs Integrated Comparati</a:t>
            </a:r>
          </a:p>
          <a:p>
            <a:pPr>
              <a:defRPr sz="900">
                <a:solidFill>
                  <a:srgbClr val="475569"/>
                </a:solidFill>
              </a:defRPr>
            </a:pPr>
            <a:r>
              <a:t>Role: Provides unmistakable visual evidence of how block compression frees up ope...</a:t>
            </a:r>
          </a:p>
          <a:p>
            <a:pPr>
              <a:defRPr sz="850" i="1">
                <a:solidFill>
                  <a:srgbClr val="065F46"/>
                </a:solidFill>
              </a:defRPr>
            </a:pPr>
            <a:r>
              <a:t>Viva: Comparing the two timelines side-by-side: top shows fragmented manual planning blocki...</a:t>
            </a:r>
          </a:p>
        </p:txBody>
      </p:sp>
      <p:sp>
        <p:nvSpPr>
          <p:cNvPr id="9" name="Rectangle 8"/>
          <p:cNvSpPr/>
          <p:nvPr/>
        </p:nvSpPr>
        <p:spPr>
          <a:xfrm>
            <a:off x="7863840" y="3794760"/>
            <a:ext cx="3779215" cy="1207008"/>
          </a:xfrm>
          <a:prstGeom prst="rect">
            <a:avLst/>
          </a:prstGeom>
          <a:solidFill>
            <a:srgbClr val="FFFFFF"/>
          </a:solidFill>
          <a:ln w="19050">
            <a:solidFill>
              <a:srgbClr val="0891B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0891B2"/>
                </a:solidFill>
              </a:defRPr>
            </a:pPr>
            <a:r>
              <a:t>#3 [CHART] Corridor Availability Gain Analy</a:t>
            </a:r>
          </a:p>
          <a:p>
            <a:pPr>
              <a:defRPr sz="900">
                <a:solidFill>
                  <a:srgbClr val="475569"/>
                </a:solidFill>
              </a:defRPr>
            </a:pPr>
            <a:r>
              <a:t>Role: Proves that availability improvements are distributed equitably across the ...</a:t>
            </a:r>
          </a:p>
          <a:p>
            <a:pPr>
              <a:defRPr sz="850" i="1">
                <a:solidFill>
                  <a:srgbClr val="065F46"/>
                </a:solidFill>
              </a:defRPr>
            </a:pPr>
            <a:r>
              <a:t>Viva: A 0.67% availability gain might sound modest, but on Delhi-Howrah it unlocks enough t...</a:t>
            </a:r>
          </a:p>
        </p:txBody>
      </p:sp>
      <p:sp>
        <p:nvSpPr>
          <p:cNvPr id="10" name="Rectangle 9"/>
          <p:cNvSpPr/>
          <p:nvPr/>
        </p:nvSpPr>
        <p:spPr>
          <a:xfrm>
            <a:off x="7863840" y="5074920"/>
            <a:ext cx="3779215" cy="1207008"/>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7C3AED"/>
                </a:solidFill>
              </a:defRPr>
            </a:pPr>
            <a:r>
              <a:t>#4 [CARD] Departmental Possession Compress</a:t>
            </a:r>
          </a:p>
          <a:p>
            <a:pPr>
              <a:defRPr sz="900">
                <a:solidFill>
                  <a:srgbClr val="475569"/>
                </a:solidFill>
              </a:defRPr>
            </a:pPr>
            <a:r>
              <a:t>Role: Demonstrates that every engineering department benefits equitably without l...</a:t>
            </a:r>
          </a:p>
          <a:p>
            <a:pPr>
              <a:defRPr sz="850" i="1">
                <a:solidFill>
                  <a:srgbClr val="065F46"/>
                </a:solidFill>
              </a:defRPr>
            </a:pPr>
            <a:r>
              <a:t>Viva: This ledger shows that all 3 departments received 100% of their requested maintenance...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D96F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8686800" cy="777240"/>
          </a:xfrm>
          <a:prstGeom prst="rect">
            <a:avLst/>
          </a:prstGeom>
          <a:noFill/>
        </p:spPr>
        <p:txBody>
          <a:bodyPr wrap="square">
            <a:spAutoFit/>
          </a:bodyPr>
          <a:lstStyle/>
          <a:p>
            <a:pPr>
              <a:defRPr sz="2000" b="1">
                <a:solidFill>
                  <a:srgbClr val="FFFFFF"/>
                </a:solidFill>
              </a:defRPr>
            </a:pPr>
            <a:r>
              <a:t>SECTION 08: 8. Train &amp; Block Conflicts</a:t>
            </a:r>
          </a:p>
          <a:p>
            <a:pPr>
              <a:defRPr sz="1100">
                <a:solidFill>
                  <a:srgbClr val="D96F13"/>
                </a:solidFill>
              </a:defRPr>
            </a:pPr>
            <a:r>
              <a:t>Directional UP/DOWN Timetable Swimlanes &amp; Statutory Headway Conflict Radar</a:t>
            </a:r>
          </a:p>
        </p:txBody>
      </p:sp>
      <p:sp>
        <p:nvSpPr>
          <p:cNvPr id="5" name="Rectangle 4"/>
          <p:cNvSpPr/>
          <p:nvPr/>
        </p:nvSpPr>
        <p:spPr>
          <a:xfrm>
            <a:off x="9601200" y="228600"/>
            <a:ext cx="2103120" cy="50292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96F13"/>
                </a:solidFill>
              </a:defRPr>
            </a:pPr>
            <a:r>
              <a:t>TIER: COORDINATION</a:t>
            </a:r>
          </a:p>
        </p:txBody>
      </p:sp>
      <p:pic>
        <p:nvPicPr>
          <p:cNvPr id="6" name="Picture 5" descr="08_train_conflicts_annotated.png"/>
          <p:cNvPicPr>
            <a:picLocks noChangeAspect="1"/>
          </p:cNvPicPr>
          <p:nvPr/>
        </p:nvPicPr>
        <p:blipFill>
          <a:blip r:embed="rId2"/>
          <a:stretch>
            <a:fillRect/>
          </a:stretch>
        </p:blipFill>
        <p:spPr>
          <a:xfrm>
            <a:off x="548640" y="1234440"/>
            <a:ext cx="7132320" cy="4389120"/>
          </a:xfrm>
          <a:prstGeom prst="rect">
            <a:avLst/>
          </a:prstGeom>
        </p:spPr>
      </p:pic>
      <p:sp>
        <p:nvSpPr>
          <p:cNvPr id="7" name="Rectangle 6"/>
          <p:cNvSpPr/>
          <p:nvPr/>
        </p:nvSpPr>
        <p:spPr>
          <a:xfrm>
            <a:off x="7863840" y="1234440"/>
            <a:ext cx="3779215" cy="1207008"/>
          </a:xfrm>
          <a:prstGeom prst="rect">
            <a:avLst/>
          </a:prstGeom>
          <a:solidFill>
            <a:srgbClr val="FFFFFF"/>
          </a:solidFill>
          <a:ln w="19050">
            <a:solidFill>
              <a:srgbClr val="D96F1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D96F13"/>
                </a:solidFill>
              </a:defRPr>
            </a:pPr>
            <a:r>
              <a:t>#1 [FORM] Directional Track Line Selector</a:t>
            </a:r>
          </a:p>
          <a:p>
            <a:pPr>
              <a:defRPr sz="900">
                <a:solidFill>
                  <a:srgbClr val="475569"/>
                </a:solidFill>
              </a:defRPr>
            </a:pPr>
            <a:r>
              <a:t>Role: Filters timetable and conflict views by physical track direction....</a:t>
            </a:r>
          </a:p>
          <a:p>
            <a:pPr>
              <a:defRPr sz="850" i="1">
                <a:solidFill>
                  <a:srgbClr val="065F46"/>
                </a:solidFill>
              </a:defRPr>
            </a:pPr>
            <a:r>
              <a:t>Viva: This directional selector allows controllers to audit the UP and DOWN mainlines indep...</a:t>
            </a:r>
          </a:p>
        </p:txBody>
      </p:sp>
      <p:sp>
        <p:nvSpPr>
          <p:cNvPr id="8" name="Rectangle 7"/>
          <p:cNvSpPr/>
          <p:nvPr/>
        </p:nvSpPr>
        <p:spPr>
          <a:xfrm>
            <a:off x="7863840" y="2514600"/>
            <a:ext cx="3779215" cy="1207008"/>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7C3AED"/>
                </a:solidFill>
              </a:defRPr>
            </a:pPr>
            <a:r>
              <a:t>#2 [CARD] 1,819 Timetable Trains Telemetry</a:t>
            </a:r>
          </a:p>
          <a:p>
            <a:pPr>
              <a:defRPr sz="900">
                <a:solidFill>
                  <a:srgbClr val="475569"/>
                </a:solidFill>
              </a:defRPr>
            </a:pPr>
            <a:r>
              <a:t>Role: Confirms the scale of train movements audited and current collision-free st...</a:t>
            </a:r>
          </a:p>
          <a:p>
            <a:pPr>
              <a:defRPr sz="850" i="1">
                <a:solidFill>
                  <a:srgbClr val="065F46"/>
                </a:solidFill>
              </a:defRPr>
            </a:pPr>
            <a:r>
              <a:t>Viva: This banner confirms that our system has checked all 1,819 scheduled train movements ...</a:t>
            </a:r>
          </a:p>
        </p:txBody>
      </p:sp>
      <p:sp>
        <p:nvSpPr>
          <p:cNvPr id="9" name="Rectangle 8"/>
          <p:cNvSpPr/>
          <p:nvPr/>
        </p:nvSpPr>
        <p:spPr>
          <a:xfrm>
            <a:off x="7863840" y="3794760"/>
            <a:ext cx="3779215" cy="1207008"/>
          </a:xfrm>
          <a:prstGeom prst="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DC2626"/>
                </a:solidFill>
              </a:defRPr>
            </a:pPr>
            <a:r>
              <a:t>#3 [ALERT] Directional UP/DOWN Conflict Swi</a:t>
            </a:r>
          </a:p>
          <a:p>
            <a:pPr>
              <a:defRPr sz="900">
                <a:solidFill>
                  <a:srgbClr val="475569"/>
                </a:solidFill>
              </a:defRPr>
            </a:pPr>
            <a:r>
              <a:t>Role: Visualizes the physical separation between moving passenger trains and stat...</a:t>
            </a:r>
          </a:p>
          <a:p>
            <a:pPr>
              <a:defRPr sz="850" i="1">
                <a:solidFill>
                  <a:srgbClr val="065F46"/>
                </a:solidFill>
              </a:defRPr>
            </a:pPr>
            <a:r>
              <a:t>Viva: This string chart plots train trajectories against our maintenance blocks, making it ...</a:t>
            </a:r>
          </a:p>
        </p:txBody>
      </p:sp>
      <p:sp>
        <p:nvSpPr>
          <p:cNvPr id="10" name="Rectangle 9"/>
          <p:cNvSpPr/>
          <p:nvPr/>
        </p:nvSpPr>
        <p:spPr>
          <a:xfrm>
            <a:off x="7863840" y="5074920"/>
            <a:ext cx="3779215" cy="1207008"/>
          </a:xfrm>
          <a:prstGeom prst="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10B981"/>
                </a:solidFill>
              </a:defRPr>
            </a:pPr>
            <a:r>
              <a:t>#4 [ACTION] Statutory 10-Minute Headway Buff</a:t>
            </a:r>
          </a:p>
          <a:p>
            <a:pPr>
              <a:defRPr sz="900">
                <a:solidFill>
                  <a:srgbClr val="475569"/>
                </a:solidFill>
              </a:defRPr>
            </a:pPr>
            <a:r>
              <a:t>Role: Provides formal mathematical certification that all blocks comply with Indi...</a:t>
            </a:r>
          </a:p>
          <a:p>
            <a:pPr>
              <a:defRPr sz="850" i="1">
                <a:solidFill>
                  <a:srgbClr val="065F46"/>
                </a:solidFill>
              </a:defRPr>
            </a:pPr>
            <a:r>
              <a:t>Viva: This certificate verifies that our closest train-to-block margin is +14 minutes, exce...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D96F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8686800" cy="777240"/>
          </a:xfrm>
          <a:prstGeom prst="rect">
            <a:avLst/>
          </a:prstGeom>
          <a:noFill/>
        </p:spPr>
        <p:txBody>
          <a:bodyPr wrap="square">
            <a:spAutoFit/>
          </a:bodyPr>
          <a:lstStyle/>
          <a:p>
            <a:pPr>
              <a:defRPr sz="2000" b="1">
                <a:solidFill>
                  <a:srgbClr val="FFFFFF"/>
                </a:solidFill>
              </a:defRPr>
            </a:pPr>
            <a:r>
              <a:t>SECTION 09: 9. AI Risk &amp; Priority</a:t>
            </a:r>
          </a:p>
          <a:p>
            <a:pPr>
              <a:defRPr sz="1100">
                <a:solidFill>
                  <a:srgbClr val="D96F13"/>
                </a:solidFill>
              </a:defRPr>
            </a:pPr>
            <a:r>
              <a:t>XGBoost v2.4 Champion Model, Physics Weibull Curves &amp; SHAP Explainability</a:t>
            </a:r>
          </a:p>
        </p:txBody>
      </p:sp>
      <p:sp>
        <p:nvSpPr>
          <p:cNvPr id="5" name="Rectangle 4"/>
          <p:cNvSpPr/>
          <p:nvPr/>
        </p:nvSpPr>
        <p:spPr>
          <a:xfrm>
            <a:off x="9601200" y="228600"/>
            <a:ext cx="2103120" cy="50292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96F13"/>
                </a:solidFill>
              </a:defRPr>
            </a:pPr>
            <a:r>
              <a:t>TIER: INTELLIGENCE</a:t>
            </a:r>
          </a:p>
        </p:txBody>
      </p:sp>
      <p:pic>
        <p:nvPicPr>
          <p:cNvPr id="6" name="Picture 5" descr="09_ai_priority_annotated.png"/>
          <p:cNvPicPr>
            <a:picLocks noChangeAspect="1"/>
          </p:cNvPicPr>
          <p:nvPr/>
        </p:nvPicPr>
        <p:blipFill>
          <a:blip r:embed="rId2"/>
          <a:stretch>
            <a:fillRect/>
          </a:stretch>
        </p:blipFill>
        <p:spPr>
          <a:xfrm>
            <a:off x="548640" y="1234440"/>
            <a:ext cx="7132320" cy="4389120"/>
          </a:xfrm>
          <a:prstGeom prst="rect">
            <a:avLst/>
          </a:prstGeom>
        </p:spPr>
      </p:pic>
      <p:sp>
        <p:nvSpPr>
          <p:cNvPr id="7" name="Rectangle 6"/>
          <p:cNvSpPr/>
          <p:nvPr/>
        </p:nvSpPr>
        <p:spPr>
          <a:xfrm>
            <a:off x="7863840" y="1234440"/>
            <a:ext cx="3779215" cy="1207008"/>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7C3AED"/>
                </a:solidFill>
              </a:defRPr>
            </a:pPr>
            <a:r>
              <a:t>#1 [CARD] XGBoost Champion Model Telemetry</a:t>
            </a:r>
          </a:p>
          <a:p>
            <a:pPr>
              <a:defRPr sz="900">
                <a:solidFill>
                  <a:srgbClr val="475569"/>
                </a:solidFill>
              </a:defRPr>
            </a:pPr>
            <a:r>
              <a:t>Role: Displays current production machine learning model version and offline vali...</a:t>
            </a:r>
          </a:p>
          <a:p>
            <a:pPr>
              <a:defRPr sz="850" i="1">
                <a:solidFill>
                  <a:srgbClr val="065F46"/>
                </a:solidFill>
              </a:defRPr>
            </a:pPr>
            <a:r>
              <a:t>Viva: Our AI intelligence engine runs an XGBoost v2.4 Champion model, trained on 15,000 rea...</a:t>
            </a:r>
          </a:p>
        </p:txBody>
      </p:sp>
      <p:sp>
        <p:nvSpPr>
          <p:cNvPr id="8" name="Rectangle 7"/>
          <p:cNvSpPr/>
          <p:nvPr/>
        </p:nvSpPr>
        <p:spPr>
          <a:xfrm>
            <a:off x="7863840" y="2514600"/>
            <a:ext cx="3779215" cy="1207008"/>
          </a:xfrm>
          <a:prstGeom prst="rect">
            <a:avLst/>
          </a:prstGeom>
          <a:solidFill>
            <a:srgbClr val="FFFFFF"/>
          </a:solidFill>
          <a:ln w="19050">
            <a:solidFill>
              <a:srgbClr val="0891B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0891B2"/>
                </a:solidFill>
              </a:defRPr>
            </a:pPr>
            <a:r>
              <a:t>#2 [CHART] Physics-Informed Weibull Hazard </a:t>
            </a:r>
          </a:p>
          <a:p>
            <a:pPr>
              <a:defRPr sz="900">
                <a:solidFill>
                  <a:srgbClr val="475569"/>
                </a:solidFill>
              </a:defRPr>
            </a:pPr>
            <a:r>
              <a:t>Role: Predicts remaining useful life (RUL) and probability of breakdown before ne...</a:t>
            </a:r>
          </a:p>
          <a:p>
            <a:pPr>
              <a:defRPr sz="850" i="1">
                <a:solidFill>
                  <a:srgbClr val="065F46"/>
                </a:solidFill>
              </a:defRPr>
            </a:pPr>
            <a:r>
              <a:t>Viva: We combine machine learning with classical Weibull physics modeling to compute an ass...</a:t>
            </a:r>
          </a:p>
        </p:txBody>
      </p:sp>
      <p:sp>
        <p:nvSpPr>
          <p:cNvPr id="9" name="Rectangle 8"/>
          <p:cNvSpPr/>
          <p:nvPr/>
        </p:nvSpPr>
        <p:spPr>
          <a:xfrm>
            <a:off x="7863840" y="3794760"/>
            <a:ext cx="3779215" cy="1207008"/>
          </a:xfrm>
          <a:prstGeom prst="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DC2626"/>
                </a:solidFill>
              </a:defRPr>
            </a:pPr>
            <a:r>
              <a:t>#3 [ALERT] Deterministic Safety Override Po</a:t>
            </a:r>
          </a:p>
          <a:p>
            <a:pPr>
              <a:defRPr sz="900">
                <a:solidFill>
                  <a:srgbClr val="475569"/>
                </a:solidFill>
              </a:defRPr>
            </a:pPr>
            <a:r>
              <a:t>Role: Ensures deterministic safety: non-negotiable safety rules override statisti...</a:t>
            </a:r>
          </a:p>
          <a:p>
            <a:pPr>
              <a:defRPr sz="850" i="1">
                <a:solidFill>
                  <a:srgbClr val="065F46"/>
                </a:solidFill>
              </a:defRPr>
            </a:pPr>
            <a:r>
              <a:t>Viva: While AI optimizes efficiency, passenger safety is non-negotiable: our safety overrid...</a:t>
            </a:r>
          </a:p>
        </p:txBody>
      </p:sp>
      <p:sp>
        <p:nvSpPr>
          <p:cNvPr id="10" name="Rectangle 9"/>
          <p:cNvSpPr/>
          <p:nvPr/>
        </p:nvSpPr>
        <p:spPr>
          <a:xfrm>
            <a:off x="7863840" y="5074920"/>
            <a:ext cx="3779215" cy="1207008"/>
          </a:xfrm>
          <a:prstGeom prst="rect">
            <a:avLst/>
          </a:prstGeom>
          <a:solidFill>
            <a:srgbClr val="FFFFFF"/>
          </a:solidFill>
          <a:ln w="19050">
            <a:solidFill>
              <a:srgbClr val="0891B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0891B2"/>
                </a:solidFill>
              </a:defRPr>
            </a:pPr>
            <a:r>
              <a:t>#4 [CHART] Local SHAP Feature Attribution C</a:t>
            </a:r>
          </a:p>
          <a:p>
            <a:pPr>
              <a:defRPr sz="900">
                <a:solidFill>
                  <a:srgbClr val="475569"/>
                </a:solidFill>
              </a:defRPr>
            </a:pPr>
            <a:r>
              <a:t>Role: Provides complete explainability so controllers understand why an asset was...</a:t>
            </a:r>
          </a:p>
          <a:p>
            <a:pPr>
              <a:defRPr sz="850" i="1">
                <a:solidFill>
                  <a:srgbClr val="065F46"/>
                </a:solidFill>
              </a:defRPr>
            </a:pPr>
            <a:r>
              <a:t>Viva: This SHAP explainability chart removes the AI 'black box', clearly showing controller...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D96F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8686800" cy="777240"/>
          </a:xfrm>
          <a:prstGeom prst="rect">
            <a:avLst/>
          </a:prstGeom>
          <a:noFill/>
        </p:spPr>
        <p:txBody>
          <a:bodyPr wrap="square">
            <a:spAutoFit/>
          </a:bodyPr>
          <a:lstStyle/>
          <a:p>
            <a:pPr>
              <a:defRPr sz="2000" b="1">
                <a:solidFill>
                  <a:srgbClr val="FFFFFF"/>
                </a:solidFill>
              </a:defRPr>
            </a:pPr>
            <a:r>
              <a:t>SECTION 10: 10. Failure Intelligence</a:t>
            </a:r>
          </a:p>
          <a:p>
            <a:pPr>
              <a:defRPr sz="1100">
                <a:solidFill>
                  <a:srgbClr val="D96F13"/>
                </a:solidFill>
              </a:defRPr>
            </a:pPr>
            <a:r>
              <a:t>UIMS Asset Incident Logs, MTBF Analytics &amp; Root-Cause Failure Pareto</a:t>
            </a:r>
          </a:p>
        </p:txBody>
      </p:sp>
      <p:sp>
        <p:nvSpPr>
          <p:cNvPr id="5" name="Rectangle 4"/>
          <p:cNvSpPr/>
          <p:nvPr/>
        </p:nvSpPr>
        <p:spPr>
          <a:xfrm>
            <a:off x="9601200" y="228600"/>
            <a:ext cx="2103120" cy="50292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96F13"/>
                </a:solidFill>
              </a:defRPr>
            </a:pPr>
            <a:r>
              <a:t>TIER: INTELLIGENCE</a:t>
            </a:r>
          </a:p>
        </p:txBody>
      </p:sp>
      <p:pic>
        <p:nvPicPr>
          <p:cNvPr id="6" name="Picture 5" descr="10_failure_intelligence_annotated.png"/>
          <p:cNvPicPr>
            <a:picLocks noChangeAspect="1"/>
          </p:cNvPicPr>
          <p:nvPr/>
        </p:nvPicPr>
        <p:blipFill>
          <a:blip r:embed="rId2"/>
          <a:stretch>
            <a:fillRect/>
          </a:stretch>
        </p:blipFill>
        <p:spPr>
          <a:xfrm>
            <a:off x="548640" y="1234440"/>
            <a:ext cx="7132320" cy="4389120"/>
          </a:xfrm>
          <a:prstGeom prst="rect">
            <a:avLst/>
          </a:prstGeom>
        </p:spPr>
      </p:pic>
      <p:sp>
        <p:nvSpPr>
          <p:cNvPr id="7" name="Rectangle 6"/>
          <p:cNvSpPr/>
          <p:nvPr/>
        </p:nvSpPr>
        <p:spPr>
          <a:xfrm>
            <a:off x="7863840" y="1234440"/>
            <a:ext cx="3779215" cy="1207008"/>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7C3AED"/>
                </a:solidFill>
              </a:defRPr>
            </a:pPr>
            <a:r>
              <a:t>#1 [CARD] UIMS Incident Telemetry Header</a:t>
            </a:r>
          </a:p>
          <a:p>
            <a:pPr>
              <a:defRPr sz="900">
                <a:solidFill>
                  <a:srgbClr val="475569"/>
                </a:solidFill>
              </a:defRPr>
            </a:pPr>
            <a:r>
              <a:t>Role: Displays high-level reliability indicators across all divisional assets....</a:t>
            </a:r>
          </a:p>
          <a:p>
            <a:pPr>
              <a:defRPr sz="850" i="1">
                <a:solidFill>
                  <a:srgbClr val="065F46"/>
                </a:solidFill>
              </a:defRPr>
            </a:pPr>
            <a:r>
              <a:t>Viva: This header tracks our core reliability metrics: our current Mean Time Between Failur...</a:t>
            </a:r>
          </a:p>
        </p:txBody>
      </p:sp>
      <p:sp>
        <p:nvSpPr>
          <p:cNvPr id="8" name="Rectangle 7"/>
          <p:cNvSpPr/>
          <p:nvPr/>
        </p:nvSpPr>
        <p:spPr>
          <a:xfrm>
            <a:off x="7863840" y="2514600"/>
            <a:ext cx="3779215" cy="1207008"/>
          </a:xfrm>
          <a:prstGeom prst="rect">
            <a:avLst/>
          </a:prstGeom>
          <a:solidFill>
            <a:srgbClr val="FFFFFF"/>
          </a:solidFill>
          <a:ln w="19050">
            <a:solidFill>
              <a:srgbClr val="D96F1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D96F13"/>
                </a:solidFill>
              </a:defRPr>
            </a:pPr>
            <a:r>
              <a:t>#2 [FORM] Chronological Incident Timeline </a:t>
            </a:r>
          </a:p>
          <a:p>
            <a:pPr>
              <a:defRPr sz="900">
                <a:solidFill>
                  <a:srgbClr val="475569"/>
                </a:solidFill>
              </a:defRPr>
            </a:pPr>
            <a:r>
              <a:t>Role: Enables granular filtering of historical failure logs by time, location, an...</a:t>
            </a:r>
          </a:p>
          <a:p>
            <a:pPr>
              <a:defRPr sz="850" i="1">
                <a:solidFill>
                  <a:srgbClr val="065F46"/>
                </a:solidFill>
              </a:defRPr>
            </a:pPr>
            <a:r>
              <a:t>Viva: With this toolbar, engineers can isolate failures by department and season, filtering...</a:t>
            </a:r>
          </a:p>
        </p:txBody>
      </p:sp>
      <p:sp>
        <p:nvSpPr>
          <p:cNvPr id="9" name="Rectangle 8"/>
          <p:cNvSpPr/>
          <p:nvPr/>
        </p:nvSpPr>
        <p:spPr>
          <a:xfrm>
            <a:off x="7863840" y="3794760"/>
            <a:ext cx="3779215" cy="1207008"/>
          </a:xfrm>
          <a:prstGeom prst="rect">
            <a:avLst/>
          </a:prstGeom>
          <a:solidFill>
            <a:srgbClr val="FFFFFF"/>
          </a:solidFill>
          <a:ln w="19050">
            <a:solidFill>
              <a:srgbClr val="0891B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0891B2"/>
                </a:solidFill>
              </a:defRPr>
            </a:pPr>
            <a:r>
              <a:t>#3 [CHART] Root-Cause Failure Pareto Chart</a:t>
            </a:r>
          </a:p>
          <a:p>
            <a:pPr>
              <a:defRPr sz="900">
                <a:solidFill>
                  <a:srgbClr val="475569"/>
                </a:solidFill>
              </a:defRPr>
            </a:pPr>
            <a:r>
              <a:t>Role: Identifies the vital few root causes responsible for the majority of asset ...</a:t>
            </a:r>
          </a:p>
          <a:p>
            <a:pPr>
              <a:defRPr sz="850" i="1">
                <a:solidFill>
                  <a:srgbClr val="065F46"/>
                </a:solidFill>
              </a:defRPr>
            </a:pPr>
            <a:r>
              <a:t>Viva: Our Pareto chart proves the 80/20 rule: just 3 defect modes—weld fractures, insulator...</a:t>
            </a:r>
          </a:p>
        </p:txBody>
      </p:sp>
      <p:sp>
        <p:nvSpPr>
          <p:cNvPr id="10" name="Rectangle 9"/>
          <p:cNvSpPr/>
          <p:nvPr/>
        </p:nvSpPr>
        <p:spPr>
          <a:xfrm>
            <a:off x="7863840" y="5074920"/>
            <a:ext cx="3779215" cy="1207008"/>
          </a:xfrm>
          <a:prstGeom prst="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10B981"/>
                </a:solidFill>
              </a:defRPr>
            </a:pPr>
            <a:r>
              <a:t>#4 [ACTION] Preventative Remediation Action </a:t>
            </a:r>
          </a:p>
          <a:p>
            <a:pPr>
              <a:defRPr sz="900">
                <a:solidFill>
                  <a:srgbClr val="475569"/>
                </a:solidFill>
              </a:defRPr>
            </a:pPr>
            <a:r>
              <a:t>Role: Converts historical intelligence into immediate preventative maintenance ac...</a:t>
            </a:r>
          </a:p>
          <a:p>
            <a:pPr>
              <a:defRPr sz="850" i="1">
                <a:solidFill>
                  <a:srgbClr val="065F46"/>
                </a:solidFill>
              </a:defRPr>
            </a:pPr>
            <a:r>
              <a:t>Viva: This table takes immediate action: it flags assets nearing their MTBF limit and allow...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D96F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8686800" cy="777240"/>
          </a:xfrm>
          <a:prstGeom prst="rect">
            <a:avLst/>
          </a:prstGeom>
          <a:noFill/>
        </p:spPr>
        <p:txBody>
          <a:bodyPr wrap="square">
            <a:spAutoFit/>
          </a:bodyPr>
          <a:lstStyle/>
          <a:p>
            <a:pPr>
              <a:defRPr sz="2000" b="1">
                <a:solidFill>
                  <a:srgbClr val="FFFFFF"/>
                </a:solidFill>
              </a:defRPr>
            </a:pPr>
            <a:r>
              <a:t>SECTION 11: 11. Asset Health</a:t>
            </a:r>
          </a:p>
          <a:p>
            <a:pPr>
              <a:defRPr sz="1100">
                <a:solidFill>
                  <a:srgbClr val="D96F13"/>
                </a:solidFill>
              </a:defRPr>
            </a:pPr>
            <a:r>
              <a:t>12,000 Canonical Assets Monitor, USFD Rail Flaw Telemetry &amp; Degradation Rates</a:t>
            </a:r>
          </a:p>
        </p:txBody>
      </p:sp>
      <p:sp>
        <p:nvSpPr>
          <p:cNvPr id="5" name="Rectangle 4"/>
          <p:cNvSpPr/>
          <p:nvPr/>
        </p:nvSpPr>
        <p:spPr>
          <a:xfrm>
            <a:off x="9601200" y="228600"/>
            <a:ext cx="2103120" cy="50292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96F13"/>
                </a:solidFill>
              </a:defRPr>
            </a:pPr>
            <a:r>
              <a:t>TIER: INTELLIGENCE</a:t>
            </a:r>
          </a:p>
        </p:txBody>
      </p:sp>
      <p:pic>
        <p:nvPicPr>
          <p:cNvPr id="6" name="Picture 5" descr="11_asset_health_annotated.png"/>
          <p:cNvPicPr>
            <a:picLocks noChangeAspect="1"/>
          </p:cNvPicPr>
          <p:nvPr/>
        </p:nvPicPr>
        <p:blipFill>
          <a:blip r:embed="rId2"/>
          <a:stretch>
            <a:fillRect/>
          </a:stretch>
        </p:blipFill>
        <p:spPr>
          <a:xfrm>
            <a:off x="548640" y="1234440"/>
            <a:ext cx="7132320" cy="4389120"/>
          </a:xfrm>
          <a:prstGeom prst="rect">
            <a:avLst/>
          </a:prstGeom>
        </p:spPr>
      </p:pic>
      <p:sp>
        <p:nvSpPr>
          <p:cNvPr id="7" name="Rectangle 6"/>
          <p:cNvSpPr/>
          <p:nvPr/>
        </p:nvSpPr>
        <p:spPr>
          <a:xfrm>
            <a:off x="7863840" y="1234440"/>
            <a:ext cx="3779215" cy="1207008"/>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7C3AED"/>
                </a:solidFill>
              </a:defRPr>
            </a:pPr>
            <a:r>
              <a:t>#1 [CARD] 12,000 Canonical Assets Monitor </a:t>
            </a:r>
          </a:p>
          <a:p>
            <a:pPr>
              <a:defRPr sz="900">
                <a:solidFill>
                  <a:srgbClr val="475569"/>
                </a:solidFill>
              </a:defRPr>
            </a:pPr>
            <a:r>
              <a:t>Role: Provides macro-level situational awareness of total physical infrastructure...</a:t>
            </a:r>
          </a:p>
          <a:p>
            <a:pPr>
              <a:defRPr sz="850" i="1">
                <a:solidFill>
                  <a:srgbClr val="065F46"/>
                </a:solidFill>
              </a:defRPr>
            </a:pPr>
            <a:r>
              <a:t>Viva: This header tracks our entire physical asset fleet—12,000 canonical assets across Del...</a:t>
            </a:r>
          </a:p>
        </p:txBody>
      </p:sp>
      <p:sp>
        <p:nvSpPr>
          <p:cNvPr id="8" name="Rectangle 7"/>
          <p:cNvSpPr/>
          <p:nvPr/>
        </p:nvSpPr>
        <p:spPr>
          <a:xfrm>
            <a:off x="7863840" y="2514600"/>
            <a:ext cx="3779215" cy="1207008"/>
          </a:xfrm>
          <a:prstGeom prst="rect">
            <a:avLst/>
          </a:prstGeom>
          <a:solidFill>
            <a:srgbClr val="FFFFFF"/>
          </a:solidFill>
          <a:ln w="19050">
            <a:solidFill>
              <a:srgbClr val="D96F1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D96F13"/>
                </a:solidFill>
              </a:defRPr>
            </a:pPr>
            <a:r>
              <a:t>#2 [FORM] Departmental Asset Health Distri</a:t>
            </a:r>
          </a:p>
          <a:p>
            <a:pPr>
              <a:defRPr sz="900">
                <a:solidFill>
                  <a:srgbClr val="475569"/>
                </a:solidFill>
              </a:defRPr>
            </a:pPr>
            <a:r>
              <a:t>Role: Compares physical asset health across the three primary engineering discipl...</a:t>
            </a:r>
          </a:p>
          <a:p>
            <a:pPr>
              <a:defRPr sz="850" i="1">
                <a:solidFill>
                  <a:srgbClr val="065F46"/>
                </a:solidFill>
              </a:defRPr>
            </a:pPr>
            <a:r>
              <a:t>Viva: Here we compare health across engineering branches: track stands at 98.1%, electrical...</a:t>
            </a:r>
          </a:p>
        </p:txBody>
      </p:sp>
      <p:sp>
        <p:nvSpPr>
          <p:cNvPr id="9" name="Rectangle 8"/>
          <p:cNvSpPr/>
          <p:nvPr/>
        </p:nvSpPr>
        <p:spPr>
          <a:xfrm>
            <a:off x="7863840" y="3794760"/>
            <a:ext cx="3779215" cy="1207008"/>
          </a:xfrm>
          <a:prstGeom prst="rect">
            <a:avLst/>
          </a:prstGeom>
          <a:solidFill>
            <a:srgbClr val="FFFFFF"/>
          </a:solidFill>
          <a:ln w="19050">
            <a:solidFill>
              <a:srgbClr val="0891B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0891B2"/>
                </a:solidFill>
              </a:defRPr>
            </a:pPr>
            <a:r>
              <a:t>#3 [CHART] USFD Rail Flaw Telemetry &amp; Wear </a:t>
            </a:r>
          </a:p>
          <a:p>
            <a:pPr>
              <a:defRPr sz="900">
                <a:solidFill>
                  <a:srgbClr val="475569"/>
                </a:solidFill>
              </a:defRPr>
            </a:pPr>
            <a:r>
              <a:t>Role: Displays precision non-destructive testing (NDT) data for safety-critical t...</a:t>
            </a:r>
          </a:p>
          <a:p>
            <a:pPr>
              <a:defRPr sz="850" i="1">
                <a:solidFill>
                  <a:srgbClr val="065F46"/>
                </a:solidFill>
              </a:defRPr>
            </a:pPr>
            <a:r>
              <a:t>Viva: This USFD telemetry card displays precision ultrasonic flaw scans: here a 2.4 mm rail...</a:t>
            </a:r>
          </a:p>
        </p:txBody>
      </p:sp>
      <p:sp>
        <p:nvSpPr>
          <p:cNvPr id="10" name="Rectangle 9"/>
          <p:cNvSpPr/>
          <p:nvPr/>
        </p:nvSpPr>
        <p:spPr>
          <a:xfrm>
            <a:off x="7863840" y="5074920"/>
            <a:ext cx="3779215" cy="1207008"/>
          </a:xfrm>
          <a:prstGeom prst="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10B981"/>
                </a:solidFill>
              </a:defRPr>
            </a:pPr>
            <a:r>
              <a:t>#4 [ACTION] Machinery &amp; Crew Requirement Spe</a:t>
            </a:r>
          </a:p>
          <a:p>
            <a:pPr>
              <a:defRPr sz="900">
                <a:solidFill>
                  <a:srgbClr val="475569"/>
                </a:solidFill>
              </a:defRPr>
            </a:pPr>
            <a:r>
              <a:t>Role: Ensures that every maintenance block requisition has pre-verified machinery...</a:t>
            </a:r>
          </a:p>
          <a:p>
            <a:pPr>
              <a:defRPr sz="850" i="1">
                <a:solidFill>
                  <a:srgbClr val="065F46"/>
                </a:solidFill>
              </a:defRPr>
            </a:pPr>
            <a:r>
              <a:t>Viva: Our system doesn't just allocate time—it verifies logistics. Here it confirms machine...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D96F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8686800" cy="777240"/>
          </a:xfrm>
          <a:prstGeom prst="rect">
            <a:avLst/>
          </a:prstGeom>
          <a:noFill/>
        </p:spPr>
        <p:txBody>
          <a:bodyPr wrap="square">
            <a:spAutoFit/>
          </a:bodyPr>
          <a:lstStyle/>
          <a:p>
            <a:pPr>
              <a:defRPr sz="2000" b="1">
                <a:solidFill>
                  <a:srgbClr val="FFFFFF"/>
                </a:solidFill>
              </a:defRPr>
            </a:pPr>
            <a:r>
              <a:t>SECTION 12: 12. What-If Simulator</a:t>
            </a:r>
          </a:p>
          <a:p>
            <a:pPr>
              <a:defRPr sz="1100">
                <a:solidFill>
                  <a:srgbClr val="D96F13"/>
                </a:solidFill>
              </a:defRPr>
            </a:pPr>
            <a:r>
              <a:t>Dynamic Contingency Replanning, Disruption Injection &amp; Ripple Delay Sandbox</a:t>
            </a:r>
          </a:p>
        </p:txBody>
      </p:sp>
      <p:sp>
        <p:nvSpPr>
          <p:cNvPr id="5" name="Rectangle 4"/>
          <p:cNvSpPr/>
          <p:nvPr/>
        </p:nvSpPr>
        <p:spPr>
          <a:xfrm>
            <a:off x="9601200" y="228600"/>
            <a:ext cx="2103120" cy="50292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96F13"/>
                </a:solidFill>
              </a:defRPr>
            </a:pPr>
            <a:r>
              <a:t>TIER: INTELLIGENCE</a:t>
            </a:r>
          </a:p>
        </p:txBody>
      </p:sp>
      <p:pic>
        <p:nvPicPr>
          <p:cNvPr id="6" name="Picture 5" descr="12_what_if_annotated.png"/>
          <p:cNvPicPr>
            <a:picLocks noChangeAspect="1"/>
          </p:cNvPicPr>
          <p:nvPr/>
        </p:nvPicPr>
        <p:blipFill>
          <a:blip r:embed="rId2"/>
          <a:stretch>
            <a:fillRect/>
          </a:stretch>
        </p:blipFill>
        <p:spPr>
          <a:xfrm>
            <a:off x="548640" y="1234440"/>
            <a:ext cx="7132320" cy="4389120"/>
          </a:xfrm>
          <a:prstGeom prst="rect">
            <a:avLst/>
          </a:prstGeom>
        </p:spPr>
      </p:pic>
      <p:sp>
        <p:nvSpPr>
          <p:cNvPr id="7" name="Rectangle 6"/>
          <p:cNvSpPr/>
          <p:nvPr/>
        </p:nvSpPr>
        <p:spPr>
          <a:xfrm>
            <a:off x="7863840" y="1234440"/>
            <a:ext cx="3779215" cy="950976"/>
          </a:xfrm>
          <a:prstGeom prst="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2563EB"/>
                </a:solidFill>
              </a:defRPr>
            </a:pPr>
            <a:r>
              <a:t>#1 [NAV] Simulation Sandbox Banner &amp; Rese</a:t>
            </a:r>
          </a:p>
          <a:p>
            <a:pPr>
              <a:defRPr sz="900">
                <a:solidFill>
                  <a:srgbClr val="475569"/>
                </a:solidFill>
              </a:defRPr>
            </a:pPr>
            <a:r>
              <a:t>Role: Guarantees that exploratory testing never corrupts live operational schedul...</a:t>
            </a:r>
          </a:p>
          <a:p>
            <a:pPr>
              <a:defRPr sz="850" i="1">
                <a:solidFill>
                  <a:srgbClr val="065F46"/>
                </a:solidFill>
              </a:defRPr>
            </a:pPr>
            <a:r>
              <a:t>Viva: Our What-If simulator provides a risk-free sandbox where controllers can simulate eme...</a:t>
            </a:r>
          </a:p>
        </p:txBody>
      </p:sp>
      <p:sp>
        <p:nvSpPr>
          <p:cNvPr id="8" name="Rectangle 7"/>
          <p:cNvSpPr/>
          <p:nvPr/>
        </p:nvSpPr>
        <p:spPr>
          <a:xfrm>
            <a:off x="7863840" y="2258568"/>
            <a:ext cx="3779215" cy="950976"/>
          </a:xfrm>
          <a:prstGeom prst="rect">
            <a:avLst/>
          </a:prstGeom>
          <a:solidFill>
            <a:srgbClr val="FFFFFF"/>
          </a:solidFill>
          <a:ln w="19050">
            <a:solidFill>
              <a:srgbClr val="D96F1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D96F13"/>
                </a:solidFill>
              </a:defRPr>
            </a:pPr>
            <a:r>
              <a:t>#2 [FORM] Target Block Selector &amp; Temporal</a:t>
            </a:r>
          </a:p>
          <a:p>
            <a:pPr>
              <a:defRPr sz="900">
                <a:solidFill>
                  <a:srgbClr val="475569"/>
                </a:solidFill>
              </a:defRPr>
            </a:pPr>
            <a:r>
              <a:t>Role: Simulates real-world operational delays such as machine breakdowns or train...</a:t>
            </a:r>
          </a:p>
          <a:p>
            <a:pPr>
              <a:defRPr sz="850" i="1">
                <a:solidFill>
                  <a:srgbClr val="065F46"/>
                </a:solidFill>
              </a:defRPr>
            </a:pPr>
            <a:r>
              <a:t>Viva: With these controls, a dispatcher can ask: 'What happens if our track tamping machine...</a:t>
            </a:r>
          </a:p>
        </p:txBody>
      </p:sp>
      <p:sp>
        <p:nvSpPr>
          <p:cNvPr id="9" name="Rectangle 8"/>
          <p:cNvSpPr/>
          <p:nvPr/>
        </p:nvSpPr>
        <p:spPr>
          <a:xfrm>
            <a:off x="7863840" y="3282696"/>
            <a:ext cx="3779215" cy="950976"/>
          </a:xfrm>
          <a:prstGeom prst="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DC2626"/>
                </a:solidFill>
              </a:defRPr>
            </a:pPr>
            <a:r>
              <a:t>#3 [ALERT] Collision Radar &amp; Infeasible Con</a:t>
            </a:r>
          </a:p>
          <a:p>
            <a:pPr>
              <a:defRPr sz="900">
                <a:solidFill>
                  <a:srgbClr val="475569"/>
                </a:solidFill>
              </a:defRPr>
            </a:pPr>
            <a:r>
              <a:t>Role: Alerts the controller that the simulated shift infringes upon a passenger t...</a:t>
            </a:r>
          </a:p>
          <a:p>
            <a:pPr>
              <a:defRPr sz="850" i="1">
                <a:solidFill>
                  <a:srgbClr val="065F46"/>
                </a:solidFill>
              </a:defRPr>
            </a:pPr>
            <a:r>
              <a:t>Viva: Here our collision radar catches the hazard immediately: shifting the block by 120 mi...</a:t>
            </a:r>
          </a:p>
        </p:txBody>
      </p:sp>
      <p:sp>
        <p:nvSpPr>
          <p:cNvPr id="10" name="Rectangle 9"/>
          <p:cNvSpPr/>
          <p:nvPr/>
        </p:nvSpPr>
        <p:spPr>
          <a:xfrm>
            <a:off x="7863840" y="4306824"/>
            <a:ext cx="3779215" cy="950976"/>
          </a:xfrm>
          <a:prstGeom prst="rect">
            <a:avLst/>
          </a:prstGeom>
          <a:solidFill>
            <a:srgbClr val="FFFFFF"/>
          </a:solidFill>
          <a:ln w="19050">
            <a:solidFill>
              <a:srgbClr val="0891B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0891B2"/>
                </a:solidFill>
              </a:defRPr>
            </a:pPr>
            <a:r>
              <a:t>#4 [CHART] Ripple Delay Propagation Analyti</a:t>
            </a:r>
          </a:p>
          <a:p>
            <a:pPr>
              <a:defRPr sz="900">
                <a:solidFill>
                  <a:srgbClr val="475569"/>
                </a:solidFill>
              </a:defRPr>
            </a:pPr>
            <a:r>
              <a:t>Role: Quantifies the total passenger delay impact across the entire division....</a:t>
            </a:r>
          </a:p>
          <a:p>
            <a:pPr>
              <a:defRPr sz="850" i="1">
                <a:solidFill>
                  <a:srgbClr val="065F46"/>
                </a:solidFill>
              </a:defRPr>
            </a:pPr>
            <a:r>
              <a:t>Viva: This delay propagation chart models how a primary 45-minute delay ripples across down...</a:t>
            </a:r>
          </a:p>
        </p:txBody>
      </p:sp>
      <p:sp>
        <p:nvSpPr>
          <p:cNvPr id="11" name="Rectangle 10"/>
          <p:cNvSpPr/>
          <p:nvPr/>
        </p:nvSpPr>
        <p:spPr>
          <a:xfrm>
            <a:off x="7863840" y="5330952"/>
            <a:ext cx="3779215" cy="950976"/>
          </a:xfrm>
          <a:prstGeom prst="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10B981"/>
                </a:solidFill>
              </a:defRPr>
            </a:pPr>
            <a:r>
              <a:t>#5 [ACTION] Alternative Feasible Schedule Re</a:t>
            </a:r>
          </a:p>
          <a:p>
            <a:pPr>
              <a:defRPr sz="900">
                <a:solidFill>
                  <a:srgbClr val="475569"/>
                </a:solidFill>
              </a:defRPr>
            </a:pPr>
            <a:r>
              <a:t>Role: Provides an immediate, viable alternative when the controller's initial shi...</a:t>
            </a:r>
          </a:p>
          <a:p>
            <a:pPr>
              <a:defRPr sz="850" i="1">
                <a:solidFill>
                  <a:srgbClr val="065F46"/>
                </a:solidFill>
              </a:defRPr>
            </a:pPr>
            <a:r>
              <a:t>Viva: When an initial shift fails, our engine immediately suggests a verified alternative: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D96F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8686800" cy="777240"/>
          </a:xfrm>
          <a:prstGeom prst="rect">
            <a:avLst/>
          </a:prstGeom>
          <a:noFill/>
        </p:spPr>
        <p:txBody>
          <a:bodyPr wrap="square">
            <a:spAutoFit/>
          </a:bodyPr>
          <a:lstStyle/>
          <a:p>
            <a:pPr>
              <a:defRPr sz="2000" b="1">
                <a:solidFill>
                  <a:srgbClr val="FFFFFF"/>
                </a:solidFill>
              </a:defRPr>
            </a:pPr>
            <a:r>
              <a:t>SECTION 13: 13. Data Ingestion</a:t>
            </a:r>
          </a:p>
          <a:p>
            <a:pPr>
              <a:defRPr sz="1100">
                <a:solidFill>
                  <a:srgbClr val="D96F13"/>
                </a:solidFill>
              </a:defRPr>
            </a:pPr>
            <a:r>
              <a:t>Enterprise Railway Feeds (COIS, ICMS, UIMS, TMS) &amp; Multi-Source Pipelines</a:t>
            </a:r>
          </a:p>
        </p:txBody>
      </p:sp>
      <p:sp>
        <p:nvSpPr>
          <p:cNvPr id="5" name="Rectangle 4"/>
          <p:cNvSpPr/>
          <p:nvPr/>
        </p:nvSpPr>
        <p:spPr>
          <a:xfrm>
            <a:off x="9601200" y="228600"/>
            <a:ext cx="2103120" cy="50292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96F13"/>
                </a:solidFill>
              </a:defRPr>
            </a:pPr>
            <a:r>
              <a:t>TIER: DATA</a:t>
            </a:r>
          </a:p>
        </p:txBody>
      </p:sp>
      <p:pic>
        <p:nvPicPr>
          <p:cNvPr id="6" name="Picture 5" descr="13_data_ingestion_annotated.png"/>
          <p:cNvPicPr>
            <a:picLocks noChangeAspect="1"/>
          </p:cNvPicPr>
          <p:nvPr/>
        </p:nvPicPr>
        <p:blipFill>
          <a:blip r:embed="rId2"/>
          <a:stretch>
            <a:fillRect/>
          </a:stretch>
        </p:blipFill>
        <p:spPr>
          <a:xfrm>
            <a:off x="548640" y="1234440"/>
            <a:ext cx="7132320" cy="4389120"/>
          </a:xfrm>
          <a:prstGeom prst="rect">
            <a:avLst/>
          </a:prstGeom>
        </p:spPr>
      </p:pic>
      <p:sp>
        <p:nvSpPr>
          <p:cNvPr id="7" name="Rectangle 6"/>
          <p:cNvSpPr/>
          <p:nvPr/>
        </p:nvSpPr>
        <p:spPr>
          <a:xfrm>
            <a:off x="7863840" y="1234440"/>
            <a:ext cx="3779215" cy="1207008"/>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7C3AED"/>
                </a:solidFill>
              </a:defRPr>
            </a:pPr>
            <a:r>
              <a:t>#1 [CARD] Enterprise Ingestion Feed Status</a:t>
            </a:r>
          </a:p>
          <a:p>
            <a:pPr>
              <a:defRPr sz="900">
                <a:solidFill>
                  <a:srgbClr val="475569"/>
                </a:solidFill>
              </a:defRPr>
            </a:pPr>
            <a:r>
              <a:t>Role: Provides real-time visibility into the health and sync latency of external ...</a:t>
            </a:r>
          </a:p>
          <a:p>
            <a:pPr>
              <a:defRPr sz="850" i="1">
                <a:solidFill>
                  <a:srgbClr val="065F46"/>
                </a:solidFill>
              </a:defRPr>
            </a:pPr>
            <a:r>
              <a:t>Viva: This ribbon monitors our 4 enterprise feeds—ICMS, COIS, UIMS, and TMS—ensuring that l...</a:t>
            </a:r>
          </a:p>
        </p:txBody>
      </p:sp>
      <p:sp>
        <p:nvSpPr>
          <p:cNvPr id="8" name="Rectangle 7"/>
          <p:cNvSpPr/>
          <p:nvPr/>
        </p:nvSpPr>
        <p:spPr>
          <a:xfrm>
            <a:off x="7863840" y="2514600"/>
            <a:ext cx="3779215" cy="1207008"/>
          </a:xfrm>
          <a:prstGeom prst="rect">
            <a:avLst/>
          </a:prstGeom>
          <a:solidFill>
            <a:srgbClr val="FFFFFF"/>
          </a:solidFill>
          <a:ln w="19050">
            <a:solidFill>
              <a:srgbClr val="D96F1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D96F13"/>
                </a:solidFill>
              </a:defRPr>
            </a:pPr>
            <a:r>
              <a:t>#2 [FORM] Manual File Upload &amp; Batch ETL T</a:t>
            </a:r>
          </a:p>
          <a:p>
            <a:pPr>
              <a:defRPr sz="900">
                <a:solidFill>
                  <a:srgbClr val="475569"/>
                </a:solidFill>
              </a:defRPr>
            </a:pPr>
            <a:r>
              <a:t>Role: Enables offline updates of train schedules, track asset geometries, and mac...</a:t>
            </a:r>
          </a:p>
          <a:p>
            <a:pPr>
              <a:defRPr sz="850" i="1">
                <a:solidFill>
                  <a:srgbClr val="065F46"/>
                </a:solidFill>
              </a:defRPr>
            </a:pPr>
            <a:r>
              <a:t>Viva: This upload dropzone allows administrators to import new seasonal timetables or track...</a:t>
            </a:r>
          </a:p>
        </p:txBody>
      </p:sp>
      <p:sp>
        <p:nvSpPr>
          <p:cNvPr id="9" name="Rectangle 8"/>
          <p:cNvSpPr/>
          <p:nvPr/>
        </p:nvSpPr>
        <p:spPr>
          <a:xfrm>
            <a:off x="7863840" y="3794760"/>
            <a:ext cx="3779215" cy="1207008"/>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7C3AED"/>
                </a:solidFill>
              </a:defRPr>
            </a:pPr>
            <a:r>
              <a:t>#3 [CARD] Immutable Ingestion Audit Histor</a:t>
            </a:r>
          </a:p>
          <a:p>
            <a:pPr>
              <a:defRPr sz="900">
                <a:solidFill>
                  <a:srgbClr val="475569"/>
                </a:solidFill>
              </a:defRPr>
            </a:pPr>
            <a:r>
              <a:t>Role: Maintains an auditable, tamper-evident log of all data updates across the a...</a:t>
            </a:r>
          </a:p>
          <a:p>
            <a:pPr>
              <a:defRPr sz="850" i="1">
                <a:solidFill>
                  <a:srgbClr val="065F46"/>
                </a:solidFill>
              </a:defRPr>
            </a:pPr>
            <a:r>
              <a:t>Viva: This audit table maintains an immutable log of every data ingestion batch with SHA-25...</a:t>
            </a:r>
          </a:p>
        </p:txBody>
      </p:sp>
      <p:sp>
        <p:nvSpPr>
          <p:cNvPr id="10" name="Rectangle 9"/>
          <p:cNvSpPr/>
          <p:nvPr/>
        </p:nvSpPr>
        <p:spPr>
          <a:xfrm>
            <a:off x="7863840" y="5074920"/>
            <a:ext cx="3779215" cy="1207008"/>
          </a:xfrm>
          <a:prstGeom prst="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DC2626"/>
                </a:solidFill>
              </a:defRPr>
            </a:pPr>
            <a:r>
              <a:t>#4 [ALERT] Validation Pipeline Telemetry &amp; </a:t>
            </a:r>
          </a:p>
          <a:p>
            <a:pPr>
              <a:defRPr sz="900">
                <a:solidFill>
                  <a:srgbClr val="475569"/>
                </a:solidFill>
              </a:defRPr>
            </a:pPr>
            <a:r>
              <a:t>Role: Confirms that incoming data meets strict relational and referential integri...</a:t>
            </a:r>
          </a:p>
          <a:p>
            <a:pPr>
              <a:defRPr sz="850" i="1">
                <a:solidFill>
                  <a:srgbClr val="065F46"/>
                </a:solidFill>
              </a:defRPr>
            </a:pPr>
            <a:r>
              <a:t>Viva: This telemetry card proves our ingestion pipeline is hardened: all 21 canonical datas...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D96F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8686800" cy="777240"/>
          </a:xfrm>
          <a:prstGeom prst="rect">
            <a:avLst/>
          </a:prstGeom>
          <a:noFill/>
        </p:spPr>
        <p:txBody>
          <a:bodyPr wrap="square">
            <a:spAutoFit/>
          </a:bodyPr>
          <a:lstStyle/>
          <a:p>
            <a:pPr>
              <a:defRPr sz="2000" b="1">
                <a:solidFill>
                  <a:srgbClr val="FFFFFF"/>
                </a:solidFill>
              </a:defRPr>
            </a:pPr>
            <a:r>
              <a:t>SECTION 14: 14. Data Quality</a:t>
            </a:r>
          </a:p>
          <a:p>
            <a:pPr>
              <a:defRPr sz="1100">
                <a:solidFill>
                  <a:srgbClr val="D96F13"/>
                </a:solidFill>
              </a:defRPr>
            </a:pPr>
            <a:r>
              <a:t>21 Canonical Datasets Audit, Zero-Null Referential Integrity &amp; Schema Gate</a:t>
            </a:r>
          </a:p>
        </p:txBody>
      </p:sp>
      <p:sp>
        <p:nvSpPr>
          <p:cNvPr id="5" name="Rectangle 4"/>
          <p:cNvSpPr/>
          <p:nvPr/>
        </p:nvSpPr>
        <p:spPr>
          <a:xfrm>
            <a:off x="9601200" y="228600"/>
            <a:ext cx="2103120" cy="50292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96F13"/>
                </a:solidFill>
              </a:defRPr>
            </a:pPr>
            <a:r>
              <a:t>TIER: DATA</a:t>
            </a:r>
          </a:p>
        </p:txBody>
      </p:sp>
      <p:pic>
        <p:nvPicPr>
          <p:cNvPr id="6" name="Picture 5" descr="14_data_quality_annotated.png"/>
          <p:cNvPicPr>
            <a:picLocks noChangeAspect="1"/>
          </p:cNvPicPr>
          <p:nvPr/>
        </p:nvPicPr>
        <p:blipFill>
          <a:blip r:embed="rId2"/>
          <a:stretch>
            <a:fillRect/>
          </a:stretch>
        </p:blipFill>
        <p:spPr>
          <a:xfrm>
            <a:off x="548640" y="1234440"/>
            <a:ext cx="7132320" cy="4389120"/>
          </a:xfrm>
          <a:prstGeom prst="rect">
            <a:avLst/>
          </a:prstGeom>
        </p:spPr>
      </p:pic>
      <p:sp>
        <p:nvSpPr>
          <p:cNvPr id="7" name="Rectangle 6"/>
          <p:cNvSpPr/>
          <p:nvPr/>
        </p:nvSpPr>
        <p:spPr>
          <a:xfrm>
            <a:off x="7863840" y="1234440"/>
            <a:ext cx="3779215" cy="1207008"/>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7C3AED"/>
                </a:solidFill>
              </a:defRPr>
            </a:pPr>
            <a:r>
              <a:t>#1 [CARD] 21 Canonical Datasets Audit Over</a:t>
            </a:r>
          </a:p>
          <a:p>
            <a:pPr>
              <a:defRPr sz="900">
                <a:solidFill>
                  <a:srgbClr val="475569"/>
                </a:solidFill>
              </a:defRPr>
            </a:pPr>
            <a:r>
              <a:t>Role: Summarizes complete data health and verifies that no corrupted datasets exi...</a:t>
            </a:r>
          </a:p>
          <a:p>
            <a:pPr>
              <a:defRPr sz="850" i="1">
                <a:solidFill>
                  <a:srgbClr val="065F46"/>
                </a:solidFill>
              </a:defRPr>
            </a:pPr>
            <a:r>
              <a:t>Viva: This overview confirms that all 21 canonical datasets powering our solver have been a...</a:t>
            </a:r>
          </a:p>
        </p:txBody>
      </p:sp>
      <p:sp>
        <p:nvSpPr>
          <p:cNvPr id="8" name="Rectangle 7"/>
          <p:cNvSpPr/>
          <p:nvPr/>
        </p:nvSpPr>
        <p:spPr>
          <a:xfrm>
            <a:off x="7863840" y="2514600"/>
            <a:ext cx="3779215" cy="1207008"/>
          </a:xfrm>
          <a:prstGeom prst="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DC2626"/>
                </a:solidFill>
              </a:defRPr>
            </a:pPr>
            <a:r>
              <a:t>#2 [ALERT] Data Integrity Verification Rule</a:t>
            </a:r>
          </a:p>
          <a:p>
            <a:pPr>
              <a:defRPr sz="900">
                <a:solidFill>
                  <a:srgbClr val="475569"/>
                </a:solidFill>
              </a:defRPr>
            </a:pPr>
            <a:r>
              <a:t>Role: Displays the exact mathematical and relational assertions enforced across t...</a:t>
            </a:r>
          </a:p>
          <a:p>
            <a:pPr>
              <a:defRPr sz="850" i="1">
                <a:solidFill>
                  <a:srgbClr val="065F46"/>
                </a:solidFill>
              </a:defRPr>
            </a:pPr>
            <a:r>
              <a:t>Viva: These 4 rule panels show our integrity checks: zero nulls in critical fields, strict ...</a:t>
            </a:r>
          </a:p>
        </p:txBody>
      </p:sp>
      <p:sp>
        <p:nvSpPr>
          <p:cNvPr id="9" name="Rectangle 8"/>
          <p:cNvSpPr/>
          <p:nvPr/>
        </p:nvSpPr>
        <p:spPr>
          <a:xfrm>
            <a:off x="7863840" y="3794760"/>
            <a:ext cx="3779215" cy="1207008"/>
          </a:xfrm>
          <a:prstGeom prst="rect">
            <a:avLst/>
          </a:prstGeom>
          <a:solidFill>
            <a:srgbClr val="FFFFFF"/>
          </a:solidFill>
          <a:ln w="19050">
            <a:solidFill>
              <a:srgbClr val="0891B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0891B2"/>
                </a:solidFill>
              </a:defRPr>
            </a:pPr>
            <a:r>
              <a:t>#3 [CHART] Dataset-by-Dataset Verification </a:t>
            </a:r>
          </a:p>
          <a:p>
            <a:pPr>
              <a:defRPr sz="900">
                <a:solidFill>
                  <a:srgbClr val="475569"/>
                </a:solidFill>
              </a:defRPr>
            </a:pPr>
            <a:r>
              <a:t>Role: Provides individual status, row counts, and last validation timestamps for ...</a:t>
            </a:r>
          </a:p>
          <a:p>
            <a:pPr>
              <a:defRPr sz="850" i="1">
                <a:solidFill>
                  <a:srgbClr val="065F46"/>
                </a:solidFill>
              </a:defRPr>
            </a:pPr>
            <a:r>
              <a:t>Viva: This matrix breaks down all 21 tables—including our 1,819 trains and 12,000 assets—co...</a:t>
            </a:r>
          </a:p>
        </p:txBody>
      </p:sp>
      <p:sp>
        <p:nvSpPr>
          <p:cNvPr id="10" name="Rectangle 9"/>
          <p:cNvSpPr/>
          <p:nvPr/>
        </p:nvSpPr>
        <p:spPr>
          <a:xfrm>
            <a:off x="7863840" y="5074920"/>
            <a:ext cx="3779215" cy="1207008"/>
          </a:xfrm>
          <a:prstGeom prst="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10B981"/>
                </a:solidFill>
              </a:defRPr>
            </a:pPr>
            <a:r>
              <a:t>#4 [ACTION] Trigger Re-Validation &amp; Anomaly </a:t>
            </a:r>
          </a:p>
          <a:p>
            <a:pPr>
              <a:defRPr sz="900">
                <a:solidFill>
                  <a:srgbClr val="475569"/>
                </a:solidFill>
              </a:defRPr>
            </a:pPr>
            <a:r>
              <a:t>Role: Allows users to execute an on-demand integrity audit across all 21 tables i...</a:t>
            </a:r>
          </a:p>
          <a:p>
            <a:pPr>
              <a:defRPr sz="850" i="1">
                <a:solidFill>
                  <a:srgbClr val="065F46"/>
                </a:solidFill>
              </a:defRPr>
            </a:pPr>
            <a:r>
              <a:t>Viva: Clicking this button runs our automated verification suite across all 21 tables in 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D96F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8686800" cy="777240"/>
          </a:xfrm>
          <a:prstGeom prst="rect">
            <a:avLst/>
          </a:prstGeom>
          <a:noFill/>
        </p:spPr>
        <p:txBody>
          <a:bodyPr wrap="square">
            <a:spAutoFit/>
          </a:bodyPr>
          <a:lstStyle/>
          <a:p>
            <a:pPr>
              <a:defRPr sz="2000" b="1">
                <a:solidFill>
                  <a:srgbClr val="FFFFFF"/>
                </a:solidFill>
              </a:defRPr>
            </a:pPr>
            <a:r>
              <a:t>SECTION 15: 15. Scenario Explorer</a:t>
            </a:r>
          </a:p>
          <a:p>
            <a:pPr>
              <a:defRPr sz="1100">
                <a:solidFill>
                  <a:srgbClr val="D96F13"/>
                </a:solidFill>
              </a:defRPr>
            </a:pPr>
            <a:r>
              <a:t>29 Operational Disruptions Benchmark Suite &amp; Robustness Coverage Matrix</a:t>
            </a:r>
          </a:p>
        </p:txBody>
      </p:sp>
      <p:sp>
        <p:nvSpPr>
          <p:cNvPr id="5" name="Rectangle 4"/>
          <p:cNvSpPr/>
          <p:nvPr/>
        </p:nvSpPr>
        <p:spPr>
          <a:xfrm>
            <a:off x="9601200" y="228600"/>
            <a:ext cx="2103120" cy="50292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96F13"/>
                </a:solidFill>
              </a:defRPr>
            </a:pPr>
            <a:r>
              <a:t>TIER: DATA</a:t>
            </a:r>
          </a:p>
        </p:txBody>
      </p:sp>
      <p:pic>
        <p:nvPicPr>
          <p:cNvPr id="6" name="Picture 5" descr="15_scenario_explorer_annotated.png"/>
          <p:cNvPicPr>
            <a:picLocks noChangeAspect="1"/>
          </p:cNvPicPr>
          <p:nvPr/>
        </p:nvPicPr>
        <p:blipFill>
          <a:blip r:embed="rId2"/>
          <a:stretch>
            <a:fillRect/>
          </a:stretch>
        </p:blipFill>
        <p:spPr>
          <a:xfrm>
            <a:off x="548640" y="1234440"/>
            <a:ext cx="7132320" cy="4389120"/>
          </a:xfrm>
          <a:prstGeom prst="rect">
            <a:avLst/>
          </a:prstGeom>
        </p:spPr>
      </p:pic>
      <p:sp>
        <p:nvSpPr>
          <p:cNvPr id="7" name="Rectangle 6"/>
          <p:cNvSpPr/>
          <p:nvPr/>
        </p:nvSpPr>
        <p:spPr>
          <a:xfrm>
            <a:off x="7863840" y="1234440"/>
            <a:ext cx="3779215" cy="950976"/>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7C3AED"/>
                </a:solidFill>
              </a:defRPr>
            </a:pPr>
            <a:r>
              <a:t>#1 [CARD] 29 Disruptions Benchmark Header</a:t>
            </a:r>
          </a:p>
          <a:p>
            <a:pPr>
              <a:defRPr sz="900">
                <a:solidFill>
                  <a:srgbClr val="475569"/>
                </a:solidFill>
              </a:defRPr>
            </a:pPr>
            <a:r>
              <a:t>Role: Confirms complete coverage of recognized Indian Railways disruption archety...</a:t>
            </a:r>
          </a:p>
          <a:p>
            <a:pPr>
              <a:defRPr sz="850" i="1">
                <a:solidFill>
                  <a:srgbClr val="065F46"/>
                </a:solidFill>
              </a:defRPr>
            </a:pPr>
            <a:r>
              <a:t>Viva: This header confirms that our system has been benchmarked against all 29 operational ...</a:t>
            </a:r>
          </a:p>
        </p:txBody>
      </p:sp>
      <p:sp>
        <p:nvSpPr>
          <p:cNvPr id="8" name="Rectangle 7"/>
          <p:cNvSpPr/>
          <p:nvPr/>
        </p:nvSpPr>
        <p:spPr>
          <a:xfrm>
            <a:off x="7863840" y="2258568"/>
            <a:ext cx="3779215" cy="950976"/>
          </a:xfrm>
          <a:prstGeom prst="rect">
            <a:avLst/>
          </a:prstGeom>
          <a:solidFill>
            <a:srgbClr val="FFFFFF"/>
          </a:solidFill>
          <a:ln w="19050">
            <a:solidFill>
              <a:srgbClr val="0891B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0891B2"/>
                </a:solidFill>
              </a:defRPr>
            </a:pPr>
            <a:r>
              <a:t>#2 [CHART] 8 Metric Tiles Coverage Ribbon</a:t>
            </a:r>
          </a:p>
          <a:p>
            <a:pPr>
              <a:defRPr sz="900">
                <a:solidFill>
                  <a:srgbClr val="475569"/>
                </a:solidFill>
              </a:defRPr>
            </a:pPr>
            <a:r>
              <a:t>Role: Displays quantitative recovery performance across multi-scenario stress tes...</a:t>
            </a:r>
          </a:p>
          <a:p>
            <a:pPr>
              <a:defRPr sz="850" i="1">
                <a:solidFill>
                  <a:srgbClr val="065F46"/>
                </a:solidFill>
              </a:defRPr>
            </a:pPr>
            <a:r>
              <a:t>Viva: These 8 metric tiles quantify our stress-test performance: 94.2% punctuality preserve...</a:t>
            </a:r>
          </a:p>
        </p:txBody>
      </p:sp>
      <p:sp>
        <p:nvSpPr>
          <p:cNvPr id="9" name="Rectangle 8"/>
          <p:cNvSpPr/>
          <p:nvPr/>
        </p:nvSpPr>
        <p:spPr>
          <a:xfrm>
            <a:off x="7863840" y="3282696"/>
            <a:ext cx="3779215" cy="950976"/>
          </a:xfrm>
          <a:prstGeom prst="rect">
            <a:avLst/>
          </a:prstGeom>
          <a:solidFill>
            <a:srgbClr val="FFFFFF"/>
          </a:solidFill>
          <a:ln w="19050">
            <a:solidFill>
              <a:srgbClr val="D96F1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D96F13"/>
                </a:solidFill>
              </a:defRPr>
            </a:pPr>
            <a:r>
              <a:t>#3 [FORM] Scenario Category Filter &amp; Searc</a:t>
            </a:r>
          </a:p>
          <a:p>
            <a:pPr>
              <a:defRPr sz="900">
                <a:solidFill>
                  <a:srgbClr val="475569"/>
                </a:solidFill>
              </a:defRPr>
            </a:pPr>
            <a:r>
              <a:t>Role: Enables rapid filtering of the 29 scenarios by operational category....</a:t>
            </a:r>
          </a:p>
          <a:p>
            <a:pPr>
              <a:defRPr sz="850" i="1">
                <a:solidFill>
                  <a:srgbClr val="065F46"/>
                </a:solidFill>
              </a:defRPr>
            </a:pPr>
            <a:r>
              <a:t>Viva: This filter bar categorizes our 29 scenarios into Weather, Mechanical, Signaling, and...</a:t>
            </a:r>
          </a:p>
        </p:txBody>
      </p:sp>
      <p:sp>
        <p:nvSpPr>
          <p:cNvPr id="10" name="Rectangle 9"/>
          <p:cNvSpPr/>
          <p:nvPr/>
        </p:nvSpPr>
        <p:spPr>
          <a:xfrm>
            <a:off x="7863840" y="4306824"/>
            <a:ext cx="3779215" cy="950976"/>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7C3AED"/>
                </a:solidFill>
              </a:defRPr>
            </a:pPr>
            <a:r>
              <a:t>#4 [CARD] 29 Scenarios Coverage &amp; Robustne</a:t>
            </a:r>
          </a:p>
          <a:p>
            <a:pPr>
              <a:defRPr sz="900">
                <a:solidFill>
                  <a:srgbClr val="475569"/>
                </a:solidFill>
              </a:defRPr>
            </a:pPr>
            <a:r>
              <a:t>Role: Presents the complete library of railway disruption test cases....</a:t>
            </a:r>
          </a:p>
          <a:p>
            <a:pPr>
              <a:defRPr sz="850" i="1">
                <a:solidFill>
                  <a:srgbClr val="065F46"/>
                </a:solidFill>
              </a:defRPr>
            </a:pPr>
            <a:r>
              <a:t>Viva: This matrix displays our full library of 29 scenarios, allowing controllers to click ...</a:t>
            </a:r>
          </a:p>
        </p:txBody>
      </p:sp>
      <p:sp>
        <p:nvSpPr>
          <p:cNvPr id="11" name="Rectangle 10"/>
          <p:cNvSpPr/>
          <p:nvPr/>
        </p:nvSpPr>
        <p:spPr>
          <a:xfrm>
            <a:off x="7863840" y="5330952"/>
            <a:ext cx="3779215" cy="950976"/>
          </a:xfrm>
          <a:prstGeom prst="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10B981"/>
                </a:solidFill>
              </a:defRPr>
            </a:pPr>
            <a:r>
              <a:t>#5 [ACTION] Scenario Detail &amp; Stress-Test Ex</a:t>
            </a:r>
          </a:p>
          <a:p>
            <a:pPr>
              <a:defRPr sz="900">
                <a:solidFill>
                  <a:srgbClr val="475569"/>
                </a:solidFill>
              </a:defRPr>
            </a:pPr>
            <a:r>
              <a:t>Role: Executes live simulation of the selected scenario and evaluates optimizer r...</a:t>
            </a:r>
          </a:p>
          <a:p>
            <a:pPr>
              <a:defRPr sz="850" i="1">
                <a:solidFill>
                  <a:srgbClr val="065F46"/>
                </a:solidFill>
              </a:defRPr>
            </a:pPr>
            <a:r>
              <a:t>Viva: Clicking simulate executes the stress-test in memory, proving that our optimizer reco...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D96F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8686800" cy="777240"/>
          </a:xfrm>
          <a:prstGeom prst="rect">
            <a:avLst/>
          </a:prstGeom>
          <a:noFill/>
        </p:spPr>
        <p:txBody>
          <a:bodyPr wrap="square">
            <a:spAutoFit/>
          </a:bodyPr>
          <a:lstStyle/>
          <a:p>
            <a:pPr>
              <a:defRPr sz="2000" b="1">
                <a:solidFill>
                  <a:srgbClr val="FFFFFF"/>
                </a:solidFill>
              </a:defRPr>
            </a:pPr>
            <a:r>
              <a:t>SECTION 16: 16. Model / Data Versions</a:t>
            </a:r>
          </a:p>
          <a:p>
            <a:pPr>
              <a:defRPr sz="1100">
                <a:solidFill>
                  <a:srgbClr val="D96F13"/>
                </a:solidFill>
              </a:defRPr>
            </a:pPr>
            <a:r>
              <a:t>Model Registry, Hyperparameter Lineage &amp; 6 Candidate Benchmark Leaderboard</a:t>
            </a:r>
          </a:p>
        </p:txBody>
      </p:sp>
      <p:sp>
        <p:nvSpPr>
          <p:cNvPr id="5" name="Rectangle 4"/>
          <p:cNvSpPr/>
          <p:nvPr/>
        </p:nvSpPr>
        <p:spPr>
          <a:xfrm>
            <a:off x="9601200" y="228600"/>
            <a:ext cx="2103120" cy="50292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96F13"/>
                </a:solidFill>
              </a:defRPr>
            </a:pPr>
            <a:r>
              <a:t>TIER: DATA</a:t>
            </a:r>
          </a:p>
        </p:txBody>
      </p:sp>
      <p:pic>
        <p:nvPicPr>
          <p:cNvPr id="6" name="Picture 5" descr="16_model_versions_annotated.png"/>
          <p:cNvPicPr>
            <a:picLocks noChangeAspect="1"/>
          </p:cNvPicPr>
          <p:nvPr/>
        </p:nvPicPr>
        <p:blipFill>
          <a:blip r:embed="rId2"/>
          <a:stretch>
            <a:fillRect/>
          </a:stretch>
        </p:blipFill>
        <p:spPr>
          <a:xfrm>
            <a:off x="548640" y="1234440"/>
            <a:ext cx="7132320" cy="4389120"/>
          </a:xfrm>
          <a:prstGeom prst="rect">
            <a:avLst/>
          </a:prstGeom>
        </p:spPr>
      </p:pic>
      <p:sp>
        <p:nvSpPr>
          <p:cNvPr id="7" name="Rectangle 6"/>
          <p:cNvSpPr/>
          <p:nvPr/>
        </p:nvSpPr>
        <p:spPr>
          <a:xfrm>
            <a:off x="7863840" y="1234440"/>
            <a:ext cx="3779215" cy="950976"/>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7C3AED"/>
                </a:solidFill>
              </a:defRPr>
            </a:pPr>
            <a:r>
              <a:t>#1 [CARD] Model Governance &amp; Registry Bann</a:t>
            </a:r>
          </a:p>
          <a:p>
            <a:pPr>
              <a:defRPr sz="900">
                <a:solidFill>
                  <a:srgbClr val="475569"/>
                </a:solidFill>
              </a:defRPr>
            </a:pPr>
            <a:r>
              <a:t>Role: Identifies the currently deployed machine learning model serving live infer...</a:t>
            </a:r>
          </a:p>
          <a:p>
            <a:pPr>
              <a:defRPr sz="850" i="1">
                <a:solidFill>
                  <a:srgbClr val="065F46"/>
                </a:solidFill>
              </a:defRPr>
            </a:pPr>
            <a:r>
              <a:t>Viva: This banner displays our active production model—XGBoost v2.4 Champion—with its uniqu...</a:t>
            </a:r>
          </a:p>
        </p:txBody>
      </p:sp>
      <p:sp>
        <p:nvSpPr>
          <p:cNvPr id="8" name="Rectangle 7"/>
          <p:cNvSpPr/>
          <p:nvPr/>
        </p:nvSpPr>
        <p:spPr>
          <a:xfrm>
            <a:off x="7863840" y="2258568"/>
            <a:ext cx="3779215" cy="950976"/>
          </a:xfrm>
          <a:prstGeom prst="rect">
            <a:avLst/>
          </a:prstGeom>
          <a:solidFill>
            <a:srgbClr val="FFFFFF"/>
          </a:solidFill>
          <a:ln w="19050">
            <a:solidFill>
              <a:srgbClr val="0891B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0891B2"/>
                </a:solidFill>
              </a:defRPr>
            </a:pPr>
            <a:r>
              <a:t>#2 [CHART] 6 Candidate Benchmark Leaderboar</a:t>
            </a:r>
          </a:p>
          <a:p>
            <a:pPr>
              <a:defRPr sz="900">
                <a:solidFill>
                  <a:srgbClr val="475569"/>
                </a:solidFill>
              </a:defRPr>
            </a:pPr>
            <a:r>
              <a:t>Role: Compares candidate model performance on identical holdout validation datase...</a:t>
            </a:r>
          </a:p>
          <a:p>
            <a:pPr>
              <a:defRPr sz="850" i="1">
                <a:solidFill>
                  <a:srgbClr val="065F46"/>
                </a:solidFill>
              </a:defRPr>
            </a:pPr>
            <a:r>
              <a:t>Viva: Our leaderboard benchmarks 6 candidate algorithms: XGBoost wins with a PR-AUC of 0.31...</a:t>
            </a:r>
          </a:p>
        </p:txBody>
      </p:sp>
      <p:sp>
        <p:nvSpPr>
          <p:cNvPr id="9" name="Rectangle 8"/>
          <p:cNvSpPr/>
          <p:nvPr/>
        </p:nvSpPr>
        <p:spPr>
          <a:xfrm>
            <a:off x="7863840" y="3282696"/>
            <a:ext cx="3779215" cy="950976"/>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7C3AED"/>
                </a:solidFill>
              </a:defRPr>
            </a:pPr>
            <a:r>
              <a:t>#3 [CARD] Hyperparameter Lineage &amp; Dataset</a:t>
            </a:r>
          </a:p>
          <a:p>
            <a:pPr>
              <a:defRPr sz="900">
                <a:solidFill>
                  <a:srgbClr val="475569"/>
                </a:solidFill>
              </a:defRPr>
            </a:pPr>
            <a:r>
              <a:t>Role: Maintains reproducible records of exact training configurations for every m...</a:t>
            </a:r>
          </a:p>
          <a:p>
            <a:pPr>
              <a:defRPr sz="850" i="1">
                <a:solidFill>
                  <a:srgbClr val="065F46"/>
                </a:solidFill>
              </a:defRPr>
            </a:pPr>
            <a:r>
              <a:t>Viva: This table documents the exact hyperparameters and 80/20 training splits used for XGB...</a:t>
            </a:r>
          </a:p>
        </p:txBody>
      </p:sp>
      <p:sp>
        <p:nvSpPr>
          <p:cNvPr id="10" name="Rectangle 9"/>
          <p:cNvSpPr/>
          <p:nvPr/>
        </p:nvSpPr>
        <p:spPr>
          <a:xfrm>
            <a:off x="7863840" y="4306824"/>
            <a:ext cx="3779215" cy="950976"/>
          </a:xfrm>
          <a:prstGeom prst="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10B981"/>
                </a:solidFill>
              </a:defRPr>
            </a:pPr>
            <a:r>
              <a:t>#4 [ACTION] Champion Promotion &amp; Hot-Swap Ac</a:t>
            </a:r>
          </a:p>
          <a:p>
            <a:pPr>
              <a:defRPr sz="900">
                <a:solidFill>
                  <a:srgbClr val="475569"/>
                </a:solidFill>
              </a:defRPr>
            </a:pPr>
            <a:r>
              <a:t>Role: Enables zero-downtime hot-swapping of production machine learning models....</a:t>
            </a:r>
          </a:p>
          <a:p>
            <a:pPr>
              <a:defRPr sz="850" i="1">
                <a:solidFill>
                  <a:srgbClr val="065F46"/>
                </a:solidFill>
              </a:defRPr>
            </a:pPr>
            <a:r>
              <a:t>Viva: This action button enables zero-downtime model promotion: when a challenger outperfor...</a:t>
            </a:r>
          </a:p>
        </p:txBody>
      </p:sp>
      <p:sp>
        <p:nvSpPr>
          <p:cNvPr id="11" name="Rectangle 10"/>
          <p:cNvSpPr/>
          <p:nvPr/>
        </p:nvSpPr>
        <p:spPr>
          <a:xfrm>
            <a:off x="7863840" y="5330952"/>
            <a:ext cx="3779215" cy="950976"/>
          </a:xfrm>
          <a:prstGeom prst="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2563EB"/>
                </a:solidFill>
              </a:defRPr>
            </a:pPr>
            <a:r>
              <a:t>#5 [NAV] Data Version Snapshot Hash Card</a:t>
            </a:r>
          </a:p>
          <a:p>
            <a:pPr>
              <a:defRPr sz="900">
                <a:solidFill>
                  <a:srgbClr val="475569"/>
                </a:solidFill>
              </a:defRPr>
            </a:pPr>
            <a:r>
              <a:t>Role: Links each trained model to the exact immutable snapshot of operational dat...</a:t>
            </a:r>
          </a:p>
          <a:p>
            <a:pPr>
              <a:defRPr sz="850" i="1">
                <a:solidFill>
                  <a:srgbClr val="065F46"/>
                </a:solidFill>
              </a:defRPr>
            </a:pPr>
            <a:r>
              <a:t>Viva: This card displays the SHA-256 hash of our 15,000-record training dataset, proving co...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D96F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8686800" cy="777240"/>
          </a:xfrm>
          <a:prstGeom prst="rect">
            <a:avLst/>
          </a:prstGeom>
          <a:noFill/>
        </p:spPr>
        <p:txBody>
          <a:bodyPr wrap="square">
            <a:spAutoFit/>
          </a:bodyPr>
          <a:lstStyle/>
          <a:p>
            <a:pPr>
              <a:defRPr sz="2000" b="1">
                <a:solidFill>
                  <a:srgbClr val="FFFFFF"/>
                </a:solidFill>
              </a:defRPr>
            </a:pPr>
            <a:r>
              <a:t>SECTION 17: 17. Human Review &amp; Audit</a:t>
            </a:r>
          </a:p>
          <a:p>
            <a:pPr>
              <a:defRPr sz="1100">
                <a:solidFill>
                  <a:srgbClr val="D96F13"/>
                </a:solidFill>
              </a:defRPr>
            </a:pPr>
            <a:r>
              <a:t>L4 Divisional Traffic Controller Sign-Off Stepper &amp; Immutable Dispatch Audit Trail</a:t>
            </a:r>
          </a:p>
        </p:txBody>
      </p:sp>
      <p:sp>
        <p:nvSpPr>
          <p:cNvPr id="5" name="Rectangle 4"/>
          <p:cNvSpPr/>
          <p:nvPr/>
        </p:nvSpPr>
        <p:spPr>
          <a:xfrm>
            <a:off x="9601200" y="228600"/>
            <a:ext cx="2103120" cy="50292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96F13"/>
                </a:solidFill>
              </a:defRPr>
            </a:pPr>
            <a:r>
              <a:t>TIER: CONTROL</a:t>
            </a:r>
          </a:p>
        </p:txBody>
      </p:sp>
      <p:pic>
        <p:nvPicPr>
          <p:cNvPr id="6" name="Picture 5" descr="17_approvals_audit_annotated.png"/>
          <p:cNvPicPr>
            <a:picLocks noChangeAspect="1"/>
          </p:cNvPicPr>
          <p:nvPr/>
        </p:nvPicPr>
        <p:blipFill>
          <a:blip r:embed="rId2"/>
          <a:stretch>
            <a:fillRect/>
          </a:stretch>
        </p:blipFill>
        <p:spPr>
          <a:xfrm>
            <a:off x="548640" y="1234440"/>
            <a:ext cx="7132320" cy="4389120"/>
          </a:xfrm>
          <a:prstGeom prst="rect">
            <a:avLst/>
          </a:prstGeom>
        </p:spPr>
      </p:pic>
      <p:sp>
        <p:nvSpPr>
          <p:cNvPr id="7" name="Rectangle 6"/>
          <p:cNvSpPr/>
          <p:nvPr/>
        </p:nvSpPr>
        <p:spPr>
          <a:xfrm>
            <a:off x="7863840" y="1234440"/>
            <a:ext cx="3779215" cy="950976"/>
          </a:xfrm>
          <a:prstGeom prst="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2563EB"/>
                </a:solidFill>
              </a:defRPr>
            </a:pPr>
            <a:r>
              <a:t>#1 [NAV] L4 Controller Multi-Stage Review</a:t>
            </a:r>
          </a:p>
          <a:p>
            <a:pPr>
              <a:defRPr sz="900">
                <a:solidFill>
                  <a:srgbClr val="475569"/>
                </a:solidFill>
              </a:defRPr>
            </a:pPr>
            <a:r>
              <a:t>Role: Guides the Chief Controller through mandatory statutory verification stages...</a:t>
            </a:r>
          </a:p>
          <a:p>
            <a:pPr>
              <a:defRPr sz="850" i="1">
                <a:solidFill>
                  <a:srgbClr val="065F46"/>
                </a:solidFill>
              </a:defRPr>
            </a:pPr>
            <a:r>
              <a:t>Viva: This 4-stage stepper guides the controller through mandatory verification steps, ensu...</a:t>
            </a:r>
          </a:p>
        </p:txBody>
      </p:sp>
      <p:sp>
        <p:nvSpPr>
          <p:cNvPr id="8" name="Rectangle 7"/>
          <p:cNvSpPr/>
          <p:nvPr/>
        </p:nvSpPr>
        <p:spPr>
          <a:xfrm>
            <a:off x="7863840" y="2258568"/>
            <a:ext cx="3779215" cy="950976"/>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7C3AED"/>
                </a:solidFill>
              </a:defRPr>
            </a:pPr>
            <a:r>
              <a:t>#2 [CARD] Pending Block Allocation Review </a:t>
            </a:r>
          </a:p>
          <a:p>
            <a:pPr>
              <a:defRPr sz="900">
                <a:solidFill>
                  <a:srgbClr val="475569"/>
                </a:solidFill>
              </a:defRPr>
            </a:pPr>
            <a:r>
              <a:t>Role: Presents all operational parameters of the pending block allocation for hum...</a:t>
            </a:r>
          </a:p>
          <a:p>
            <a:pPr>
              <a:defRPr sz="850" i="1">
                <a:solidFill>
                  <a:srgbClr val="065F46"/>
                </a:solidFill>
              </a:defRPr>
            </a:pPr>
            <a:r>
              <a:t>Viva: This review card presents all block parameters—corridor section, affected track line,...</a:t>
            </a:r>
          </a:p>
        </p:txBody>
      </p:sp>
      <p:sp>
        <p:nvSpPr>
          <p:cNvPr id="9" name="Rectangle 8"/>
          <p:cNvSpPr/>
          <p:nvPr/>
        </p:nvSpPr>
        <p:spPr>
          <a:xfrm>
            <a:off x="7863840" y="3282696"/>
            <a:ext cx="3779215" cy="950976"/>
          </a:xfrm>
          <a:prstGeom prst="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10B981"/>
                </a:solidFill>
              </a:defRPr>
            </a:pPr>
            <a:r>
              <a:t>#3 [ACTION] Controller Decision &amp; Override C</a:t>
            </a:r>
          </a:p>
          <a:p>
            <a:pPr>
              <a:defRPr sz="900">
                <a:solidFill>
                  <a:srgbClr val="475569"/>
                </a:solidFill>
              </a:defRPr>
            </a:pPr>
            <a:r>
              <a:t>Role: Empowers the human controller with final, unappealable decision authority o...</a:t>
            </a:r>
          </a:p>
          <a:p>
            <a:pPr>
              <a:defRPr sz="850" i="1">
                <a:solidFill>
                  <a:srgbClr val="065F46"/>
                </a:solidFill>
              </a:defRPr>
            </a:pPr>
            <a:r>
              <a:t>Viva: These action buttons embody human command: the controller has ultimate authority to a...</a:t>
            </a:r>
          </a:p>
        </p:txBody>
      </p:sp>
      <p:sp>
        <p:nvSpPr>
          <p:cNvPr id="10" name="Rectangle 9"/>
          <p:cNvSpPr/>
          <p:nvPr/>
        </p:nvSpPr>
        <p:spPr>
          <a:xfrm>
            <a:off x="7863840" y="4306824"/>
            <a:ext cx="3779215" cy="950976"/>
          </a:xfrm>
          <a:prstGeom prst="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DC2626"/>
                </a:solidFill>
              </a:defRPr>
            </a:pPr>
            <a:r>
              <a:t>#4 [ALERT] Mandatory Safety &amp; Interlock Che</a:t>
            </a:r>
          </a:p>
          <a:p>
            <a:pPr>
              <a:defRPr sz="900">
                <a:solidFill>
                  <a:srgbClr val="475569"/>
                </a:solidFill>
              </a:defRPr>
            </a:pPr>
            <a:r>
              <a:t>Role: Enforces non-negotiable physical life-safety pre-conditions before crews st...</a:t>
            </a:r>
          </a:p>
          <a:p>
            <a:pPr>
              <a:defRPr sz="850" i="1">
                <a:solidFill>
                  <a:srgbClr val="065F46"/>
                </a:solidFill>
              </a:defRPr>
            </a:pPr>
            <a:r>
              <a:t>Viva: This safety checklist enforces physical life-safety protocols: confirming that 25kV w...</a:t>
            </a:r>
          </a:p>
        </p:txBody>
      </p:sp>
      <p:sp>
        <p:nvSpPr>
          <p:cNvPr id="11" name="Rectangle 10"/>
          <p:cNvSpPr/>
          <p:nvPr/>
        </p:nvSpPr>
        <p:spPr>
          <a:xfrm>
            <a:off x="7863840" y="5330952"/>
            <a:ext cx="3779215" cy="950976"/>
          </a:xfrm>
          <a:prstGeom prst="rect">
            <a:avLst/>
          </a:prstGeom>
          <a:solidFill>
            <a:srgbClr val="FFFFFF"/>
          </a:solidFill>
          <a:ln w="19050">
            <a:solidFill>
              <a:srgbClr val="0891B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0891B2"/>
                </a:solidFill>
              </a:defRPr>
            </a:pPr>
            <a:r>
              <a:t>#5 [CHART] Immutable Dispatch Audit Trail R</a:t>
            </a:r>
          </a:p>
          <a:p>
            <a:pPr>
              <a:defRPr sz="900">
                <a:solidFill>
                  <a:srgbClr val="475569"/>
                </a:solidFill>
              </a:defRPr>
            </a:pPr>
            <a:r>
              <a:t>Role: Creates an immutable, legally binding digital record of the dispatch author...</a:t>
            </a:r>
          </a:p>
          <a:p>
            <a:pPr>
              <a:defRPr sz="850" i="1">
                <a:solidFill>
                  <a:srgbClr val="065F46"/>
                </a:solidFill>
              </a:defRPr>
            </a:pPr>
            <a:r>
              <a:t>Viva: This audit card generates an immutable cryptographic signature for every approved pos...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D96F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8686800" cy="777240"/>
          </a:xfrm>
          <a:prstGeom prst="rect">
            <a:avLst/>
          </a:prstGeom>
          <a:noFill/>
        </p:spPr>
        <p:txBody>
          <a:bodyPr wrap="square">
            <a:spAutoFit/>
          </a:bodyPr>
          <a:lstStyle/>
          <a:p>
            <a:pPr>
              <a:defRPr sz="2000" b="1">
                <a:solidFill>
                  <a:srgbClr val="FFFFFF"/>
                </a:solidFill>
              </a:defRPr>
            </a:pPr>
            <a:r>
              <a:t>SECTION 18: 18. Verification Suite</a:t>
            </a:r>
          </a:p>
          <a:p>
            <a:pPr>
              <a:defRPr sz="1100">
                <a:solidFill>
                  <a:srgbClr val="D96F13"/>
                </a:solidFill>
              </a:defRPr>
            </a:pPr>
            <a:r>
              <a:t>6 Physical Railway Safety Laws, 12/12 Mathematical Proof Invariants &amp; Solver Telemetry</a:t>
            </a:r>
          </a:p>
        </p:txBody>
      </p:sp>
      <p:sp>
        <p:nvSpPr>
          <p:cNvPr id="5" name="Rectangle 4"/>
          <p:cNvSpPr/>
          <p:nvPr/>
        </p:nvSpPr>
        <p:spPr>
          <a:xfrm>
            <a:off x="9601200" y="228600"/>
            <a:ext cx="2103120" cy="50292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96F13"/>
                </a:solidFill>
              </a:defRPr>
            </a:pPr>
            <a:r>
              <a:t>TIER: CONTROL</a:t>
            </a:r>
          </a:p>
        </p:txBody>
      </p:sp>
      <p:pic>
        <p:nvPicPr>
          <p:cNvPr id="6" name="Picture 5" descr="18_verification_suite_annotated.png"/>
          <p:cNvPicPr>
            <a:picLocks noChangeAspect="1"/>
          </p:cNvPicPr>
          <p:nvPr/>
        </p:nvPicPr>
        <p:blipFill>
          <a:blip r:embed="rId2"/>
          <a:stretch>
            <a:fillRect/>
          </a:stretch>
        </p:blipFill>
        <p:spPr>
          <a:xfrm>
            <a:off x="548640" y="1234440"/>
            <a:ext cx="7132320" cy="4389120"/>
          </a:xfrm>
          <a:prstGeom prst="rect">
            <a:avLst/>
          </a:prstGeom>
        </p:spPr>
      </p:pic>
      <p:sp>
        <p:nvSpPr>
          <p:cNvPr id="7" name="Rectangle 6"/>
          <p:cNvSpPr/>
          <p:nvPr/>
        </p:nvSpPr>
        <p:spPr>
          <a:xfrm>
            <a:off x="7863840" y="1234440"/>
            <a:ext cx="3779215" cy="950976"/>
          </a:xfrm>
          <a:prstGeom prst="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DC2626"/>
                </a:solidFill>
              </a:defRPr>
            </a:pPr>
            <a:r>
              <a:t>#1 [ALERT] 12/12 Mathematical Proof Gate He</a:t>
            </a:r>
          </a:p>
          <a:p>
            <a:pPr>
              <a:defRPr sz="900">
                <a:solidFill>
                  <a:srgbClr val="475569"/>
                </a:solidFill>
              </a:defRPr>
            </a:pPr>
            <a:r>
              <a:t>Role: Declares formal mathematical and statutory safety certification of the acti...</a:t>
            </a:r>
          </a:p>
          <a:p>
            <a:pPr>
              <a:defRPr sz="850" i="1">
                <a:solidFill>
                  <a:srgbClr val="065F46"/>
                </a:solidFill>
              </a:defRPr>
            </a:pPr>
            <a:r>
              <a:t>Viva: This banner declares our formal certification: 12 out of 12 mathematical and safety p...</a:t>
            </a:r>
          </a:p>
        </p:txBody>
      </p:sp>
      <p:sp>
        <p:nvSpPr>
          <p:cNvPr id="8" name="Rectangle 7"/>
          <p:cNvSpPr/>
          <p:nvPr/>
        </p:nvSpPr>
        <p:spPr>
          <a:xfrm>
            <a:off x="7863840" y="2258568"/>
            <a:ext cx="3779215" cy="950976"/>
          </a:xfrm>
          <a:prstGeom prst="rect">
            <a:avLst/>
          </a:prstGeom>
          <a:solidFill>
            <a:srgbClr val="FFFFFF"/>
          </a:solidFill>
          <a:ln w="19050">
            <a:solidFill>
              <a:srgbClr val="0891B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0891B2"/>
                </a:solidFill>
              </a:defRPr>
            </a:pPr>
            <a:r>
              <a:t>#2 [CHART] 6 Physical Railway Safety Laws M</a:t>
            </a:r>
          </a:p>
          <a:p>
            <a:pPr>
              <a:defRPr sz="900">
                <a:solidFill>
                  <a:srgbClr val="475569"/>
                </a:solidFill>
              </a:defRPr>
            </a:pPr>
            <a:r>
              <a:t>Role: Exhibits individual verification proofs for the 6 non-negotiable physical l...</a:t>
            </a:r>
          </a:p>
          <a:p>
            <a:pPr>
              <a:defRPr sz="850" i="1">
                <a:solidFill>
                  <a:srgbClr val="065F46"/>
                </a:solidFill>
              </a:defRPr>
            </a:pPr>
            <a:r>
              <a:t>Viva: These 6 cards verify our physical safety laws: geospatial mapping, timetable causalit...</a:t>
            </a:r>
          </a:p>
        </p:txBody>
      </p:sp>
      <p:sp>
        <p:nvSpPr>
          <p:cNvPr id="9" name="Rectangle 8"/>
          <p:cNvSpPr/>
          <p:nvPr/>
        </p:nvSpPr>
        <p:spPr>
          <a:xfrm>
            <a:off x="7863840" y="3282696"/>
            <a:ext cx="3779215" cy="950976"/>
          </a:xfrm>
          <a:prstGeom prst="rect">
            <a:avLst/>
          </a:prstGeom>
          <a:solidFill>
            <a:srgbClr val="FFFFFF"/>
          </a:solidFill>
          <a:ln w="19050">
            <a:solidFill>
              <a:srgbClr val="0891B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0891B2"/>
                </a:solidFill>
              </a:defRPr>
            </a:pPr>
            <a:r>
              <a:t>#3 [CHART] Injected Collision Detection Pro</a:t>
            </a:r>
          </a:p>
          <a:p>
            <a:pPr>
              <a:defRPr sz="900">
                <a:solidFill>
                  <a:srgbClr val="475569"/>
                </a:solidFill>
              </a:defRPr>
            </a:pPr>
            <a:r>
              <a:t>Role: Proves adversarial robustness: verifies that the safety validator actually ...</a:t>
            </a:r>
          </a:p>
          <a:p>
            <a:pPr>
              <a:defRPr sz="850" i="1">
                <a:solidFill>
                  <a:srgbClr val="065F46"/>
                </a:solidFill>
              </a:defRPr>
            </a:pPr>
            <a:r>
              <a:t>Viva: To prove our validator isn't a passive rubber-stamp, Test 7.1 injects an artificial t...</a:t>
            </a:r>
          </a:p>
        </p:txBody>
      </p:sp>
      <p:sp>
        <p:nvSpPr>
          <p:cNvPr id="10" name="Rectangle 9"/>
          <p:cNvSpPr/>
          <p:nvPr/>
        </p:nvSpPr>
        <p:spPr>
          <a:xfrm>
            <a:off x="7863840" y="4306824"/>
            <a:ext cx="3779215" cy="950976"/>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7C3AED"/>
                </a:solidFill>
              </a:defRPr>
            </a:pPr>
            <a:r>
              <a:t>#4 [CARD] Singleflight Mutex &amp; 60s Recompu</a:t>
            </a:r>
          </a:p>
          <a:p>
            <a:pPr>
              <a:defRPr sz="900">
                <a:solidFill>
                  <a:srgbClr val="475569"/>
                </a:solidFill>
              </a:defRPr>
            </a:pPr>
            <a:r>
              <a:t>Role: Prevents race conditions and solver thrashing when multiple controllers int...</a:t>
            </a:r>
          </a:p>
          <a:p>
            <a:pPr>
              <a:defRPr sz="850" i="1">
                <a:solidFill>
                  <a:srgbClr val="065F46"/>
                </a:solidFill>
              </a:defRPr>
            </a:pPr>
            <a:r>
              <a:t>Viva: This monitor displays our Singleflight Mutex lock: it prevents solver thrashing by en...</a:t>
            </a:r>
          </a:p>
        </p:txBody>
      </p:sp>
      <p:sp>
        <p:nvSpPr>
          <p:cNvPr id="11" name="Rectangle 10"/>
          <p:cNvSpPr/>
          <p:nvPr/>
        </p:nvSpPr>
        <p:spPr>
          <a:xfrm>
            <a:off x="7863840" y="5330952"/>
            <a:ext cx="3779215" cy="950976"/>
          </a:xfrm>
          <a:prstGeom prst="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50">
                <a:solidFill>
                  <a:srgbClr val="10B981"/>
                </a:solidFill>
              </a:defRPr>
            </a:pPr>
            <a:r>
              <a:t>#5 [ACTION] Formal Safety Certificate Export</a:t>
            </a:r>
          </a:p>
          <a:p>
            <a:pPr>
              <a:defRPr sz="900">
                <a:solidFill>
                  <a:srgbClr val="475569"/>
                </a:solidFill>
              </a:defRPr>
            </a:pPr>
            <a:r>
              <a:t>Role: Generates the official formal safety compliance certificate for regulatory ...</a:t>
            </a:r>
          </a:p>
          <a:p>
            <a:pPr>
              <a:defRPr sz="850" i="1">
                <a:solidFill>
                  <a:srgbClr val="065F46"/>
                </a:solidFill>
              </a:defRPr>
            </a:pPr>
            <a:r>
              <a:t>Viva: With all 12 checks passed, this button exports our formal Safety Compliance Certifica...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D96F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8686800" cy="777240"/>
          </a:xfrm>
          <a:prstGeom prst="rect">
            <a:avLst/>
          </a:prstGeom>
          <a:noFill/>
        </p:spPr>
        <p:txBody>
          <a:bodyPr wrap="square">
            <a:spAutoFit/>
          </a:bodyPr>
          <a:lstStyle/>
          <a:p>
            <a:pPr>
              <a:defRPr sz="2000" b="1">
                <a:solidFill>
                  <a:srgbClr val="FFFFFF"/>
                </a:solidFill>
              </a:defRPr>
            </a:pPr>
            <a:r>
              <a:t>END-TO-END CONTROLLER WORKFLOWS</a:t>
            </a:r>
          </a:p>
          <a:p>
            <a:pPr>
              <a:defRPr sz="1100">
                <a:solidFill>
                  <a:srgbClr val="D96F13"/>
                </a:solidFill>
              </a:defRPr>
            </a:pPr>
            <a:r>
              <a:t>Seamless Transitions Across Operational Scenarios</a:t>
            </a:r>
          </a:p>
        </p:txBody>
      </p:sp>
      <p:sp>
        <p:nvSpPr>
          <p:cNvPr id="5" name="Rectangle 4"/>
          <p:cNvSpPr/>
          <p:nvPr/>
        </p:nvSpPr>
        <p:spPr>
          <a:xfrm>
            <a:off x="548640" y="1280160"/>
            <a:ext cx="3474720" cy="502920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D96F13"/>
                </a:solidFill>
              </a:defRPr>
            </a:pPr>
            <a:r>
              <a:t>WORKFLOW 1: DAILY DISPATCH</a:t>
            </a:r>
            <a:br/>
          </a:p>
          <a:p>
            <a:pPr>
              <a:defRPr sz="1050">
                <a:solidFill>
                  <a:srgbClr val="334155"/>
                </a:solidFill>
              </a:defRPr>
            </a:pPr>
            <a:r>
              <a:t>1. Open Section 1 Dashboard to audit network health.</a:t>
            </a:r>
            <a:br/>
            <a:r>
              <a:t>2. Review Section 2 Asset Backlog for statutory deadlines.</a:t>
            </a:r>
            <a:br/>
            <a:r>
              <a:t>3. Execute Section 3 CP-SAT solver for 7-day blocks.</a:t>
            </a:r>
            <a:br/>
            <a:r>
              <a:t>4. Section 8 certifies 10-minute headway clearance.</a:t>
            </a:r>
            <a:br/>
            <a:r>
              <a:t>5. Section 17 Chief Controller signs Block Authority Form T/409.</a:t>
            </a:r>
          </a:p>
        </p:txBody>
      </p:sp>
      <p:sp>
        <p:nvSpPr>
          <p:cNvPr id="6" name="Rectangle 5"/>
          <p:cNvSpPr/>
          <p:nvPr/>
        </p:nvSpPr>
        <p:spPr>
          <a:xfrm>
            <a:off x="4352544" y="1280160"/>
            <a:ext cx="3474720" cy="502920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D96F13"/>
                </a:solidFill>
              </a:defRPr>
            </a:pPr>
            <a:r>
              <a:t>WORKFLOW 2: EMERGENCY BREAKDOWN</a:t>
            </a:r>
            <a:br/>
          </a:p>
          <a:p>
            <a:pPr>
              <a:defRPr sz="1050">
                <a:solidFill>
                  <a:srgbClr val="334155"/>
                </a:solidFill>
              </a:defRPr>
            </a:pPr>
            <a:r>
              <a:t>1. Sensor detects rail crack or broken OHE wire.</a:t>
            </a:r>
            <a:br/>
            <a:r>
              <a:t>2. Section 5 Anomaly Handling generates instant alert.</a:t>
            </a:r>
            <a:br/>
            <a:r>
              <a:t>3. Section 12 What-If Simulator tests contingency shift.</a:t>
            </a:r>
            <a:br/>
            <a:r>
              <a:t>4. Section 8 verifies zero collision with incoming Rajdhani.</a:t>
            </a:r>
            <a:br/>
            <a:r>
              <a:t>5. Section 17 executes emergency dispatch token.</a:t>
            </a:r>
          </a:p>
        </p:txBody>
      </p:sp>
      <p:sp>
        <p:nvSpPr>
          <p:cNvPr id="7" name="Rectangle 6"/>
          <p:cNvSpPr/>
          <p:nvPr/>
        </p:nvSpPr>
        <p:spPr>
          <a:xfrm>
            <a:off x="8156448" y="1280160"/>
            <a:ext cx="3474720" cy="502920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D96F13"/>
                </a:solidFill>
              </a:defRPr>
            </a:pPr>
            <a:r>
              <a:t>WORKFLOW 3: JOINT SHADOW BUNDLE</a:t>
            </a:r>
            <a:br/>
          </a:p>
          <a:p>
            <a:pPr>
              <a:defRPr sz="1050">
                <a:solidFill>
                  <a:srgbClr val="334155"/>
                </a:solidFill>
              </a:defRPr>
            </a:pPr>
            <a:r>
              <a:t>1. TRD, ENG, and S&amp;T submit separate requests.</a:t>
            </a:r>
            <a:br/>
            <a:r>
              <a:t>2. Section 6 Coordination Centre clusters nearby tasks.</a:t>
            </a:r>
            <a:br/>
            <a:r>
              <a:t>3. Evaluates 8-point deterministic safety compatibility.</a:t>
            </a:r>
            <a:br/>
            <a:r>
              <a:t>4. Section 7 Before/After verifies 63.1% compression.</a:t>
            </a:r>
            <a:br/>
            <a:r>
              <a:t>5. Single block window allocated for all 3 disciplines.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D96F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8686800" cy="777240"/>
          </a:xfrm>
          <a:prstGeom prst="rect">
            <a:avLst/>
          </a:prstGeom>
          <a:noFill/>
        </p:spPr>
        <p:txBody>
          <a:bodyPr wrap="square">
            <a:spAutoFit/>
          </a:bodyPr>
          <a:lstStyle/>
          <a:p>
            <a:pPr>
              <a:defRPr sz="2000" b="1">
                <a:solidFill>
                  <a:srgbClr val="FFFFFF"/>
                </a:solidFill>
              </a:defRPr>
            </a:pPr>
            <a:r>
              <a:t>MATHEMATICAL FORMULATION &amp; OR-TOOLS CP-SAT INVARIANTS</a:t>
            </a:r>
          </a:p>
          <a:p>
            <a:pPr>
              <a:defRPr sz="1100">
                <a:solidFill>
                  <a:srgbClr val="D96F13"/>
                </a:solidFill>
              </a:defRPr>
            </a:pPr>
            <a:r>
              <a:t>Constraint Programming Formulation, Priority Scoring &amp; Safety Verification</a:t>
            </a:r>
          </a:p>
        </p:txBody>
      </p:sp>
      <p:sp>
        <p:nvSpPr>
          <p:cNvPr id="5" name="Rectangle 4"/>
          <p:cNvSpPr/>
          <p:nvPr/>
        </p:nvSpPr>
        <p:spPr>
          <a:xfrm>
            <a:off x="548640" y="1280160"/>
            <a:ext cx="11094415" cy="50292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0F172A"/>
                </a:solidFill>
              </a:defRPr>
            </a:pPr>
            <a:r>
              <a:t>FORMAL OPTIMIZATION FORMULATION &amp; SAFETY GUARANTEES</a:t>
            </a:r>
            <a:br/>
          </a:p>
          <a:p>
            <a:pPr>
              <a:defRPr sz="1100">
                <a:solidFill>
                  <a:srgbClr val="334155"/>
                </a:solidFill>
              </a:defRPr>
            </a:pPr>
            <a:r>
              <a:t>1. Priority Scoring Equation: P_i = C_i * U_i * W, where Criticality C_i in [0, 1], Urgency U_i = 1 / (1 + exp(-k*(t - d_i))), and W is department weight.</a:t>
            </a:r>
            <a:br/>
          </a:p>
          <a:p>
            <a:pPr>
              <a:defRPr sz="1100">
                <a:solidFill>
                  <a:srgbClr val="334155"/>
                </a:solidFill>
              </a:defRPr>
            </a:pPr>
            <a:r>
              <a:t>2. Deterministic Safety Override: If defect is ultrasonic rail crack or catenary sag, rule forces Priority P_i &gt;= 92.5 immediately, bypassing statistical ranking.</a:t>
            </a:r>
            <a:br/>
          </a:p>
          <a:p>
            <a:pPr>
              <a:defRPr sz="1100">
                <a:solidFill>
                  <a:srgbClr val="334155"/>
                </a:solidFill>
              </a:defRPr>
            </a:pPr>
            <a:r>
              <a:t>3. Interval Non-Overlap Constraints: For any two maintenance blocks i, j on section s: IntervalVar(b_i) NoOverlap IntervalVar(b_j).</a:t>
            </a:r>
            <a:br/>
          </a:p>
          <a:p>
            <a:pPr>
              <a:defRPr sz="1100">
                <a:solidFill>
                  <a:srgbClr val="334155"/>
                </a:solidFill>
              </a:defRPr>
            </a:pPr>
            <a:r>
              <a:t>4. Timetable Collision-Free Constraint: For all 1,819 train movements t and blocks b on line l: min(|s_t - e_b|, |s_b - e_t|) &gt;= 10 minutes statutory headway.</a:t>
            </a:r>
            <a:br/>
          </a:p>
          <a:p>
            <a:pPr>
              <a:defRPr sz="1100">
                <a:solidFill>
                  <a:srgbClr val="334155"/>
                </a:solidFill>
              </a:defRPr>
            </a:pPr>
            <a:r>
              <a:t>5. Shadow-Block Spatial Integrity: Bundled tasks must satisfy spatial distance &lt;= 500m and pass all 8 statutory compatibility checks.</a:t>
            </a:r>
            <a:br/>
          </a:p>
          <a:p>
            <a:pPr>
              <a:defRPr sz="1100">
                <a:solidFill>
                  <a:srgbClr val="334155"/>
                </a:solidFill>
              </a:defRPr>
            </a:pPr>
            <a:r>
              <a:t>6. Verification Suite Test Suite: 12 deterministic assertion tests executed in 35 milliseconds, formally certifying 0 collisions and non-negative KPIs.</a:t>
            </a:r>
            <a:b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D96F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
            <a:ext cx="8686800" cy="777240"/>
          </a:xfrm>
          <a:prstGeom prst="rect">
            <a:avLst/>
          </a:prstGeom>
          <a:noFill/>
        </p:spPr>
        <p:txBody>
          <a:bodyPr wrap="square">
            <a:spAutoFit/>
          </a:bodyPr>
          <a:lstStyle/>
          <a:p>
            <a:pPr>
              <a:defRPr sz="2000" b="1">
                <a:solidFill>
                  <a:srgbClr val="FFFFFF"/>
                </a:solidFill>
              </a:defRPr>
            </a:pPr>
            <a:r>
              <a:t>OPERATIONAL IMPACT &amp; VIVA DEFENSE CHECKLIST</a:t>
            </a:r>
          </a:p>
          <a:p>
            <a:pPr>
              <a:defRPr sz="1100">
                <a:solidFill>
                  <a:srgbClr val="D96F13"/>
                </a:solidFill>
              </a:defRPr>
            </a:pPr>
            <a:r>
              <a:t>Summary of Measurable Results &amp; Divisional Deployment Readiness</a:t>
            </a:r>
          </a:p>
        </p:txBody>
      </p:sp>
      <p:sp>
        <p:nvSpPr>
          <p:cNvPr id="5" name="Rectangle 4"/>
          <p:cNvSpPr/>
          <p:nvPr/>
        </p:nvSpPr>
        <p:spPr>
          <a:xfrm>
            <a:off x="548640" y="1280160"/>
            <a:ext cx="11094415" cy="5029200"/>
          </a:xfrm>
          <a:prstGeom prst="rect">
            <a:avLst/>
          </a:prstGeom>
          <a:solidFill>
            <a:srgbClr val="F8FAFC"/>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0B981"/>
                </a:solidFill>
              </a:defRPr>
            </a:pPr>
            <a:r>
              <a:t>MEASURABLE OPERATIONAL RESULTS (DELHI DIVISION - 1,447 KM CORRIDOR)</a:t>
            </a:r>
            <a:br/>
          </a:p>
          <a:p>
            <a:pPr>
              <a:defRPr sz="1100">
                <a:solidFill>
                  <a:srgbClr val="334155"/>
                </a:solidFill>
              </a:defRPr>
            </a:pPr>
            <a:r>
              <a:t>• 63.1% Block Consolidation Index: Clustered 5 separate line closures into 2 integrated shadow blocks.</a:t>
            </a:r>
          </a:p>
          <a:p>
            <a:pPr>
              <a:defRPr sz="1100">
                <a:solidFill>
                  <a:srgbClr val="334155"/>
                </a:solidFill>
              </a:defRPr>
            </a:pPr>
            <a:r>
              <a:t>• +0.67% Mainline Availability Gain: Unlocks capacity for 14 additional freight rakes every single day.</a:t>
            </a:r>
          </a:p>
          <a:p>
            <a:pPr>
              <a:defRPr sz="1100">
                <a:solidFill>
                  <a:srgbClr val="334155"/>
                </a:solidFill>
              </a:defRPr>
            </a:pPr>
            <a:r>
              <a:t>• Zero Train Collisions: 100% statutory headway compliance across 1,819 timetabled passenger and freight trains.</a:t>
            </a:r>
          </a:p>
          <a:p>
            <a:pPr>
              <a:defRPr sz="1100">
                <a:solidFill>
                  <a:srgbClr val="334155"/>
                </a:solidFill>
              </a:defRPr>
            </a:pPr>
            <a:r>
              <a:t>• 2-Second Solver Convergence: Solves complex 15,000-variable combinatorial problems in under 2 seconds.</a:t>
            </a:r>
          </a:p>
          <a:p>
            <a:pPr>
              <a:defRPr sz="1100">
                <a:solidFill>
                  <a:srgbClr val="334155"/>
                </a:solidFill>
              </a:defRPr>
            </a:pPr>
            <a:r>
              <a:t>• 100% Data &amp; Mathematical Verification: 21 canonical datasets audited, 12/12 proof checks certified pass.</a:t>
            </a:r>
          </a:p>
          <a:p>
            <a:pPr>
              <a:defRPr sz="1100">
                <a:solidFill>
                  <a:srgbClr val="334155"/>
                </a:solidFill>
              </a:defRPr>
            </a:pPr>
            <a:r>
              <a:t>• Level 4 Human-in-the-Loop Governance: Certified digital sign-off steppers and immutable audit trails.</a:t>
            </a:r>
          </a:p>
          <a:p>
            <a:br/>
            <a:pPr>
              <a:defRPr b="1" sz="1200">
                <a:solidFill>
                  <a:srgbClr val="D96F13"/>
                </a:solidFill>
              </a:defRPr>
            </a:pPr>
            <a:r>
              <a:t>Ready for Live Production Deployment Across Delhi Division · Ministry of Railways, Government of India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