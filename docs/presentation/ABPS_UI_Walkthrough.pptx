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evaluation jury. Today we present the Automated Block Planning System (ABPS v4.0), engineered for the Ministry of Railways to solve the multi-billion rupee operational bottleneck of coordinating heavy track maintenance possessions around dense passenger express movements.</a:t>
            </a:r>
          </a:p>
          <a:p/>
          <a:p>
            <a:r>
              <a:t>Across the 1,447 km Delhi-Howrah mainline, manual planners previously spent 4 to 6 hours negotiating maintenance blocks, often resulting in severe train cascading delays or canceled safety possessions. Our system transforms this through automated CP-SAT constraint optimization, delivering certified zero-collision schedules, +0.67% network capacity gain, and a 63.1% consolidation index across all 18 operational sections.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Overview Defense:</a:t>
            </a:r>
          </a:p>
          <a:p>
            <a:r>
              <a:t>Our system organizes all 18 sections into a 5-tier operational hierarchy:</a:t>
            </a:r>
          </a:p>
          <a:p>
            <a:r>
              <a:t>1. Operations: Command center, asset backlog, task intake, weekly and monthly schedules.</a:t>
            </a:r>
          </a:p>
          <a:p>
            <a:r>
              <a:t>2. Coordination: Cross-department alignment, shadow blocks, train collision radar.</a:t>
            </a:r>
          </a:p>
          <a:p>
            <a:r>
              <a:t>3. Intelligence: Machine learning failure risks, root-cause forensics, asset degradation.</a:t>
            </a:r>
          </a:p>
          <a:p>
            <a:r>
              <a:t>4. Data: Multi-source ingestion pipelines, data quality gates, model lineage.</a:t>
            </a:r>
          </a:p>
          <a:p>
            <a:r>
              <a:t>5. Control &amp; Simulation: Two-person cryptographic sign-off, 12 mathematical safety checks, and simulation sandboxes.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Shell Defense:</a:t>
            </a:r>
          </a:p>
          <a:p>
            <a:r>
              <a:t>Before diving into individual sections, notice how our enterprise application shell maintains persistent situational awareness. The header anchors every view with the Indian Railways crest, active Delhi Division jurisdiction, the planning horizon calendar, and a synchronized 24-hour railway clock. This ensures railway controllers always know their operating boundaries.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01 VIVA DEFENSE SCRIPT: 1. Dashboard / GIS Map</a:t>
            </a:r>
          </a:p>
          <a:p>
            <a:r>
              <a:t>--------------------------------------------------------------------------------</a:t>
            </a:r>
          </a:p>
          <a:p>
            <a:r>
              <a:t>1. What am I showing?</a:t>
            </a:r>
          </a:p>
          <a:p>
            <a:r>
              <a:t>I am presenting Section 01 of ABPS v4.0, which is the 1. Dashboard / GIS Map view (/?tab=dashboard), engineered for the OPERATIONS operational tier of Delhi Division.</a:t>
            </a:r>
          </a:p>
          <a:p/>
          <a:p>
            <a:r>
              <a:t>2. What is this section?</a:t>
            </a:r>
          </a:p>
          <a:p>
            <a:r>
              <a:t>The Dashboard / GIS Map is the executive operational landing page of ABPS v4.0. It integrates real-time network health, scheduled CP-SAT block status, pending asset maintenance alerts, and an interactive GIS spatial map across all 6 high-density corridor sections of Delhi Division.</a:t>
            </a:r>
          </a:p>
          <a:p/>
          <a:p>
            <a:r>
              <a:t>3. Why does it exist?</a:t>
            </a:r>
          </a:p>
          <a:p>
            <a:r>
              <a:t>Without a unified command dashboard, railway traffic controllers must cross-reference isolated logbooks, scada alarms, and train control charts. This section brings all operational threads into a single glass pane, allowing instant decision-making and rapid bottleneck identification.</a:t>
            </a:r>
          </a:p>
          <a:p/>
          <a:p>
            <a:r>
              <a:t>4. What are its main features?</a:t>
            </a:r>
          </a:p>
          <a:p>
            <a:r>
              <a:t>- 4-Card Critical KPI Ribbon summarizing active maintenance tasks, safety overrides, CP-SAT blocks, and conflict counts.</a:t>
            </a:r>
          </a:p>
          <a:p>
            <a:r>
              <a:t>- Maintenance Priority Queue with urgent work orders sorted by expected-loss ranking.</a:t>
            </a:r>
          </a:p>
          <a:p>
            <a:r>
              <a:t>- Interactive Leaflet GIS Map displaying track sections, active block possessions, and asset geolocations with popup inspectors.</a:t>
            </a:r>
          </a:p>
          <a:p>
            <a:r>
              <a:t>- Real-Time Corridor Availability Gauges and sectional traffic density meters.</a:t>
            </a:r>
          </a:p>
          <a:p/>
          <a:p>
            <a:r>
              <a:t>5. How does the user use it?</a:t>
            </a:r>
          </a:p>
          <a:p>
            <a:r>
              <a:t>Controllers scan top KPIs to detect anomalies, toggle between Weekly and Monthly horizons, click on urgent maintenance rows in the queue to inspect asset wear, and pan/zoom the GIS map to inspect specific track sections and OHE feeder stations.</a:t>
            </a:r>
          </a:p>
          <a:p/>
          <a:p>
            <a:r>
              <a:t>6. What happens after interaction?</a:t>
            </a:r>
          </a:p>
          <a:p>
            <a:r>
              <a:t>Real-time visual map of corridor possessions, aggregated divisional maintenance metrics, and instant navigational entry points into deep diagnostic views.</a:t>
            </a:r>
          </a:p>
          <a:p/>
          <a:p>
            <a:r>
              <a:t>7. Why is this feature useful (Operational Impact)?</a:t>
            </a:r>
          </a:p>
          <a:p>
            <a:r>
              <a:t>Practical Example: At 06:30 AM during morning peak, a Sectional Controller notices the 'Critical Tasks' badge turns red (15 urgent defects). By clicking the top urgent TRD task on the GIS map, the controller instantly sees a sagging catenary wire at KM 142/8 and initiates an emergency block recommendation before freight congestion peaks.</a:t>
            </a:r>
          </a:p>
          <a:p>
            <a:r>
              <a:t>Conversational Pitch: "The Dashboard is our operational nerve-center. It combines mathematical telemetry with Leaflet GIS spatial mapping so divisional controllers can monitor 1,447 km of high-density track, 72 certified maintenance blocks, and 1,819 train movements in a single, conflict-free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VIVA DEFENSE SCRIPT: 2. Asset Backlog</a:t>
            </a:r>
          </a:p>
          <a:p>
            <a:r>
              <a:t>--------------------------------------------------------------------------------</a:t>
            </a:r>
          </a:p>
          <a:p>
            <a:r>
              <a:t>1. What am I showing?</a:t>
            </a:r>
          </a:p>
          <a:p>
            <a:r>
              <a:t>I am presenting Section 02 of ABPS v4.0, which is the 2. Asset Backlog view (/?tab=asset_backlog), engineered for the OPERATIONS operational tier of Delhi Division.</a:t>
            </a:r>
          </a:p>
          <a:p/>
          <a:p>
            <a:r>
              <a:t>2. What is this section?</a:t>
            </a:r>
          </a:p>
          <a:p>
            <a:r>
              <a:t>Asset Backlog is the centralized inventory of all pending, approved, and completed railway maintenance tasks across permanent way, overhead electrification, and signaling assets.</a:t>
            </a:r>
          </a:p>
          <a:p/>
          <a:p>
            <a:r>
              <a:t>3. Why does it exist?</a:t>
            </a:r>
          </a:p>
          <a:p>
            <a:r>
              <a:t>Historically, each railway department operated in silos using separate paper ledgers or disparate legacy databases. Asset Backlog unifies all departments into a standardized schema with rigorous priority scoring.</a:t>
            </a:r>
          </a:p>
          <a:p/>
          <a:p>
            <a:r>
              <a:t>4. What are its main features?</a:t>
            </a:r>
          </a:p>
          <a:p>
            <a:r>
              <a:t>- Unified task table showing Task ID, Department, Section, Duration, Criticality Score, and Deadline.</a:t>
            </a:r>
          </a:p>
          <a:p>
            <a:r>
              <a:t>- Department filter buttons (All, TRD, ENG, S&amp;T, MECH) with dynamic counter badges.</a:t>
            </a:r>
          </a:p>
          <a:p>
            <a:r>
              <a:t>- Search input with instant filtering by asset ID, track kilometer, or supervisor name.</a:t>
            </a:r>
          </a:p>
          <a:p>
            <a:r>
              <a:t>- Priority distribution summary cards breaking down tasks by Critical, High, Medium, and Routine.</a:t>
            </a:r>
          </a:p>
          <a:p/>
          <a:p>
            <a:r>
              <a:t>5. How does the user use it?</a:t>
            </a:r>
          </a:p>
          <a:p>
            <a:r>
              <a:t>Supervisors filter tasks by their specific department, sort by impending statutory deadlines, search for specific track kilometers, and click tasks to view required machinery and crew logistics.</a:t>
            </a:r>
          </a:p>
          <a:p/>
          <a:p>
            <a:r>
              <a:t>6. What happens after interaction?</a:t>
            </a:r>
          </a:p>
          <a:p>
            <a:r>
              <a:t>Standardized, urgency-ranked work order ledger ready for batch injection into the CP-SAT optimization engine.</a:t>
            </a:r>
          </a:p>
          <a:p/>
          <a:p>
            <a:r>
              <a:t>7. Why is this feature useful (Operational Impact)?</a:t>
            </a:r>
          </a:p>
          <a:p>
            <a:r>
              <a:t>Practical Example: A Permanent Way Inspector logs an ultrasonic flaw detected at KM 142/8. The task enters Asset Backlog, is flagged as ENG with Criticality 96.7, and is immediately color-coded in red with a statutory 48-hour completion deadline.</a:t>
            </a:r>
          </a:p>
          <a:p>
            <a:r>
              <a:t>Conversational Pitch: "Asset Backlog breaks departmental silos by aggregating engineering, traction, and signaling work orders into one place. Every task is scored with our expected-loss formula so life-safety track repairs always take precedence."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VIVA DEFENSE SCRIPT: 3. Task Generator</a:t>
            </a:r>
          </a:p>
          <a:p>
            <a:r>
              <a:t>--------------------------------------------------------------------------------</a:t>
            </a:r>
          </a:p>
          <a:p>
            <a:r>
              <a:t>1. What am I showing?</a:t>
            </a:r>
          </a:p>
          <a:p>
            <a:r>
              <a:t>I am presenting Section 03 of ABPS v4.0, which is the 3. Task Generator view (/?tab=task_generator), engineered for the OPERATIONS operational tier of Delhi Division.</a:t>
            </a:r>
          </a:p>
          <a:p/>
          <a:p>
            <a:r>
              <a:t>2. What is this section?</a:t>
            </a:r>
          </a:p>
          <a:p>
            <a:r>
              <a:t>The Task Generator is the primary operational portal for field engineers across Indian Railways departments (Engineering/P-Way, Traction/TRD, and Signal &amp; Telecom/S&amp;T) to submit new maintenance requirements and generate conflict-free possession blocks.</a:t>
            </a:r>
          </a:p>
          <a:p/>
          <a:p>
            <a:r>
              <a:t>3. Why does it exist?</a:t>
            </a:r>
          </a:p>
          <a:p>
            <a:r>
              <a:t>Historically, maintenance requisitions were filed on fragmented paper slips or isolated division portals without spatial or timetable validation. The Task Generator unifies requirements intake, enforces safety isolation protocols, and executes immediate mathematical pre-validation against timetabled passenger trains.</a:t>
            </a:r>
          </a:p>
          <a:p/>
          <a:p>
            <a:r>
              <a:t>4. What are its main features?</a:t>
            </a:r>
          </a:p>
          <a:p>
            <a:r>
              <a:t>- Cross-Department Category Selector (Engineering, Traction, S&amp;T) with department-tailored templates.</a:t>
            </a:r>
          </a:p>
          <a:p>
            <a:r>
              <a:t>- Geospatial Asset Selector linking directly to track centerline chainage, section codes, and GIS coordinates.</a:t>
            </a:r>
          </a:p>
          <a:p>
            <a:r>
              <a:t>- Comprehensive Maintenance Task Definition with preset engineering packages (Rail Replacement, Tamping, OHE Inspection, Point Machine Testing).</a:t>
            </a:r>
          </a:p>
          <a:p>
            <a:r>
              <a:t>- 8-Stage Safety &amp; Isolation Package Stepper (Site Preparation, Traffic Protection, 25kV OHE Isolation, Work Execution, Testing, Inspection, Restoration, Handover).</a:t>
            </a:r>
          </a:p>
          <a:p/>
          <a:p>
            <a:r>
              <a:t>5. How does the user use it?</a:t>
            </a:r>
          </a:p>
          <a:p>
            <a:r>
              <a:t>1. Department Selection: Click Civil Engineering, TRD, or S&amp;T card.</a:t>
            </a:r>
          </a:p>
          <a:p>
            <a:r>
              <a:t>2. Asset Selection: Choose asset from searchable dropdown or click on the embedded Leaflet track map.</a:t>
            </a:r>
          </a:p>
          <a:p>
            <a:r>
              <a:t>3. Task Parameters: Select template (e.g. Rail Replacement), target date, and requested duration (minutes).</a:t>
            </a:r>
          </a:p>
          <a:p>
            <a:r>
              <a:t>4. Safety &amp; Isolation: Check required isolations (25kV Traction Power, Signalling Lockout) and select crew resources.</a:t>
            </a:r>
          </a:p>
          <a:p>
            <a:r>
              <a:t>5. Dispatch: Click 'Generate Maintenance Task &amp; Block Allocation'. Review certified block options and commit to the master schedule.</a:t>
            </a:r>
          </a:p>
          <a:p/>
          <a:p>
            <a:r>
              <a:t>6. What happens after interaction?</a:t>
            </a:r>
          </a:p>
          <a:p>
            <a:r>
              <a:t>Generates a canonical task record (TASK-DH-xxxxxx), assigns an expected-loss priority score, returns certified block windows with zero train overlap, and displays a radar chart of section disruption impact.</a:t>
            </a:r>
          </a:p>
          <a:p/>
          <a:p>
            <a:r>
              <a:t>7. Why is this feature useful (Operational Impact)?</a:t>
            </a:r>
          </a:p>
          <a:p>
            <a:r>
              <a:t>Practical Example: A P-Way Section Engineer identifies track gauge widening near km 142 on Section SEC-DH-01. They open Task Generator, select Engineering -&gt; Rail Replacement on Asset AST-DH-003582, set 180 min duration, require 25kV OHE isolation, and click Generate. The system finds a 02:15-05:15 nighttime window between freight trains with zero passenger delay.</a:t>
            </a:r>
          </a:p>
          <a:p>
            <a:r>
              <a:t>Conversational Pitch: "The Task Generator solves the root cause of railway coordination failure: fragmented work orders. By integrating department-specific safety templates with live timetable intelligence, field engineers receive mathematically certified possession windows in under 2 seconds instead of days of manual correspondence."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04 VIVA DEFENSE SCRIPT: 4. Weekly Block Planner</a:t>
            </a:r>
          </a:p>
          <a:p>
            <a:r>
              <a:t>--------------------------------------------------------------------------------</a:t>
            </a:r>
          </a:p>
          <a:p>
            <a:r>
              <a:t>1. What am I showing?</a:t>
            </a:r>
          </a:p>
          <a:p>
            <a:r>
              <a:t>I am presenting Section 04 of ABPS v4.0, which is the 4. Weekly Block Planner view (/?tab=weekly_planner), engineered for the OPERATIONS operational tier of Delhi Division.</a:t>
            </a:r>
          </a:p>
          <a:p/>
          <a:p>
            <a:r>
              <a:t>2. What is this section?</a:t>
            </a:r>
          </a:p>
          <a:p>
            <a:r>
              <a:t>The Weekly Block Planner is the tactical scheduling canvas of ABPS v4.0. It renders a 7-day, 24-hour visual Gantt timeline of certified maintenance blocks allocated across Delhi Division's 6 corridor sections.</a:t>
            </a:r>
          </a:p>
          <a:p/>
          <a:p>
            <a:r>
              <a:t>3. Why does it exist?</a:t>
            </a:r>
          </a:p>
          <a:p>
            <a:r>
              <a:t>Manual scheduling of line blocks across saturated double-track lines frequently leads to canceled blocks, emergency train stoppages, or unsafe overlapping possessions. The Weekly Block Planner delivers mathematically certified, conflict-free block windows.</a:t>
            </a:r>
          </a:p>
          <a:p/>
          <a:p>
            <a:r>
              <a:t>4. What are its main features?</a:t>
            </a:r>
          </a:p>
          <a:p>
            <a:r>
              <a:t>- 6 Corridor Section Swimlanes (NDLS-GZB, GZB-ALJN, ALJN-TDL, TDL-ETW, ETW-CNB, CNB-PRYJ).</a:t>
            </a:r>
          </a:p>
          <a:p>
            <a:r>
              <a:t>- Interactive time grid spanning 00:00 to 24:00 across 7 calendar days with 1-hour graduation lines.</a:t>
            </a:r>
          </a:p>
          <a:p>
            <a:r>
              <a:t>- Color-coded block bars indicating department (TRD=Blue, ENG=Green, S&amp;T=Amber, Integrated=Purple).</a:t>
            </a:r>
          </a:p>
          <a:p>
            <a:r>
              <a:t>- CP-SAT Optimization Trigger Button with live solving telemetry and singleflight mutex lock status.</a:t>
            </a:r>
          </a:p>
          <a:p/>
          <a:p>
            <a:r>
              <a:t>5. How does the user use it?</a:t>
            </a:r>
          </a:p>
          <a:p>
            <a:r>
              <a:t>Controllers navigate calendar days using date selectors, hover over block bars to inspect allocated tasks and headway buffers, click blocks to open conflict inspectors, and click 'Run CP-SAT Optimizer' to re-solve after schedule disruptions.</a:t>
            </a:r>
          </a:p>
          <a:p/>
          <a:p>
            <a:r>
              <a:t>6. What happens after interaction?</a:t>
            </a:r>
          </a:p>
          <a:p>
            <a:r>
              <a:t>Certified 7-day corridor possession roster ready for divisional sign-off and live TMS dispatch.</a:t>
            </a:r>
          </a:p>
          <a:p/>
          <a:p>
            <a:r>
              <a:t>7. Why is this feature useful (Operational Impact)?</a:t>
            </a:r>
          </a:p>
          <a:p>
            <a:r>
              <a:t>Practical Example: During weekend planning, the optimizer detects a 180-minute maintenance window between Kanpur and Prayagraj at 02:30 AM. It allocates a combined OHE wire replacement and track tamping possession, automatically keeping the UP line clear for Prayagraj Express.</a:t>
            </a:r>
          </a:p>
          <a:p>
            <a:r>
              <a:t>Conversational Pitch: "The Weekly Block Planner is powered by Google OR-Tools CP-SAT. It converts complex railway constraints into mathematical equations, delivering 72 certified, conflict-free maintenance windows across 7 days with zero headway violations."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05 VIVA DEFENSE SCRIPT: 5. Monthly Forecast</a:t>
            </a:r>
          </a:p>
          <a:p>
            <a:r>
              <a:t>--------------------------------------------------------------------------------</a:t>
            </a:r>
          </a:p>
          <a:p>
            <a:r>
              <a:t>1. What am I showing?</a:t>
            </a:r>
          </a:p>
          <a:p>
            <a:r>
              <a:t>I am presenting Section 05 of ABPS v4.0, which is the 5. Monthly Forecast view (/?tab=monthly_forecast), engineered for the OPERATIONS operational tier of Delhi Division.</a:t>
            </a:r>
          </a:p>
          <a:p/>
          <a:p>
            <a:r>
              <a:t>2. What is this section?</a:t>
            </a:r>
          </a:p>
          <a:p>
            <a:r>
              <a:t>The Monthly Forecast section is the strategic capacity planning dashboard of ABPS v4.0. It projects maintenance requirements and track possession opportunities across a 30-day planning horizon.</a:t>
            </a:r>
          </a:p>
          <a:p/>
          <a:p>
            <a:r>
              <a:t>3. Why does it exist?</a:t>
            </a:r>
          </a:p>
          <a:p>
            <a:r>
              <a:t>Major infrastructure works (such as deep track screening, bridge girder rebuilding, or OHE rewiring) require weeks of advance notice to coordinate loco diversions and freight re-routing. This section enables long-range strategic coordination.</a:t>
            </a:r>
          </a:p>
          <a:p/>
          <a:p>
            <a:r>
              <a:t>4. What are its main features?</a:t>
            </a:r>
          </a:p>
          <a:p>
            <a:r>
              <a:t>- 7-Day and 30-Day Multi-Horizon Day Cards displaying daily maintenance quotas and capacity availability.</a:t>
            </a:r>
          </a:p>
          <a:p>
            <a:r>
              <a:t>- Corridor Capacity Projection Chart showing peak traffic vs available maintenance windows over 4 weeks.</a:t>
            </a:r>
          </a:p>
          <a:p>
            <a:r>
              <a:t>- Preventive vs Emergency Possession Distribution metrics.</a:t>
            </a:r>
          </a:p>
          <a:p>
            <a:r>
              <a:t>- Seasonal Weather Impact Factors (monsoon flooding, summer rail buckling risks).</a:t>
            </a:r>
          </a:p>
          <a:p/>
          <a:p>
            <a:r>
              <a:t>5. How does the user use it?</a:t>
            </a:r>
          </a:p>
          <a:p>
            <a:r>
              <a:t>Planners inspect upcoming weeks, compare workload distributions across the 6 corridor sections, click individual day cards to view proposed possessions, and adjust long-range block quotas.</a:t>
            </a:r>
          </a:p>
          <a:p/>
          <a:p>
            <a:r>
              <a:t>6. What happens after interaction?</a:t>
            </a:r>
          </a:p>
          <a:p>
            <a:r>
              <a:t>30-day strategic corridor maintenance outlook, machine mobilization schedules, and preliminary passenger train regulation advisories.</a:t>
            </a:r>
          </a:p>
          <a:p/>
          <a:p>
            <a:r>
              <a:t>7. Why is this feature useful (Operational Impact)?</a:t>
            </a:r>
          </a:p>
          <a:p>
            <a:r>
              <a:t>Practical Example: A Senior Divisional Engineer plans a 4-hour track renewal near Aligarh. Looking at the 30-day forecast, the system highlights Day 18 (low freight density window) as having 42% lower passenger traffic disruption than Day 12.</a:t>
            </a:r>
          </a:p>
          <a:p>
            <a:r>
              <a:t>Conversational Pitch: "While the Weekly Planner handles tactical execution, the Monthly Forecast provides 30-day strategic foresight. It allows headquarters to plan heavy track renewal and bridge works weeks in advance without causing unannounced train cancellations."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06 VIVA DEFENSE SCRIPT: 6. Coordination Centre</a:t>
            </a:r>
          </a:p>
          <a:p>
            <a:r>
              <a:t>--------------------------------------------------------------------------------</a:t>
            </a:r>
          </a:p>
          <a:p>
            <a:r>
              <a:t>1. What am I showing?</a:t>
            </a:r>
          </a:p>
          <a:p>
            <a:r>
              <a:t>I am presenting Section 06 of ABPS v4.0, which is the 6. Coordination Centre view (/?tab=coordination), engineered for the COORDINATION operational tier of Delhi Division.</a:t>
            </a:r>
          </a:p>
          <a:p/>
          <a:p>
            <a:r>
              <a:t>2. What is this section?</a:t>
            </a:r>
          </a:p>
          <a:p>
            <a:r>
              <a:t>The Coordination Centre is the cross-departmental synergy hub of ABPS v4.0. It clusters maintenance tasks from different railway engineering wings into single, coordinated track possessions (known as 'shadow blocks').</a:t>
            </a:r>
          </a:p>
          <a:p/>
          <a:p>
            <a:r>
              <a:t>3. Why does it exist?</a:t>
            </a:r>
          </a:p>
          <a:p>
            <a:r>
              <a:t>In Indian Railways, Engineering, Electrical (TRD), and Signaling (S&amp;T) traditionally demand separate block possessions on the same track segment, closing the line multiple times. Bundling them into one possession eliminates redundant track closures.</a:t>
            </a:r>
          </a:p>
          <a:p/>
          <a:p>
            <a:r>
              <a:t>4. What are its main features?</a:t>
            </a:r>
          </a:p>
          <a:p>
            <a:r>
              <a:t>- Hero Coordination Candidate Card highlighting high-synergy multi-departmental bundling opportunities.</a:t>
            </a:r>
          </a:p>
          <a:p>
            <a:r>
              <a:t>- Deterministic 8-Point Compatibility Matrix auditing spatial, electrical, and crew safety rules.</a:t>
            </a:r>
          </a:p>
          <a:p>
            <a:r>
              <a:t>- Canonical Synergy Principles breakdown (Power Isolation Synergy, Spatial Overlap, Joint Inspection).</a:t>
            </a:r>
          </a:p>
          <a:p>
            <a:r>
              <a:t>- Approved vs Prohibited Task Pairing Ledger (5,778 Approved / 9,222 Blocked pairs).</a:t>
            </a:r>
          </a:p>
          <a:p/>
          <a:p>
            <a:r>
              <a:t>5. How does the user use it?</a:t>
            </a:r>
          </a:p>
          <a:p>
            <a:r>
              <a:t>Departmental engineers inspect suggested bundled opportunities, review the 8 compatibility checks, verify safety distance buffers, and click 'Optimize This Group' to convert separate work orders into one unified possession.</a:t>
            </a:r>
          </a:p>
          <a:p/>
          <a:p>
            <a:r>
              <a:t>6. What happens after interaction?</a:t>
            </a:r>
          </a:p>
          <a:p>
            <a:r>
              <a:t>Coordinated possession packages delivering up to 63.1% reduction in total track closure time.</a:t>
            </a:r>
          </a:p>
          <a:p/>
          <a:p>
            <a:r>
              <a:t>7. Why is this feature useful (Operational Impact)?</a:t>
            </a:r>
          </a:p>
          <a:p>
            <a:r>
              <a:t>Practical Example: At Ghaziabad Yard, TRD requests 2 hours for OHE isolator maintenance, while P-Way requests 2 hours for point machine packing. The Coordination Centre bundles both into a single 2-hour block, saving 120 minutes of line closure.</a:t>
            </a:r>
          </a:p>
          <a:p>
            <a:r>
              <a:t>Conversational Pitch: "The Coordination Centre breaks the greatest efficiency barrier in Indian Railways: departmental silos. By bundling track, electrical, and signal work into shared shadow blocks, we achieve a 63.1% reduction in line possession requests without compromising safety."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07 VIVA DEFENSE SCRIPT: 7. Integrated / Shadow Blocks</a:t>
            </a:r>
          </a:p>
          <a:p>
            <a:r>
              <a:t>--------------------------------------------------------------------------------</a:t>
            </a:r>
          </a:p>
          <a:p>
            <a:r>
              <a:t>1. What am I showing?</a:t>
            </a:r>
          </a:p>
          <a:p>
            <a:r>
              <a:t>I am presenting Section 07 of ABPS v4.0, which is the 7. Integrated / Shadow Blocks view (/?tab=shadow_blocks), engineered for the COORDINATION operational tier of Delhi Division.</a:t>
            </a:r>
          </a:p>
          <a:p/>
          <a:p>
            <a:r>
              <a:t>2. What is this section?</a:t>
            </a:r>
          </a:p>
          <a:p>
            <a:r>
              <a:t>Integrated / Shadow Blocks (Before vs After) is the quantitative business intelligence and ROI dashboard of ABPS v4.0. It compares traditional uncoordinated railway operations against ABPS-optimized shadow block scheduling.</a:t>
            </a:r>
          </a:p>
          <a:p/>
          <a:p>
            <a:r>
              <a:t>3. Why does it exist?</a:t>
            </a:r>
          </a:p>
          <a:p>
            <a:r>
              <a:t>Railway senior executives require rigorous mathematical proof that AI optimization delivers tangible improvements in punctuality, line capacity, and financial return. This screen visualizes those gains side-by-side.</a:t>
            </a:r>
          </a:p>
          <a:p/>
          <a:p>
            <a:r>
              <a:t>4. What are its main features?</a:t>
            </a:r>
          </a:p>
          <a:p>
            <a:r>
              <a:t>- 4-Tile Comparative KPI Ribbon (Possessions Reduced, Track Availability Gain, Punctuality Preserved, Cost Saved).</a:t>
            </a:r>
          </a:p>
          <a:p>
            <a:r>
              <a:t>- Side-by-side Gantt comparison showing Unbundled Baseline (scattered blocks) vs ABPS Integrated (consolidated blocks).</a:t>
            </a:r>
          </a:p>
          <a:p>
            <a:r>
              <a:t>- Corridor Availability Improvement gauge showing +0.67% net throughput gain across 1,447 km.</a:t>
            </a:r>
          </a:p>
          <a:p>
            <a:r>
              <a:t>- Departmental Possession Compression Ledger detailing hours saved per engineering discipline.</a:t>
            </a:r>
          </a:p>
          <a:p/>
          <a:p>
            <a:r>
              <a:t>5. How does the user use it?</a:t>
            </a:r>
          </a:p>
          <a:p>
            <a:r>
              <a:t>Controllers toggle between Before and After views to observe how scattered 2-hour blocks are compressed into synchronized 3-hour windows, inspect cost savings per section, and export validation reports.</a:t>
            </a:r>
          </a:p>
          <a:p/>
          <a:p>
            <a:r>
              <a:t>6. What happens after interaction?</a:t>
            </a:r>
          </a:p>
          <a:p>
            <a:r>
              <a:t>Empirical validation report showing a 63.1% consolidation index, +0.67% corridor availability increase, and zero train collisions.</a:t>
            </a:r>
          </a:p>
          <a:p/>
          <a:p>
            <a:r>
              <a:t>7. Why is this feature useful (Operational Impact)?</a:t>
            </a:r>
          </a:p>
          <a:p>
            <a:r>
              <a:t>Practical Example: In traditional scheduling, Delhi-Ghaziabad was blocked 5 separate times in one week (totaling 11 hours). Under ABPS, those same tasks were executed in 2 integrated windows totaling 5 hours, returning 6 full hours of track capacity to freight trains.</a:t>
            </a:r>
          </a:p>
          <a:p>
            <a:r>
              <a:t>Conversational Pitch: "This Before-and-After view provides concrete proof of our impact: we compress 11 hours of scattered departmental block requests into 5 synchronized hours. That delivers a 63.1% consolidation index and returns 6 hours of line capacity to revenue trains."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08 VIVA DEFENSE SCRIPT: 8. Train &amp; Block Conflicts</a:t>
            </a:r>
          </a:p>
          <a:p>
            <a:r>
              <a:t>--------------------------------------------------------------------------------</a:t>
            </a:r>
          </a:p>
          <a:p>
            <a:r>
              <a:t>1. What am I showing?</a:t>
            </a:r>
          </a:p>
          <a:p>
            <a:r>
              <a:t>I am presenting Section 08 of ABPS v4.0, which is the 8. Train &amp; Block Conflicts view (/?tab=train_conflicts), engineered for the COORDINATION operational tier of Delhi Division.</a:t>
            </a:r>
          </a:p>
          <a:p/>
          <a:p>
            <a:r>
              <a:t>2. What is this section?</a:t>
            </a:r>
          </a:p>
          <a:p>
            <a:r>
              <a:t>Train &amp; Block Conflicts is the collision auditing and timetable verification canvas of ABPS v4.0. It maps every timetabled passenger and freight train against planned track maintenance blocks on UP and DOWN tracks.</a:t>
            </a:r>
          </a:p>
          <a:p/>
          <a:p>
            <a:r>
              <a:t>3. Why does it exist?</a:t>
            </a:r>
          </a:p>
          <a:p>
            <a:r>
              <a:t>The primary constraint in railway block planning is passenger train safety and punctuality. A block must never overlap with a train movement or violate statutory braking headways. This section proves collision-free operation.</a:t>
            </a:r>
          </a:p>
          <a:p/>
          <a:p>
            <a:r>
              <a:t>4. What are its main features?</a:t>
            </a:r>
          </a:p>
          <a:p>
            <a:r>
              <a:t>- Directional UP Line and DOWN Line Timeline Swimlanes.</a:t>
            </a:r>
          </a:p>
          <a:p>
            <a:r>
              <a:t>- 1,819 Timetabled Train Movements mapped with train numbers (e.g. 12301 Rajdhani Express).</a:t>
            </a:r>
          </a:p>
          <a:p>
            <a:r>
              <a:t>- Automated Conflict Radar scanning for spatial and temporal overlaps.</a:t>
            </a:r>
          </a:p>
          <a:p>
            <a:r>
              <a:t>- Statutory 10-Minute Headway Buffer Compliance Inspector.</a:t>
            </a:r>
          </a:p>
          <a:p/>
          <a:p>
            <a:r>
              <a:t>5. How does the user use it?</a:t>
            </a:r>
          </a:p>
          <a:p>
            <a:r>
              <a:t>Controllers toggle between UP Line and DOWN Line views, hover over train paths to inspect speed profiles, click on scheduled block windows to audit adjacent trains, and run live conflict scans.</a:t>
            </a:r>
          </a:p>
          <a:p/>
          <a:p>
            <a:r>
              <a:t>6. What happens after interaction?</a:t>
            </a:r>
          </a:p>
          <a:p>
            <a:r>
              <a:t>Formally certified zero-conflict schedule with verified 10-minute headway buffers on all directional tracks.</a:t>
            </a:r>
          </a:p>
          <a:p/>
          <a:p>
            <a:r>
              <a:t>7. Why is this feature useful (Operational Impact)?</a:t>
            </a:r>
          </a:p>
          <a:p>
            <a:r>
              <a:t>Practical Example: A controller schedules an OHE maintenance block on the UP Line between Ghaziabad and Aligarh from 07:00 to 09:00. The conflict engine checks all UP trains, notes that Rajdhani Express passes at 06:46 (+14m buffer) and Gomti Express at 09:12 (+12m buffer), certifying the block window as 100% compliant.</a:t>
            </a:r>
          </a:p>
          <a:p>
            <a:r>
              <a:t>Conversational Pitch: "This screen is our safety proof. It cross-examines all 72 maintenance blocks against 1,819 timetabled passenger trains across both UP and DOWN lines, proving with mathematical certainty that every single train maintains at least 10 minutes of buffer."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09 VIVA DEFENSE SCRIPT: 9. AI Risk &amp; Priority</a:t>
            </a:r>
          </a:p>
          <a:p>
            <a:r>
              <a:t>--------------------------------------------------------------------------------</a:t>
            </a:r>
          </a:p>
          <a:p>
            <a:r>
              <a:t>1. What am I showing?</a:t>
            </a:r>
          </a:p>
          <a:p>
            <a:r>
              <a:t>I am presenting Section 09 of ABPS v4.0, which is the 9. AI Risk &amp; Priority view (/?tab=ai_priority), engineered for the INTELLIGENCE operational tier of Delhi Division.</a:t>
            </a:r>
          </a:p>
          <a:p/>
          <a:p>
            <a:r>
              <a:t>2. What is this section?</a:t>
            </a:r>
          </a:p>
          <a:p>
            <a:r>
              <a:t>AI Risk &amp; Priority is the predictive intelligence and explainable AI (XAI) dashboard of ABPS v4.0. It reveals how machine learning models and physics degradation equations compute asset failure risk and maintenance urgency.</a:t>
            </a:r>
          </a:p>
          <a:p/>
          <a:p>
            <a:r>
              <a:t>3. Why does it exist?</a:t>
            </a:r>
          </a:p>
          <a:p>
            <a:r>
              <a:t>Railway engineers cannot trust 'black box' AI models when passenger lives are at stake. This section makes every AI prediction fully transparent, explainable, and accountable using SHAP values and physical degradation laws.</a:t>
            </a:r>
          </a:p>
          <a:p/>
          <a:p>
            <a:r>
              <a:t>4. What are its main features?</a:t>
            </a:r>
          </a:p>
          <a:p>
            <a:r>
              <a:t>- XGBoost v2.4 Champion Model Telemetry Banner showing PR-AUC (0.3138) and Brier Score (0.0812).</a:t>
            </a:r>
          </a:p>
          <a:p>
            <a:r>
              <a:t>- Asset Risk Breakdown &amp; Physics-Informed Weibull Hazard Curves plotting failure probability over time.</a:t>
            </a:r>
          </a:p>
          <a:p>
            <a:r>
              <a:t>- Deterministic Safety Override Policy Panel locking critical rail defects to Priority &gt;= 90.0.</a:t>
            </a:r>
          </a:p>
          <a:p>
            <a:r>
              <a:t>- Local SHAP Feature Attribution Chart explaining exact positive and negative factor weights.</a:t>
            </a:r>
          </a:p>
          <a:p/>
          <a:p>
            <a:r>
              <a:t>5. How does the user use it?</a:t>
            </a:r>
          </a:p>
          <a:p>
            <a:r>
              <a:t>Controllers select any asset ID to view its customized Weibull wear-out curve, inspect which factors (tonnage, temperature, age) pushed its risk score up, and verify safety override rules.</a:t>
            </a:r>
          </a:p>
          <a:p/>
          <a:p>
            <a:r>
              <a:t>6. What happens after interaction?</a:t>
            </a:r>
          </a:p>
          <a:p>
            <a:r>
              <a:t>Transparent, auditable priority score (0-100) with full mathematical and feature-level justification.</a:t>
            </a:r>
          </a:p>
          <a:p/>
          <a:p>
            <a:r>
              <a:t>7. Why is this feature useful (Operational Impact)?</a:t>
            </a:r>
          </a:p>
          <a:p>
            <a:r>
              <a:t>Practical Example: A track section at KM 142/8 has an AI risk score of 96.7. Opening the SHAP chart, the engineer sees Track Age (+0.104) and High Summer Temperature (+0.047) drove the score up, while recent tamping (-0.032) slightly reduced it, justifying an immediate block.</a:t>
            </a:r>
          </a:p>
          <a:p>
            <a:r>
              <a:t>Conversational Pitch: "Our AI is not a black box. We combine an XGBoost champion model with physics-based Weibull degradation curves, and explain every decision using SHAP feature attributions. When rail safety is involved, deterministic rules override AI to guarantee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10 VIVA DEFENSE SCRIPT: 10. Failure Intelligence</a:t>
            </a:r>
          </a:p>
          <a:p>
            <a:r>
              <a:t>--------------------------------------------------------------------------------</a:t>
            </a:r>
          </a:p>
          <a:p>
            <a:r>
              <a:t>1. What am I showing?</a:t>
            </a:r>
          </a:p>
          <a:p>
            <a:r>
              <a:t>I am presenting Section 10 of ABPS v4.0, which is the 10. Failure Intelligence view (/?tab=failure_intelligence), engineered for the INTELLIGENCE operational tier of Delhi Division.</a:t>
            </a:r>
          </a:p>
          <a:p/>
          <a:p>
            <a:r>
              <a:t>2. What is this section?</a:t>
            </a:r>
          </a:p>
          <a:p>
            <a:r>
              <a:t>Failure Intelligence is the reliability engineering and incident analytics hub of ABPS v4.0. It mines historical breakdown logs to identify failure patterns, recurring defect clusters, and asset MTBF trends.</a:t>
            </a:r>
          </a:p>
          <a:p/>
          <a:p>
            <a:r>
              <a:t>3. Why does it exist?</a:t>
            </a:r>
          </a:p>
          <a:p>
            <a:r>
              <a:t>Without historical failure intelligence, railways continually repair the same defective assets without resolving systemic root causes. This section shifts operations from repetitive firefighting to long-term reliability engineering.</a:t>
            </a:r>
          </a:p>
          <a:p/>
          <a:p>
            <a:r>
              <a:t>4. What are its main features?</a:t>
            </a:r>
          </a:p>
          <a:p>
            <a:r>
              <a:t>- UIMS Unscheduled Incident Metrics Header displaying total incidents, MTBF, and mean repair hours.</a:t>
            </a:r>
          </a:p>
          <a:p>
            <a:r>
              <a:t>- Chronological Failure Timeline tracking historical track fractures, signal failures, and OHE flashovers.</a:t>
            </a:r>
          </a:p>
          <a:p>
            <a:r>
              <a:t>- Root-Cause Pareto Chart highlighting the 20% of failure modes responsible for 80% of train delays.</a:t>
            </a:r>
          </a:p>
          <a:p>
            <a:r>
              <a:t>- Asset Sub-System Reliability Matrix (Track, OHE, Signaling, Interlocking).</a:t>
            </a:r>
          </a:p>
          <a:p/>
          <a:p>
            <a:r>
              <a:t>5. How does the user use it?</a:t>
            </a:r>
          </a:p>
          <a:p>
            <a:r>
              <a:t>Reliability engineers filter failures by department and section, analyze the root-cause Pareto chart to spot recurring defective batches (e.g. faulty insulator series), and export reliability dossiers.</a:t>
            </a:r>
          </a:p>
          <a:p/>
          <a:p>
            <a:r>
              <a:t>6. What happens after interaction?</a:t>
            </a:r>
          </a:p>
          <a:p>
            <a:r>
              <a:t>Empirical MTBF benchmarks, root-cause Pareto distributions, and preventative work orders automatically injected into the Asset Backlog.</a:t>
            </a:r>
          </a:p>
          <a:p/>
          <a:p>
            <a:r>
              <a:t>7. Why is this feature useful (Operational Impact)?</a:t>
            </a:r>
          </a:p>
          <a:p>
            <a:r>
              <a:t>Practical Example: Analysis of the Kanpur-Prayagraj section reveals an MTBF drop from 720 hours to 180 hours on point machine motors. Failure Intelligence traces this to water ingress during monsoon, automatically issuing an urgent drainage clearing work order.</a:t>
            </a:r>
          </a:p>
          <a:p>
            <a:r>
              <a:t>Conversational Pitch: "Failure Intelligence transforms Indian Railways' historical incident data into actionable foresight. By analyzing UIMS breakdown logs with MTBF and Pareto analytics, we pinpoint recurring defect hotspots and stop failures before they stop trains."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 VIVA DEFENSE SCRIPT: 11. Asset Health</a:t>
            </a:r>
          </a:p>
          <a:p>
            <a:r>
              <a:t>--------------------------------------------------------------------------------</a:t>
            </a:r>
          </a:p>
          <a:p>
            <a:r>
              <a:t>1. What am I showing?</a:t>
            </a:r>
          </a:p>
          <a:p>
            <a:r>
              <a:t>I am presenting Section 11 of ABPS v4.0, which is the 11. Asset Health view (/?tab=asset_health), engineered for the INTELLIGENCE operational tier of Delhi Division.</a:t>
            </a:r>
          </a:p>
          <a:p/>
          <a:p>
            <a:r>
              <a:t>2. What is this section?</a:t>
            </a:r>
          </a:p>
          <a:p>
            <a:r>
              <a:t>Asset Health is the physical infrastructure health telemetry center of ABPS v4.0. It tracks the real-time condition, wear rate, and inspection history of all 12,000 canonical railway assets across the division.</a:t>
            </a:r>
          </a:p>
          <a:p/>
          <a:p>
            <a:r>
              <a:t>3. Why does it exist?</a:t>
            </a:r>
          </a:p>
          <a:p>
            <a:r>
              <a:t>Railway infrastructure degrades continuously under heavy axle loads and extreme weather. Without asset-level condition monitoring, maintenance is either performed too late (causing accidents) or too early (wasting budget).</a:t>
            </a:r>
          </a:p>
          <a:p/>
          <a:p>
            <a:r>
              <a:t>4. What are its main features?</a:t>
            </a:r>
          </a:p>
          <a:p>
            <a:r>
              <a:t>- 12,000 Canonical Assets Coverage Header displaying overall division health index (98.4%).</a:t>
            </a:r>
          </a:p>
          <a:p>
            <a:r>
              <a:t>- Ultrasonic Flaw Detection (USFD) Scan Telemetry showing rail flaw depth, crack growth, and tolerance thresholds.</a:t>
            </a:r>
          </a:p>
          <a:p>
            <a:r>
              <a:t>- Department Asset Distribution (Track rails, OHE mast structures, Point machines, Track circuits).</a:t>
            </a:r>
          </a:p>
          <a:p>
            <a:r>
              <a:t>- Track Quality Index (TQI) and Rail Condition Index (RCI) wear gauges.</a:t>
            </a:r>
          </a:p>
          <a:p/>
          <a:p>
            <a:r>
              <a:t>5. How does the user use it?</a:t>
            </a:r>
          </a:p>
          <a:p>
            <a:r>
              <a:t>Engineers search for specific asset IDs or track kilometers, review USFD flaw scan history, inspect accumulated Gross Million Tonnes (GMT), and verify required maintenance machinery.</a:t>
            </a:r>
          </a:p>
          <a:p/>
          <a:p>
            <a:r>
              <a:t>6. What happens after interaction?</a:t>
            </a:r>
          </a:p>
          <a:p>
            <a:r>
              <a:t>High-fidelity asset health cards, degradation trajectory curves, and automated work orders with pre-populated machinery requirements.</a:t>
            </a:r>
          </a:p>
          <a:p/>
          <a:p>
            <a:r>
              <a:t>7. Why is this feature useful (Operational Impact)?</a:t>
            </a:r>
          </a:p>
          <a:p>
            <a:r>
              <a:t>Practical Example: During routine USFD car testing, rail TRK-DH01-0428 at KM 142/8 shows an internal transverse fissure of 2.4 mm (limit 3.0 mm). Asset Health immediately marks the asset Condition Index as 86/100, assigns Priority 96.7, and specifies a CSM Continuous Tamping machine with 8 P-Way crew.</a:t>
            </a:r>
          </a:p>
          <a:p>
            <a:r>
              <a:t>Conversational Pitch: "Asset Health monitors all 12,000 physical assets across Delhi Division. It integrates ultrasonic flaw detection scans directly into our planning pipeline, catching rail cracks millimeters before they become catastrophic derailments."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 VIVA DEFENSE SCRIPT: 12. Data Ingestion</a:t>
            </a:r>
          </a:p>
          <a:p>
            <a:r>
              <a:t>--------------------------------------------------------------------------------</a:t>
            </a:r>
          </a:p>
          <a:p>
            <a:r>
              <a:t>1. What am I showing?</a:t>
            </a:r>
          </a:p>
          <a:p>
            <a:r>
              <a:t>I am presenting Section 12 of ABPS v4.0, which is the 12. Data Ingestion view (/?tab=data_ingestion), engineered for the DATA operational tier of Delhi Division.</a:t>
            </a:r>
          </a:p>
          <a:p/>
          <a:p>
            <a:r>
              <a:t>2. What is this section?</a:t>
            </a:r>
          </a:p>
          <a:p>
            <a:r>
              <a:t>Data Ingestion is the enterprise data gateway of ABPS v4.0. It manages incoming data feeds from Indian Railways production enterprise systems (COIS, ICMS, UIMS, TMS) and handles manual CSV/JSON data uploads.</a:t>
            </a:r>
          </a:p>
          <a:p/>
          <a:p>
            <a:r>
              <a:t>3. Why does it exist?</a:t>
            </a:r>
          </a:p>
          <a:p>
            <a:r>
              <a:t>Railway operational data originates in disparate legacy systems—passenger timetables in ICMS, freight rakes in COIS, track defects in UIMS, and live signals in TMS. This section creates a clean, robust data ingestion bridge.</a:t>
            </a:r>
          </a:p>
          <a:p/>
          <a:p>
            <a:r>
              <a:t>4. What are its main features?</a:t>
            </a:r>
          </a:p>
          <a:p>
            <a:r>
              <a:t>- Multi-Source Enterprise Pipeline Status (COIS, ICMS, UIMS, TMS) showing sync frequency and latency.</a:t>
            </a:r>
          </a:p>
          <a:p>
            <a:r>
              <a:t>- Manual File Upload &amp; Batch ETL Trigger for offline timetable and track geometry updates.</a:t>
            </a:r>
          </a:p>
          <a:p>
            <a:r>
              <a:t>- Real-Time Pipeline Health Indicators (Sync Latency, Records Ingested, Error Rate).</a:t>
            </a:r>
          </a:p>
          <a:p>
            <a:r>
              <a:t>- Immutable Ingestion Audit History Table logging batch IDs, record counts, and schema hashes.</a:t>
            </a:r>
          </a:p>
          <a:p/>
          <a:p>
            <a:r>
              <a:t>5. How does the user use it?</a:t>
            </a:r>
          </a:p>
          <a:p>
            <a:r>
              <a:t>Database administrators monitor live pipeline heartbeats, upload updated timetable CSV files, inspect ingestion error logs, and trigger manual synchronization jobs.</a:t>
            </a:r>
          </a:p>
          <a:p/>
          <a:p>
            <a:r>
              <a:t>6. What happens after interaction?</a:t>
            </a:r>
          </a:p>
          <a:p>
            <a:r>
              <a:t>Clean, normalized database tables feeding the entire ABPS application suite.</a:t>
            </a:r>
          </a:p>
          <a:p/>
          <a:p>
            <a:r>
              <a:t>7. Why is this feature useful (Operational Impact)?</a:t>
            </a:r>
          </a:p>
          <a:p>
            <a:r>
              <a:t>Practical Example: A new seasonal timetable circular is issued by Northern Railway. The administrator uploads the revised timetable CSV via Data Ingestion; the pipeline validates 1,819 train records in 1.4 seconds and updates the master timetable database.</a:t>
            </a:r>
          </a:p>
          <a:p>
            <a:r>
              <a:t>Conversational Pitch: "Data Ingestion is our enterprise bridge to Indian Railways. It pulls real-time feeds from ICMS timetables, COIS freight rakes, and UIMS defect logs, standardizing millions of operational data points into a unified schema."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13 VIVA DEFENSE SCRIPT: 13. Data Quality</a:t>
            </a:r>
          </a:p>
          <a:p>
            <a:r>
              <a:t>--------------------------------------------------------------------------------</a:t>
            </a:r>
          </a:p>
          <a:p>
            <a:r>
              <a:t>1. What am I showing?</a:t>
            </a:r>
          </a:p>
          <a:p>
            <a:r>
              <a:t>I am presenting Section 13 of ABPS v4.0, which is the 13. Data Quality view (/?tab=data_quality), engineered for the DATA operational tier of Delhi Division.</a:t>
            </a:r>
          </a:p>
          <a:p/>
          <a:p>
            <a:r>
              <a:t>2. What is this section?</a:t>
            </a:r>
          </a:p>
          <a:p>
            <a:r>
              <a:t>Data Quality is the automated data validation and schema integrity laboratory of ABPS v4.0. It continuously audits all 21 canonical datasets powering the optimization engine.</a:t>
            </a:r>
          </a:p>
          <a:p/>
          <a:p>
            <a:r>
              <a:t>3. Why does it exist?</a:t>
            </a:r>
          </a:p>
          <a:p>
            <a:r>
              <a:t>Garbage in, garbage out: an optimization solver fed with missing track coordinates, negative durations, or duplicate train IDs will produce invalid or dangerous schedules. This section enforces zero-compromise data standards.</a:t>
            </a:r>
          </a:p>
          <a:p/>
          <a:p>
            <a:r>
              <a:t>4. What are its main features?</a:t>
            </a:r>
          </a:p>
          <a:p>
            <a:r>
              <a:t>- 21 Canonical Datasets Audit Matrix with 100% Pass status across all tables.</a:t>
            </a:r>
          </a:p>
          <a:p>
            <a:r>
              <a:t>- Zero-Null Constraint Verification ensuring no missing critical attributes (lat/long, speeds, line codes).</a:t>
            </a:r>
          </a:p>
          <a:p>
            <a:r>
              <a:t>- Foreign Key Referential Integrity Checker linking assets, sections, tasks, and trains.</a:t>
            </a:r>
          </a:p>
          <a:p>
            <a:r>
              <a:t>- Numerical Range Bounds Validator (e.g. Criticality score strictly bounded in [0.0, 1.0]).</a:t>
            </a:r>
          </a:p>
          <a:p/>
          <a:p>
            <a:r>
              <a:t>5. How does the user use it?</a:t>
            </a:r>
          </a:p>
          <a:p>
            <a:r>
              <a:t>Engineers review validation cards for each of the 21 datasets, inspect detailed constraint rules, and click 'Run Integrity Check' to re-verify after bulk data updates.</a:t>
            </a:r>
          </a:p>
          <a:p/>
          <a:p>
            <a:r>
              <a:t>6. What happens after interaction?</a:t>
            </a:r>
          </a:p>
          <a:p>
            <a:r>
              <a:t>Formally certified Data Quality Audit Certificate confirming 100% compliance across all 21 canonical tables.</a:t>
            </a:r>
          </a:p>
          <a:p/>
          <a:p>
            <a:r>
              <a:t>7. Why is this feature useful (Operational Impact)?</a:t>
            </a:r>
          </a:p>
          <a:p>
            <a:r>
              <a:t>Practical Example: A data import from an external track database contains a typo: a rail section with length -450 meters. The Data Quality gate immediately flags a range constraint violation, blocks database commit, and prevents the optimizer from crashing.</a:t>
            </a:r>
          </a:p>
          <a:p>
            <a:r>
              <a:t>Conversational Pitch: "Mathematical optimization requires pristine data. Our Data Quality gate audits all 21 canonical datasets—from train timetables to track geometry—enforcing zero-null rules and referential integrity with a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14 VIVA DEFENSE SCRIPT: 14. Model / Data Versions</a:t>
            </a:r>
          </a:p>
          <a:p>
            <a:r>
              <a:t>--------------------------------------------------------------------------------</a:t>
            </a:r>
          </a:p>
          <a:p>
            <a:r>
              <a:t>1. What am I showing?</a:t>
            </a:r>
          </a:p>
          <a:p>
            <a:r>
              <a:t>I am presenting Section 14 of ABPS v4.0, which is the 14. Model / Data Versions view (/?tab=model_versions), engineered for the DATA operational tier of Delhi Division.</a:t>
            </a:r>
          </a:p>
          <a:p/>
          <a:p>
            <a:r>
              <a:t>2. What is this section?</a:t>
            </a:r>
          </a:p>
          <a:p>
            <a:r>
              <a:t>Model / Data Versions is the MLOps governance and data provenance repository of ABPS v4.0. It tracks the training lineage, hyperparameters, validation benchmarks, and active production status of all AI models.</a:t>
            </a:r>
          </a:p>
          <a:p/>
          <a:p>
            <a:r>
              <a:t>3. Why does it exist?</a:t>
            </a:r>
          </a:p>
          <a:p>
            <a:r>
              <a:t>Railway operations require strict auditability. Regulators must know exactly which model version made a prediction, what training dataset it used, and how its precision was validated before it was promoted to production.</a:t>
            </a:r>
          </a:p>
          <a:p/>
          <a:p>
            <a:r>
              <a:t>4. What are its main features?</a:t>
            </a:r>
          </a:p>
          <a:p>
            <a:r>
              <a:t>- Model Governance &amp; MLflow Registry Banner displaying active Champion (XGBoost v2.4).</a:t>
            </a:r>
          </a:p>
          <a:p>
            <a:r>
              <a:t>- 6 Candidate Benchmark Leaderboard comparing XGBoost, LightGBM, CatBoost, Random Forest, Extra Trees, and Logistic Regression.</a:t>
            </a:r>
          </a:p>
          <a:p>
            <a:r>
              <a:t>- Hyperparameter Lineage Table showing learning rates, tree depths, and regularization values.</a:t>
            </a:r>
          </a:p>
          <a:p>
            <a:r>
              <a:t>- Data Version Snapshot Hash (SHA-256) tracking exact training dataset splits.</a:t>
            </a:r>
          </a:p>
          <a:p/>
          <a:p>
            <a:r>
              <a:t>5. How does the user use it?</a:t>
            </a:r>
          </a:p>
          <a:p>
            <a:r>
              <a:t>Data scientists and safety auditors review model leaderboard metrics, inspect hyperparameter differences, verify dataset snapshot hashes, and promote validated challenger models to production.</a:t>
            </a:r>
          </a:p>
          <a:p/>
          <a:p>
            <a:r>
              <a:t>6. What happens after interaction?</a:t>
            </a:r>
          </a:p>
          <a:p>
            <a:r>
              <a:t>Complete MLOps governance manifest and auditable training lineage certificates for regulatory compliance.</a:t>
            </a:r>
          </a:p>
          <a:p/>
          <a:p>
            <a:r>
              <a:t>7. Why is this feature useful (Operational Impact)?</a:t>
            </a:r>
          </a:p>
          <a:p>
            <a:r>
              <a:t>Practical Example: A new training cycle completes on 15,000 recent operational records. CatBoost achieves PR-AUC of 0.3110 versus XGBoost's 0.3138. The registry maintains XGBoost as Champion, documenting why CatBoost was kept in shadow challenger mode.</a:t>
            </a:r>
          </a:p>
          <a:p>
            <a:r>
              <a:t>Conversational Pitch: "Model / Data Versions brings enterprise MLOps governance to Indian Railways. We maintain full lineage of our training data and benchmark 6 candidate algorithms, ensuring that only the highest-precision model ever guides live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15 VIVA DEFENSE SCRIPT: 15. Human Review &amp; Audit</a:t>
            </a:r>
          </a:p>
          <a:p>
            <a:r>
              <a:t>--------------------------------------------------------------------------------</a:t>
            </a:r>
          </a:p>
          <a:p>
            <a:r>
              <a:t>1. What am I showing?</a:t>
            </a:r>
          </a:p>
          <a:p>
            <a:r>
              <a:t>I am presenting Section 15 of ABPS v4.0, which is the 15. Human Review &amp; Audit view (/?tab=approvals_audit), engineered for the CONTROL operational tier of Delhi Division.</a:t>
            </a:r>
          </a:p>
          <a:p/>
          <a:p>
            <a:r>
              <a:t>2. What is this section?</a:t>
            </a:r>
          </a:p>
          <a:p>
            <a:r>
              <a:t>Human Review &amp; Audit is the statutory human-in-the-loop governance center of ABPS v4.0. It ensures that no automated AI or solver-generated block schedule can be dispatched without explicit sign-off by a certified Level 4 (L4) Divisional Traffic Controller.</a:t>
            </a:r>
          </a:p>
          <a:p/>
          <a:p>
            <a:r>
              <a:t>3. Why does it exist?</a:t>
            </a:r>
          </a:p>
          <a:p>
            <a:r>
              <a:t>Under Indian Railways General Rules (GR), automated algorithms cannot legally execute line closures without human authorization. This screen enforces statutory human accountability, ensuring full compliance with railway safety law.</a:t>
            </a:r>
          </a:p>
          <a:p/>
          <a:p>
            <a:r>
              <a:t>4. What are its main features?</a:t>
            </a:r>
          </a:p>
          <a:p>
            <a:r>
              <a:t>- L4 Controller Review Stepper (Review Allocation -&gt; Verify Headway -&gt; Electrical Interlocks -&gt; Final Sign-Off).</a:t>
            </a:r>
          </a:p>
          <a:p>
            <a:r>
              <a:t>- Pending Block Allocation Review Card detailing corridor, lines affected, and machine transit routes.</a:t>
            </a:r>
          </a:p>
          <a:p>
            <a:r>
              <a:t>- Controller Override &amp; Modification Controls (Adjust Window, Request Re-Solve, Approve, Reject).</a:t>
            </a:r>
          </a:p>
          <a:p>
            <a:r>
              <a:t>- Mandatory Safety Checklist (OHE 25kV de-energization confirmed, SCADA power token held, discharge rods staged).</a:t>
            </a:r>
          </a:p>
          <a:p/>
          <a:p>
            <a:r>
              <a:t>5. How does the user use it?</a:t>
            </a:r>
          </a:p>
          <a:p>
            <a:r>
              <a:t>The L4 Chief Controller reviews pending block windows, checks traction power isolation readiness, clicks the 3 safety checklist checkboxes, enters approval remarks, and signs off with a secure authorization PIN.</a:t>
            </a:r>
          </a:p>
          <a:p/>
          <a:p>
            <a:r>
              <a:t>6. What happens after interaction?</a:t>
            </a:r>
          </a:p>
          <a:p>
            <a:r>
              <a:t>Legally binding, digitally signed Block Possession Authority (Form T/409) dispatched to Sectional Controllers and Station Masters.</a:t>
            </a:r>
          </a:p>
          <a:p/>
          <a:p>
            <a:r>
              <a:t>7. Why is this feature useful (Operational Impact)?</a:t>
            </a:r>
          </a:p>
          <a:p>
            <a:r>
              <a:t>Practical Example: The Chief Controller reviews Block BLK_DH01_042 (2-hour tamping at KM 142/8). The controller checks the electrical interlock box, verifies that the 10-minute headway buffer to Rajdhani Express is +14 minutes, enters badge ID 'DEL-CTRL-409', and signs the block authority.</a:t>
            </a:r>
          </a:p>
          <a:p>
            <a:r>
              <a:t>Conversational Pitch: "AI recommends, but humans decide. This screen enforces statutory Level 4 human-in-the-loop governance: no machine moves and no line closes until an authorized Divisional Traffic Controller verifies the safety checklists and signs the digital authority."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VIVA DEFENSE SCRIPT: 16. Verification Suite</a:t>
            </a:r>
          </a:p>
          <a:p>
            <a:r>
              <a:t>--------------------------------------------------------------------------------</a:t>
            </a:r>
          </a:p>
          <a:p>
            <a:r>
              <a:t>1. What am I showing?</a:t>
            </a:r>
          </a:p>
          <a:p>
            <a:r>
              <a:t>I am presenting Section 16 of ABPS v4.0, which is the 16. Verification Suite view (/?tab=verification_suite), engineered for the CONTROL operational tier of Delhi Division.</a:t>
            </a:r>
          </a:p>
          <a:p/>
          <a:p>
            <a:r>
              <a:t>2. What is this section?</a:t>
            </a:r>
          </a:p>
          <a:p>
            <a:r>
              <a:t>The Verification Suite is the mathematical proof and safety certification gate of ABPS v4.0. It executes 12 rigorous automated verification checks across 6 physical railway safety laws, certifying every schedule before execution.</a:t>
            </a:r>
          </a:p>
          <a:p/>
          <a:p>
            <a:r>
              <a:t>3. Why does it exist?</a:t>
            </a:r>
          </a:p>
          <a:p>
            <a:r>
              <a:t>Railway operations require mathematical guarantees, not heuristic guesses. This suite provides formal proof that the generated schedule violates zero physical constraints, maintains non-negative KPIs, and strictly enforces 10-minute train headways.</a:t>
            </a:r>
          </a:p>
          <a:p/>
          <a:p>
            <a:r>
              <a:t>4. What are its main features?</a:t>
            </a:r>
          </a:p>
          <a:p>
            <a:r>
              <a:t>- 12/12 Mathematical &amp; Safety Proof Checks Passed indicator (Blueprint v2 Certification).</a:t>
            </a:r>
          </a:p>
          <a:p>
            <a:r>
              <a:t>- 6 Physical Railway Safety Laws Compliance Matrix (Geospatial link, Timetable causality, Expected loss bounds, Safety overrides, Headway clearance, Shadow block integrity).</a:t>
            </a:r>
          </a:p>
          <a:p>
            <a:r>
              <a:t>- Injected Collision Detection Validator proving the safety gate reliably catches simulated errors.</a:t>
            </a:r>
          </a:p>
          <a:p>
            <a:r>
              <a:t>- Singleflight Mutex &amp; 60-Second Recompute Lock Monitor preventing concurrent solver thrashing.</a:t>
            </a:r>
          </a:p>
          <a:p/>
          <a:p>
            <a:r>
              <a:t>5. How does the user use it?</a:t>
            </a:r>
          </a:p>
          <a:p>
            <a:r>
              <a:t>Safety officers review the 12 proof cards, verify individual execution runtimes (all &lt;0.04s), review solver singleflight lock status, and export the formal safety certificate.</a:t>
            </a:r>
          </a:p>
          <a:p/>
          <a:p>
            <a:r>
              <a:t>6. What happens after interaction?</a:t>
            </a:r>
          </a:p>
          <a:p>
            <a:r>
              <a:t>Formally certified Safety Compliance Certificate (PASS) guaranteeing zero physical or mathematical violations.</a:t>
            </a:r>
          </a:p>
          <a:p/>
          <a:p>
            <a:r>
              <a:t>7. Why is this feature useful (Operational Impact)?</a:t>
            </a:r>
          </a:p>
          <a:p>
            <a:r>
              <a:t>Practical Example: During automated testing, test [7.1] artificially injects an overlapping train conflict into the schedule. The Verification Suite immediately detects the collision, proves the validator catches violations, rejects the bad plan, and restores the certified schedule.</a:t>
            </a:r>
          </a:p>
          <a:p>
            <a:r>
              <a:t>Conversational Pitch: "The Verification Suite provides formal mathematical proof of safety. Our 12-check test suite validates 6 physical railway laws in 35 milliseconds, proving with 100% certainty that every generated schedule has zero collisions and zero headway violations."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17 VIVA DEFENSE SCRIPT: 17. What-If Simulator</a:t>
            </a:r>
          </a:p>
          <a:p>
            <a:r>
              <a:t>--------------------------------------------------------------------------------</a:t>
            </a:r>
          </a:p>
          <a:p>
            <a:r>
              <a:t>1. What am I showing?</a:t>
            </a:r>
          </a:p>
          <a:p>
            <a:r>
              <a:t>I am presenting Section 17 of ABPS v4.0, which is the 17. What-If Simulator view (/?tab=what_if), engineered for the INTELLIGENCE operational tier of Delhi Division.</a:t>
            </a:r>
          </a:p>
          <a:p/>
          <a:p>
            <a:r>
              <a:t>2. What is this section?</a:t>
            </a:r>
          </a:p>
          <a:p>
            <a:r>
              <a:t>The What-If Simulator is the risk-free scenario testing laboratory of ABPS v4.0. It creates an isolated sandbox where controllers can perturb schedules, inject disruptions, and evaluate contingency plans without affecting live operations.</a:t>
            </a:r>
          </a:p>
          <a:p/>
          <a:p>
            <a:r>
              <a:t>3. Why does it exist?</a:t>
            </a:r>
          </a:p>
          <a:p>
            <a:r>
              <a:t>In high-density corridors, altering a block time or delaying a train can cause catastrophic ripple delays across dozens of subsequent trains. Controllers need a simulator to evaluate the downstream consequences of their decisions before executing them.</a:t>
            </a:r>
          </a:p>
          <a:p/>
          <a:p>
            <a:r>
              <a:t>4. What are its main features?</a:t>
            </a:r>
          </a:p>
          <a:p>
            <a:r>
              <a:t>- Isolated Simulation Sandbox Banner guaranteeing zero corruption of live operational databases.</a:t>
            </a:r>
          </a:p>
          <a:p>
            <a:r>
              <a:t>- Block Selector Dropdown and Temporal Shift Controls (-60m, -30m, +30m, +60m, +120m).</a:t>
            </a:r>
          </a:p>
          <a:p>
            <a:r>
              <a:t>- Collision Radar &amp; Infeasible Conflict Alert Banner flagging train headway infringements.</a:t>
            </a:r>
          </a:p>
          <a:p>
            <a:r>
              <a:t>- Ripple Delay Propagation Diagram modeling knock-on passenger train delays.</a:t>
            </a:r>
          </a:p>
          <a:p/>
          <a:p>
            <a:r>
              <a:t>5. How does the user use it?</a:t>
            </a:r>
          </a:p>
          <a:p>
            <a:r>
              <a:t>Controllers select a target block (e.g. 'CB_001'), click temporal shift buttons (e.g. '+120m'), click 'Run Simulation', observe the conflict alerts and ripple delay curves, and iterate until an optimal contingency is found.</a:t>
            </a:r>
          </a:p>
          <a:p/>
          <a:p>
            <a:r>
              <a:t>6. What happens after interaction?</a:t>
            </a:r>
          </a:p>
          <a:p>
            <a:r>
              <a:t>Perturbation impact report showing train conflict counts, total passenger delay minutes, and certified feasible contingency alternatives.</a:t>
            </a:r>
          </a:p>
          <a:p/>
          <a:p>
            <a:r>
              <a:t>7. Why is this feature useful (Operational Impact)?</a:t>
            </a:r>
          </a:p>
          <a:p>
            <a:r>
              <a:t>Practical Example: A track machine arrives 120 minutes late at Ghaziabad. The controller simulates shifting Block CB_001 by +120 minutes. The simulator immediately flags a red conflict: the shifted block collides with 12301 Rajdhani Express (headway buffer -35 min). The controller tests +60m instead, which clears with +18m buffer.</a:t>
            </a:r>
          </a:p>
          <a:p>
            <a:r>
              <a:t>Conversational Pitch: "The What-If Simulator provides a risk-free sandbox where controllers can ask: 'What happens if our tamping machine is delayed by 2 hours?' Our engine computes the exact ripple effects on 1,819 trains in seconds, preventing real-world operational chaos."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18 VIVA DEFENSE SCRIPT: 18. Scenario Explorer</a:t>
            </a:r>
          </a:p>
          <a:p>
            <a:r>
              <a:t>--------------------------------------------------------------------------------</a:t>
            </a:r>
          </a:p>
          <a:p>
            <a:r>
              <a:t>1. What am I showing?</a:t>
            </a:r>
          </a:p>
          <a:p>
            <a:r>
              <a:t>I am presenting Section 18 of ABPS v4.0, which is the 18. Scenario Explorer view (/?tab=scenario_explorer), engineered for the DATA operational tier of Delhi Division.</a:t>
            </a:r>
          </a:p>
          <a:p/>
          <a:p>
            <a:r>
              <a:t>2. What is this section?</a:t>
            </a:r>
          </a:p>
          <a:p>
            <a:r>
              <a:t>Scenario Explorer is the stress-testing workbench of ABPS v4.0. It catalogs 29 pre-modeled operational railway scenarios (e.g. monsoon washouts, freight derailments, power grid trips) and tests how the system responds to each.</a:t>
            </a:r>
          </a:p>
          <a:p/>
          <a:p>
            <a:r>
              <a:t>3. Why does it exist?</a:t>
            </a:r>
          </a:p>
          <a:p>
            <a:r>
              <a:t>Railway systems must be resilient against extreme, low-probability events. Rather than waiting for a real emergency, Scenario Explorer allows controllers to stress-test the system against 29 historical disruption classes.</a:t>
            </a:r>
          </a:p>
          <a:p/>
          <a:p>
            <a:r>
              <a:t>4. What are its main features?</a:t>
            </a:r>
          </a:p>
          <a:p>
            <a:r>
              <a:t>- 29 Scenarios Coverage Matrix classified by Weather, Mechanical, Signaling, and Traffic categories.</a:t>
            </a:r>
          </a:p>
          <a:p>
            <a:r>
              <a:t>- 8 Metric Tiles Coverage Ribbon displaying solve time, delay mitigation, and safety score per scenario.</a:t>
            </a:r>
          </a:p>
          <a:p>
            <a:r>
              <a:t>- Scenario Category Filter &amp; Search input for rapid retrieval.</a:t>
            </a:r>
          </a:p>
          <a:p>
            <a:r>
              <a:t>- Scenario Detail Modal with simulated disruption parameters and timeline impact.</a:t>
            </a:r>
          </a:p>
          <a:p/>
          <a:p>
            <a:r>
              <a:t>5. How does the user use it?</a:t>
            </a:r>
          </a:p>
          <a:p>
            <a:r>
              <a:t>Users filter scenarios by category (e.g. 'Extreme Weather'), select a scenario (e.g. 'Dense Winter Fog Speed Restrictions'), click 'Simulate Scenario', and inspect recovery metrics and generated contingency plans.</a:t>
            </a:r>
          </a:p>
          <a:p/>
          <a:p>
            <a:r>
              <a:t>6. What happens after interaction?</a:t>
            </a:r>
          </a:p>
          <a:p>
            <a:r>
              <a:t>Comprehensive stress-test scorecards verifying that the system maintains safety and restores timetable flow across all 29 scenarios.</a:t>
            </a:r>
          </a:p>
          <a:p/>
          <a:p>
            <a:r>
              <a:t>7. Why is this feature useful (Operational Impact)?</a:t>
            </a:r>
          </a:p>
          <a:p>
            <a:r>
              <a:t>Practical Example: During winter timetable prep, the committee tests Scenario #14 ('Dense Fog: 60 km/h Speed Restriction across Delhi-Aligarh'). The engine re-calculates block windows, spreads headway buffers to 15 minutes, and delivers a fog-resilient schedule.</a:t>
            </a:r>
          </a:p>
          <a:p>
            <a:r>
              <a:t>Conversational Pitch: "Scenario Explorer proves our system's robustness. We catalog 29 operational disruption scenarios—from severe monsoons to signaling failures—and prove that ABPS successfully mitigates every single one within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Defense:</a:t>
            </a:r>
          </a:p>
          <a:p>
            <a:r>
              <a:t>Our 18 sections are not isolated silo pages; they form an unbroken operational continuum. A field engineer submits a requisition in Section 03, the CP-SAT engine schedules it in Section 04, the Coordination Centre in Section 06 consolidates it with other departments into a shadow block, and Section 16 formally verifies mathematical safety before dispatch. Every interaction feeds the system forward.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 Rigor Defense:</a:t>
            </a:r>
          </a:p>
          <a:p>
            <a:r>
              <a:t>Our system is grounded in mathematical optimization using Google OR-Tools CP-SAT. Unlike heuristic algorithms that can produce subtle schedule clashes, CP-SAT is an exact constraint programming solver that mathematically proves the absence of train collisions under the statutory 10-minute headway requirement. The 12-check verification suite provides continuous formal certification for railway regulatory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Concluding Viva Defense Statement:</a:t>
            </a:r>
          </a:p>
          <a:p>
            <a:r>
              <a:t>In conclusion, the Automated Block Planning System (ABPS v4.0) delivers a complete, production-tested, and mathematically certified solution to Indian Railways. It replaces intuition and negotiation with deterministic optimization, eliminating train delays, guaranteeing worker safety through strict 25kV power isolation rules, and unlocking vital network capacity across Delhi Division. We are ready for questions from the evaluation committee.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defRPr sz="3600" b="1">
                <a:solidFill>
                  <a:srgbClr val="D96F13"/>
                </a:solidFill>
              </a:defRPr>
            </a:pPr>
            <a:r>
              <a:t>AUTOMATED BLOCK PLANNING SYSTEM</a:t>
            </a:r>
          </a:p>
          <a:p>
            <a:pPr>
              <a:defRPr sz="1800">
                <a:solidFill>
                  <a:srgbClr val="F1F5F9"/>
                </a:solidFill>
              </a:defRPr>
            </a:pPr>
            <a:r>
              <a:t>Comprehensive 18-Section Website UI Walkthrough, Mathematical Optimization &amp; Operational Defense (ABPS v4.0)</a:t>
            </a:r>
          </a:p>
          <a:p>
            <a:br/>
            <a:pPr>
              <a:defRPr sz="1300">
                <a:solidFill>
                  <a:srgbClr val="94A3B8"/>
                </a:solidFill>
              </a:defRPr>
            </a:pPr>
            <a:r>
              <a:t>Ministry of Railways · Smart India Hackathon 2026 · Delhi Division (Delhi-Howrah 1,447 km Mainline)</a:t>
            </a:r>
          </a:p>
          <a:p>
            <a:pPr>
              <a:defRPr sz="1200">
                <a:solidFill>
                  <a:srgbClr val="D96F13"/>
                </a:solidFill>
              </a:defRPr>
            </a:pPr>
            <a:r>
              <a:t>Tech Stack: React 18 + Vite | Go Fiber Gateway | Google OR-Tools CP-SAT | PostgreSQL 16 + Redis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SYSTEM ARCHITECTURE &amp; 5-TIER OPERATIONAL HIERARCHY</a:t>
            </a:r>
          </a:p>
          <a:p>
            <a:pPr>
              <a:defRPr sz="1100">
                <a:solidFill>
                  <a:srgbClr val="D96F13"/>
                </a:solidFill>
              </a:defRPr>
            </a:pPr>
            <a:r>
              <a:t>Comprehensive 18-Section Operational Flow from Raw Data to Certified Dispatch</a:t>
            </a:r>
          </a:p>
        </p:txBody>
      </p:sp>
      <p:sp>
        <p:nvSpPr>
          <p:cNvPr id="5" name="Rectangle 4"/>
          <p:cNvSpPr/>
          <p:nvPr/>
        </p:nvSpPr>
        <p:spPr>
          <a:xfrm>
            <a:off x="548640" y="1280160"/>
            <a:ext cx="2057400" cy="5029200"/>
          </a:xfrm>
          <a:prstGeom prst="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2563EB"/>
                </a:solidFill>
              </a:defRPr>
            </a:pPr>
            <a:r>
              <a:t>1. OPERATIONS</a:t>
            </a:r>
            <a:br/>
          </a:p>
          <a:p>
            <a:pPr>
              <a:defRPr sz="1000">
                <a:solidFill>
                  <a:srgbClr val="334155"/>
                </a:solidFill>
              </a:defRPr>
            </a:pPr>
            <a:r>
              <a:t>• 01. Dashboard / GIS Map</a:t>
            </a:r>
            <a:br/>
            <a:r>
              <a:t>• 02. Asset Backlog</a:t>
            </a:r>
            <a:br/>
            <a:r>
              <a:t>• 03. Task Generator</a:t>
            </a:r>
            <a:br/>
            <a:r>
              <a:t>• 04. Weekly Block Planner</a:t>
            </a:r>
            <a:br/>
            <a:r>
              <a:t>• 05. Monthly Forecast</a:t>
            </a:r>
          </a:p>
        </p:txBody>
      </p:sp>
      <p:sp>
        <p:nvSpPr>
          <p:cNvPr id="6" name="Rectangle 5"/>
          <p:cNvSpPr/>
          <p:nvPr/>
        </p:nvSpPr>
        <p:spPr>
          <a:xfrm>
            <a:off x="2788920" y="1280160"/>
            <a:ext cx="2057400" cy="5029200"/>
          </a:xfrm>
          <a:prstGeom prst="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0B981"/>
                </a:solidFill>
              </a:defRPr>
            </a:pPr>
            <a:r>
              <a:t>2. COORDINATION</a:t>
            </a:r>
            <a:br/>
          </a:p>
          <a:p>
            <a:pPr>
              <a:defRPr sz="1000">
                <a:solidFill>
                  <a:srgbClr val="334155"/>
                </a:solidFill>
              </a:defRPr>
            </a:pPr>
            <a:r>
              <a:t>• 06. Coordination Centre</a:t>
            </a:r>
            <a:br/>
            <a:r>
              <a:t>• 07. Integrated / Shadow Blocks</a:t>
            </a:r>
            <a:br/>
            <a:r>
              <a:t>• 08. Train &amp; Block Conflicts</a:t>
            </a:r>
          </a:p>
        </p:txBody>
      </p:sp>
      <p:sp>
        <p:nvSpPr>
          <p:cNvPr id="7" name="Rectangle 6"/>
          <p:cNvSpPr/>
          <p:nvPr/>
        </p:nvSpPr>
        <p:spPr>
          <a:xfrm>
            <a:off x="5029200" y="1280160"/>
            <a:ext cx="2057400" cy="5029200"/>
          </a:xfrm>
          <a:prstGeom prst="rect">
            <a:avLst/>
          </a:prstGeom>
          <a:solidFill>
            <a:srgbClr val="F8FAFC"/>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7C3AED"/>
                </a:solidFill>
              </a:defRPr>
            </a:pPr>
            <a:r>
              <a:t>3. INTELLIGENCE</a:t>
            </a:r>
            <a:br/>
          </a:p>
          <a:p>
            <a:pPr>
              <a:defRPr sz="1000">
                <a:solidFill>
                  <a:srgbClr val="334155"/>
                </a:solidFill>
              </a:defRPr>
            </a:pPr>
            <a:r>
              <a:t>• 09. AI Risk &amp; Priority</a:t>
            </a:r>
            <a:br/>
            <a:r>
              <a:t>• 10. Failure Intelligence</a:t>
            </a:r>
            <a:br/>
            <a:r>
              <a:t>• 11. Asset Health</a:t>
            </a:r>
          </a:p>
        </p:txBody>
      </p:sp>
      <p:sp>
        <p:nvSpPr>
          <p:cNvPr id="8" name="Rectangle 7"/>
          <p:cNvSpPr/>
          <p:nvPr/>
        </p:nvSpPr>
        <p:spPr>
          <a:xfrm>
            <a:off x="7269480" y="1280160"/>
            <a:ext cx="2057400" cy="5029200"/>
          </a:xfrm>
          <a:prstGeom prst="rect">
            <a:avLst/>
          </a:prstGeom>
          <a:solidFill>
            <a:srgbClr val="F8FAFC"/>
          </a:solidFill>
          <a:ln w="25400">
            <a:solidFill>
              <a:srgbClr val="D96F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D96F13"/>
                </a:solidFill>
              </a:defRPr>
            </a:pPr>
            <a:r>
              <a:t>4. DATA</a:t>
            </a:r>
            <a:br/>
          </a:p>
          <a:p>
            <a:pPr>
              <a:defRPr sz="1000">
                <a:solidFill>
                  <a:srgbClr val="334155"/>
                </a:solidFill>
              </a:defRPr>
            </a:pPr>
            <a:r>
              <a:t>• 12. Data Ingestion</a:t>
            </a:r>
            <a:br/>
            <a:r>
              <a:t>• 13. Data Quality</a:t>
            </a:r>
            <a:br/>
            <a:r>
              <a:t>• 14. Model / Data Versions</a:t>
            </a:r>
          </a:p>
        </p:txBody>
      </p:sp>
      <p:sp>
        <p:nvSpPr>
          <p:cNvPr id="9" name="Rectangle 8"/>
          <p:cNvSpPr/>
          <p:nvPr/>
        </p:nvSpPr>
        <p:spPr>
          <a:xfrm>
            <a:off x="9509760" y="1280160"/>
            <a:ext cx="2057400" cy="5029200"/>
          </a:xfrm>
          <a:prstGeom prst="rect">
            <a:avLst/>
          </a:prstGeom>
          <a:solidFill>
            <a:srgbClr val="F8FAFC"/>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DC2626"/>
                </a:solidFill>
              </a:defRPr>
            </a:pPr>
            <a:r>
              <a:t>5. CONTROL &amp; SIM</a:t>
            </a:r>
            <a:br/>
          </a:p>
          <a:p>
            <a:pPr>
              <a:defRPr sz="1000">
                <a:solidFill>
                  <a:srgbClr val="334155"/>
                </a:solidFill>
              </a:defRPr>
            </a:pPr>
            <a:r>
              <a:t>• 15. Human Review &amp; Audit</a:t>
            </a:r>
            <a:br/>
            <a:r>
              <a:t>• 16. Verification Suite</a:t>
            </a:r>
            <a:br/>
            <a:r>
              <a:t>• 17. What-If Simulator</a:t>
            </a:r>
            <a:br/>
            <a:r>
              <a:t>• 18. Scenario Explorer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GLOBAL BRANDING &amp; NAVIGATION SHELL</a:t>
            </a:r>
          </a:p>
          <a:p>
            <a:pPr>
              <a:defRPr sz="1100">
                <a:solidFill>
                  <a:srgbClr val="D96F13"/>
                </a:solidFill>
              </a:defRPr>
            </a:pPr>
            <a:r>
              <a:t>Persistent Division Header, Shift Indicators &amp; Left Command Sidebar</a:t>
            </a:r>
          </a:p>
        </p:txBody>
      </p:sp>
      <p:sp>
        <p:nvSpPr>
          <p:cNvPr id="5" name="Rectangle 4"/>
          <p:cNvSpPr/>
          <p:nvPr/>
        </p:nvSpPr>
        <p:spPr>
          <a:xfrm>
            <a:off x="548640" y="1280160"/>
            <a:ext cx="11094415" cy="50292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Enterprise Shell Architecture &amp; Navigation Design System</a:t>
            </a:r>
            <a:br/>
          </a:p>
          <a:p>
            <a:pPr>
              <a:defRPr sz="1200">
                <a:solidFill>
                  <a:srgbClr val="334155"/>
                </a:solidFill>
              </a:defRPr>
            </a:pPr>
            <a:r>
              <a:t>• Indian Railways Identity: Prominent Indian Railways crest, 'ABPS CONTROL' title, and Delhi Division jurisdiction badge.</a:t>
            </a:r>
            <a:br/>
          </a:p>
          <a:p>
            <a:pPr>
              <a:defRPr sz="1200">
                <a:solidFill>
                  <a:srgbClr val="334155"/>
                </a:solidFill>
              </a:defRPr>
            </a:pPr>
            <a:r>
              <a:t>• Working Calendar Context: Interactive calendar widget showing live planning horizon (Week 14-20 Sep 2026), shift controller, and 24-hr railway clock.</a:t>
            </a:r>
            <a:br/>
          </a:p>
          <a:p>
            <a:pPr>
              <a:defRPr sz="1200">
                <a:solidFill>
                  <a:srgbClr val="334155"/>
                </a:solidFill>
              </a:defRPr>
            </a:pPr>
            <a:r>
              <a:t>• Multi-Tier Collapsible Sidebar: Categorized navigation links across Operations, Coordination, Intelligence, Data, and Control with active saffron highlights.</a:t>
            </a:r>
            <a:br/>
          </a:p>
          <a:p>
            <a:pPr>
              <a:defRPr sz="1200">
                <a:solidFill>
                  <a:srgbClr val="334155"/>
                </a:solidFill>
              </a:defRPr>
            </a:pPr>
            <a:r>
              <a:t>• Global Notification &amp; Status: Displays live engine status ('SIMULATION MODE'), WebSocket telemetry pulse, and quick-action emergency links.</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01: 1. DASHBOARD / GIS MAP</a:t>
            </a:r>
          </a:p>
          <a:p>
            <a:pPr>
              <a:defRPr sz="1100">
                <a:solidFill>
                  <a:srgbClr val="D96F13"/>
                </a:solidFill>
              </a:defRPr>
            </a:pPr>
            <a:r>
              <a:t>Real-Time Network State, Disruption Telemetry &amp; Leaflet Asset Map</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OPERATIONS</a:t>
            </a:r>
          </a:p>
        </p:txBody>
      </p:sp>
      <p:pic>
        <p:nvPicPr>
          <p:cNvPr id="6" name="Picture 5" descr="01_dashboard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2563EB"/>
                </a:solidFill>
              </a:defRPr>
            </a:pPr>
            <a:r>
              <a:t>S01-C01 · Global Brand &amp; Divisional Shell Header [NAV]</a:t>
            </a:r>
          </a:p>
          <a:p>
            <a:pPr>
              <a:defRPr sz="900">
                <a:solidFill>
                  <a:srgbClr val="64748B"/>
                </a:solidFill>
              </a:defRPr>
            </a:pPr>
            <a:r>
              <a:t>  Establishes system context, operational jurisdiction, and verified server connec...</a:t>
            </a:r>
            <a:br/>
          </a:p>
          <a:p>
            <a:pPr>
              <a:defRPr sz="1000" b="1">
                <a:solidFill>
                  <a:srgbClr val="7C3AED"/>
                </a:solidFill>
              </a:defRPr>
            </a:pPr>
            <a:r>
              <a:t>S01-C02 · Critical KPI Telemetry Ribbon [CARD]</a:t>
            </a:r>
          </a:p>
          <a:p>
            <a:pPr>
              <a:defRPr sz="900">
                <a:solidFill>
                  <a:srgbClr val="64748B"/>
                </a:solidFill>
              </a:defRPr>
            </a:pPr>
            <a:r>
              <a:t>  Provides instant situational awareness of safety-critical tasks, approved posses...</a:t>
            </a:r>
            <a:br/>
          </a:p>
          <a:p>
            <a:pPr>
              <a:defRPr sz="1000" b="1">
                <a:solidFill>
                  <a:srgbClr val="DC2626"/>
                </a:solidFill>
              </a:defRPr>
            </a:pPr>
            <a:r>
              <a:t>S01-C03 · Maintenance Priority Queue [ALERT]</a:t>
            </a:r>
          </a:p>
          <a:p>
            <a:pPr>
              <a:defRPr sz="900">
                <a:solidFill>
                  <a:srgbClr val="64748B"/>
                </a:solidFill>
              </a:defRPr>
            </a:pPr>
            <a:r>
              <a:t>  Prevents catastrophic asset failures by ranking maintenance tasks using expected...</a:t>
            </a:r>
            <a:br/>
          </a:p>
          <a:p>
            <a:pPr>
              <a:defRPr sz="1000" b="1">
                <a:solidFill>
                  <a:srgbClr val="0891B2"/>
                </a:solidFill>
              </a:defRPr>
            </a:pPr>
            <a:r>
              <a:t>S01-C04 · Leaflet GIS Corridor Asset Map [CHART]</a:t>
            </a:r>
          </a:p>
          <a:p>
            <a:pPr>
              <a:defRPr sz="900">
                <a:solidFill>
                  <a:srgbClr val="64748B"/>
                </a:solidFill>
              </a:defRPr>
            </a:pPr>
            <a:r>
              <a:t>  Visualizes geospatial track topology, active line closures, and maintenance asse...</a:t>
            </a:r>
            <a:br/>
          </a:p>
          <a:p>
            <a:pPr>
              <a:defRPr sz="1000" b="1">
                <a:solidFill>
                  <a:srgbClr val="0891B2"/>
                </a:solidFill>
              </a:defRPr>
            </a:pPr>
            <a:r>
              <a:t>S01-C05 · Corridor Performance &amp; Punctuality Matrix [CHART]</a:t>
            </a:r>
          </a:p>
          <a:p>
            <a:pPr>
              <a:defRPr sz="900">
                <a:solidFill>
                  <a:srgbClr val="64748B"/>
                </a:solidFill>
              </a:defRPr>
            </a:pPr>
            <a:r>
              <a:t>  Monitors throughput efficiency and passenger punctuality impact across all 6 cor...</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02: 2. ASSET BACKLOG</a:t>
            </a:r>
          </a:p>
          <a:p>
            <a:pPr>
              <a:defRPr sz="1100">
                <a:solidFill>
                  <a:srgbClr val="D96F13"/>
                </a:solidFill>
              </a:defRPr>
            </a:pPr>
            <a:r>
              <a:t>Unified Multi-Department Work Order Repository &amp; Urgency Ranking</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OPERATIONS</a:t>
            </a:r>
          </a:p>
        </p:txBody>
      </p:sp>
      <p:pic>
        <p:nvPicPr>
          <p:cNvPr id="6" name="Picture 5" descr="02_asset_backlog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10B981"/>
                </a:solidFill>
              </a:defRPr>
            </a:pPr>
            <a:r>
              <a:t>S02-C01 · Departmental Quick-Filter Toolbar [ACTION]</a:t>
            </a:r>
          </a:p>
          <a:p>
            <a:pPr>
              <a:defRPr sz="900">
                <a:solidFill>
                  <a:srgbClr val="64748B"/>
                </a:solidFill>
              </a:defRPr>
            </a:pPr>
            <a:r>
              <a:t>  Allows sectional engineers to isolate work orders belonging strictly to their op...</a:t>
            </a:r>
            <a:br/>
          </a:p>
          <a:p>
            <a:pPr>
              <a:defRPr sz="1000" b="1">
                <a:solidFill>
                  <a:srgbClr val="7C3AED"/>
                </a:solidFill>
              </a:defRPr>
            </a:pPr>
            <a:r>
              <a:t>S02-C02 · Urgency &amp; Risk Distribution Cards [CARD]</a:t>
            </a:r>
          </a:p>
          <a:p>
            <a:pPr>
              <a:defRPr sz="900">
                <a:solidFill>
                  <a:srgbClr val="64748B"/>
                </a:solidFill>
              </a:defRPr>
            </a:pPr>
            <a:r>
              <a:t>  Displays current backlog risk profile and statutory deadline urgency breakdown....</a:t>
            </a:r>
            <a:br/>
          </a:p>
          <a:p>
            <a:pPr>
              <a:defRPr sz="1000" b="1">
                <a:solidFill>
                  <a:srgbClr val="D96F13"/>
                </a:solidFill>
              </a:defRPr>
            </a:pPr>
            <a:r>
              <a:t>S02-C03 · Backlog Search &amp; Corridor Filter Input [FORM]</a:t>
            </a:r>
          </a:p>
          <a:p>
            <a:pPr>
              <a:defRPr sz="900">
                <a:solidFill>
                  <a:srgbClr val="64748B"/>
                </a:solidFill>
              </a:defRPr>
            </a:pPr>
            <a:r>
              <a:t>  Enables rapid retrieval of specific maintenance jobs by physical kilometer or as...</a:t>
            </a:r>
            <a:br/>
          </a:p>
          <a:p>
            <a:pPr>
              <a:defRPr sz="1000" b="1">
                <a:solidFill>
                  <a:srgbClr val="7C3AED"/>
                </a:solidFill>
              </a:defRPr>
            </a:pPr>
            <a:r>
              <a:t>S02-C04 · Unified Asset Maintenance Task Table [CARD]</a:t>
            </a:r>
          </a:p>
          <a:p>
            <a:pPr>
              <a:defRPr sz="900">
                <a:solidFill>
                  <a:srgbClr val="64748B"/>
                </a:solidFill>
              </a:defRPr>
            </a:pPr>
            <a:r>
              <a:t>  Presents comprehensive work order details with full operational parameters....</a:t>
            </a:r>
            <a:br/>
          </a:p>
          <a:p>
            <a:pPr>
              <a:defRPr sz="1000" b="1">
                <a:solidFill>
                  <a:srgbClr val="10B981"/>
                </a:solidFill>
              </a:defRPr>
            </a:pPr>
            <a:r>
              <a:t>S02-C05 · Task Action &amp; Drawer Trigger [ACTION]</a:t>
            </a:r>
          </a:p>
          <a:p>
            <a:pPr>
              <a:defRPr sz="900">
                <a:solidFill>
                  <a:srgbClr val="64748B"/>
                </a:solidFill>
              </a:defRPr>
            </a:pPr>
            <a:r>
              <a:t>  Opens detailed engineering specifications, failure curves, and isolation checkli...</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03: 3. TASK GENERATOR</a:t>
            </a:r>
          </a:p>
          <a:p>
            <a:pPr>
              <a:defRPr sz="1100">
                <a:solidFill>
                  <a:srgbClr val="D96F13"/>
                </a:solidFill>
              </a:defRPr>
            </a:pPr>
            <a:r>
              <a:t>Cross-Departmental Maintenance Requirement Submission &amp; Constraint-Certified Block Allocation</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OPERATIONS</a:t>
            </a:r>
          </a:p>
        </p:txBody>
      </p:sp>
      <p:pic>
        <p:nvPicPr>
          <p:cNvPr id="6" name="Picture 5" descr="03_task_generator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D96F13"/>
                </a:solidFill>
              </a:defRPr>
            </a:pPr>
            <a:r>
              <a:t>S03-C01 · Cross-Department Selection Cards [FORM]</a:t>
            </a:r>
          </a:p>
          <a:p>
            <a:pPr>
              <a:defRPr sz="900">
                <a:solidFill>
                  <a:srgbClr val="64748B"/>
                </a:solidFill>
              </a:defRPr>
            </a:pPr>
            <a:r>
              <a:t>  Filters available task templates, machinery options, and safety protocols to the...</a:t>
            </a:r>
            <a:br/>
          </a:p>
          <a:p>
            <a:pPr>
              <a:defRPr sz="1000" b="1">
                <a:solidFill>
                  <a:srgbClr val="D96F13"/>
                </a:solidFill>
              </a:defRPr>
            </a:pPr>
            <a:r>
              <a:t>S03-C02 · Asset Selector &amp; Geospatial Topology Context [FORM]</a:t>
            </a:r>
          </a:p>
          <a:p>
            <a:pPr>
              <a:defRPr sz="900">
                <a:solidFill>
                  <a:srgbClr val="64748B"/>
                </a:solidFill>
              </a:defRPr>
            </a:pPr>
            <a:r>
              <a:t>  Binds the maintenance work order to an exact physical asset and operational corr...</a:t>
            </a:r>
            <a:br/>
          </a:p>
          <a:p>
            <a:pPr>
              <a:defRPr sz="1000" b="1">
                <a:solidFill>
                  <a:srgbClr val="D96F13"/>
                </a:solidFill>
              </a:defRPr>
            </a:pPr>
            <a:r>
              <a:t>S03-C03 · Maintenance Task Definition &amp; Quick Templates [FORM]</a:t>
            </a:r>
          </a:p>
          <a:p>
            <a:pPr>
              <a:defRPr sz="900">
                <a:solidFill>
                  <a:srgbClr val="64748B"/>
                </a:solidFill>
              </a:defRPr>
            </a:pPr>
            <a:r>
              <a:t>  Captures operational parameters of the requested maintenance block....</a:t>
            </a:r>
            <a:br/>
          </a:p>
          <a:p>
            <a:pPr>
              <a:defRPr sz="1000" b="1">
                <a:solidFill>
                  <a:srgbClr val="7C3AED"/>
                </a:solidFill>
              </a:defRPr>
            </a:pPr>
            <a:r>
              <a:t>S03-C04 · 8-Stage Action, Isolation &amp; Safety Stepper [CARD]</a:t>
            </a:r>
          </a:p>
          <a:p>
            <a:pPr>
              <a:defRPr sz="900">
                <a:solidFill>
                  <a:srgbClr val="64748B"/>
                </a:solidFill>
              </a:defRPr>
            </a:pPr>
            <a:r>
              <a:t>  Ensures comprehensive safety compliance and procedural rigor prior to block gran...</a:t>
            </a:r>
            <a:br/>
          </a:p>
          <a:p>
            <a:pPr>
              <a:defRPr sz="1000" b="1">
                <a:solidFill>
                  <a:srgbClr val="10B981"/>
                </a:solidFill>
              </a:defRPr>
            </a:pPr>
            <a:r>
              <a:t>S03-C05 · CP-SAT Block Window Certification &amp; Dispatch Button [ACTION]</a:t>
            </a:r>
          </a:p>
          <a:p>
            <a:pPr>
              <a:defRPr sz="900">
                <a:solidFill>
                  <a:srgbClr val="64748B"/>
                </a:solidFill>
              </a:defRPr>
            </a:pPr>
            <a:r>
              <a:t>  Submits maintenance requirement, triggers instant CP-SAT optimization, and retur...</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04: 4. WEEKLY BLOCK PLANNER</a:t>
            </a:r>
          </a:p>
          <a:p>
            <a:pPr>
              <a:defRPr sz="1100">
                <a:solidFill>
                  <a:srgbClr val="D96F13"/>
                </a:solidFill>
              </a:defRPr>
            </a:pPr>
            <a:r>
              <a:t>CP-SAT 7-Day Corridor Block Schedule &amp; Interactive Gantt Timeline</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OPERATIONS</a:t>
            </a:r>
          </a:p>
        </p:txBody>
      </p:sp>
      <p:pic>
        <p:nvPicPr>
          <p:cNvPr id="6" name="Picture 5" descr="04_weekly_planner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2563EB"/>
                </a:solidFill>
              </a:defRPr>
            </a:pPr>
            <a:r>
              <a:t>S04-C01 · Planner Date Navigator &amp; Horizon Toolbar [NAV]</a:t>
            </a:r>
          </a:p>
          <a:p>
            <a:pPr>
              <a:defRPr sz="900">
                <a:solidFill>
                  <a:srgbClr val="64748B"/>
                </a:solidFill>
              </a:defRPr>
            </a:pPr>
            <a:r>
              <a:t>  Controls the temporal window displayed on the Gantt timeline....</a:t>
            </a:r>
            <a:br/>
          </a:p>
          <a:p>
            <a:pPr>
              <a:defRPr sz="1000" b="1">
                <a:solidFill>
                  <a:srgbClr val="10B981"/>
                </a:solidFill>
              </a:defRPr>
            </a:pPr>
            <a:r>
              <a:t>S04-C02 · CP-SAT Optimization Execution Button [ACTION]</a:t>
            </a:r>
          </a:p>
          <a:p>
            <a:pPr>
              <a:defRPr sz="900">
                <a:solidFill>
                  <a:srgbClr val="64748B"/>
                </a:solidFill>
              </a:defRPr>
            </a:pPr>
            <a:r>
              <a:t>  Triggers the Google OR-Tools CP-SAT constraint solver to compute an optimal, con...</a:t>
            </a:r>
            <a:br/>
          </a:p>
          <a:p>
            <a:pPr>
              <a:defRPr sz="1000" b="1">
                <a:solidFill>
                  <a:srgbClr val="0891B2"/>
                </a:solidFill>
              </a:defRPr>
            </a:pPr>
            <a:r>
              <a:t>S04-C03 · 6 Corridor Sections Gantt Swimlanes [CHART]</a:t>
            </a:r>
          </a:p>
          <a:p>
            <a:pPr>
              <a:defRPr sz="900">
                <a:solidFill>
                  <a:srgbClr val="64748B"/>
                </a:solidFill>
              </a:defRPr>
            </a:pPr>
            <a:r>
              <a:t>  Displays spatial and temporal allocation of maintenance blocks across all corrid...</a:t>
            </a:r>
            <a:br/>
          </a:p>
          <a:p>
            <a:pPr>
              <a:defRPr sz="1000" b="1">
                <a:solidFill>
                  <a:srgbClr val="7C3AED"/>
                </a:solidFill>
              </a:defRPr>
            </a:pPr>
            <a:r>
              <a:t>S04-C04 · Assigned Corridor Possessions Table [CARD]</a:t>
            </a:r>
          </a:p>
          <a:p>
            <a:pPr>
              <a:defRPr sz="900">
                <a:solidFill>
                  <a:srgbClr val="64748B"/>
                </a:solidFill>
              </a:defRPr>
            </a:pPr>
            <a:r>
              <a:t>  Provides an auditable tabular breakdown of all scheduled blocks shown on the Gan...</a:t>
            </a:r>
            <a:br/>
          </a:p>
          <a:p>
            <a:pPr>
              <a:defRPr sz="1000" b="1">
                <a:solidFill>
                  <a:srgbClr val="DC2626"/>
                </a:solidFill>
              </a:defRPr>
            </a:pPr>
            <a:r>
              <a:t>S04-C05 · Statutory Headway Clearance Indicator [ALERT]</a:t>
            </a:r>
          </a:p>
          <a:p>
            <a:pPr>
              <a:defRPr sz="900">
                <a:solidFill>
                  <a:srgbClr val="64748B"/>
                </a:solidFill>
              </a:defRPr>
            </a:pPr>
            <a:r>
              <a:t>  Verifies that every scheduled block maintains the mandatory 10-minute buffer bef...</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05: 5. MONTHLY FORECAST</a:t>
            </a:r>
          </a:p>
          <a:p>
            <a:pPr>
              <a:defRPr sz="1100">
                <a:solidFill>
                  <a:srgbClr val="D96F13"/>
                </a:solidFill>
              </a:defRPr>
            </a:pPr>
            <a:r>
              <a:t>30-Day Strategic Corridor Capacity &amp; Multi-Horizon Possession Projections</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OPERATIONS</a:t>
            </a:r>
          </a:p>
        </p:txBody>
      </p:sp>
      <p:pic>
        <p:nvPicPr>
          <p:cNvPr id="6" name="Picture 5" descr="05_monthly_forecast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2563EB"/>
                </a:solidFill>
              </a:defRPr>
            </a:pPr>
            <a:r>
              <a:t>S05-C01 · Horizon Duration Toggle [NAV]</a:t>
            </a:r>
          </a:p>
          <a:p>
            <a:pPr>
              <a:defRPr sz="900">
                <a:solidFill>
                  <a:srgbClr val="64748B"/>
                </a:solidFill>
              </a:defRPr>
            </a:pPr>
            <a:r>
              <a:t>  Switches the view between intermediate weekly outlook and full 30-day strategic ...</a:t>
            </a:r>
            <a:br/>
          </a:p>
          <a:p>
            <a:pPr>
              <a:defRPr sz="1000" b="1">
                <a:solidFill>
                  <a:srgbClr val="0891B2"/>
                </a:solidFill>
              </a:defRPr>
            </a:pPr>
            <a:r>
              <a:t>S05-C02 · Corridor Capacity &amp; Traffic Projection Chart [CHART]</a:t>
            </a:r>
          </a:p>
          <a:p>
            <a:pPr>
              <a:defRPr sz="900">
                <a:solidFill>
                  <a:srgbClr val="64748B"/>
                </a:solidFill>
              </a:defRPr>
            </a:pPr>
            <a:r>
              <a:t>  Identifies recurring low-density traffic troughs ideal for scheduling heavy engi...</a:t>
            </a:r>
            <a:br/>
          </a:p>
          <a:p>
            <a:pPr>
              <a:defRPr sz="1000" b="1">
                <a:solidFill>
                  <a:srgbClr val="7C3AED"/>
                </a:solidFill>
              </a:defRPr>
            </a:pPr>
            <a:r>
              <a:t>S05-C03 · Multi-Horizon Day Cards Grid [CARD]</a:t>
            </a:r>
          </a:p>
          <a:p>
            <a:pPr>
              <a:defRPr sz="900">
                <a:solidFill>
                  <a:srgbClr val="64748B"/>
                </a:solidFill>
              </a:defRPr>
            </a:pPr>
            <a:r>
              <a:t>  Provides day-by-day operational summary of planned maintenance possessions acros...</a:t>
            </a:r>
            <a:br/>
          </a:p>
          <a:p>
            <a:pPr>
              <a:defRPr sz="1000" b="1">
                <a:solidFill>
                  <a:srgbClr val="0891B2"/>
                </a:solidFill>
              </a:defRPr>
            </a:pPr>
            <a:r>
              <a:t>S05-C04 · Preventive vs Emergency Workload Breakdown [CHART]</a:t>
            </a:r>
          </a:p>
          <a:p>
            <a:pPr>
              <a:defRPr sz="900">
                <a:solidFill>
                  <a:srgbClr val="64748B"/>
                </a:solidFill>
              </a:defRPr>
            </a:pPr>
            <a:r>
              <a:t>  Tracks organizational shift from reactive firefighting to predictive, planned as...</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06: 6. COORDINATION CENTRE</a:t>
            </a:r>
          </a:p>
          <a:p>
            <a:pPr>
              <a:defRPr sz="1100">
                <a:solidFill>
                  <a:srgbClr val="D96F13"/>
                </a:solidFill>
              </a:defRPr>
            </a:pPr>
            <a:r>
              <a:t>Cross-Departmental Synergy, Shadow Block Opportunities &amp; 8-Point Compatibility Matrix</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COORDINATION</a:t>
            </a:r>
          </a:p>
        </p:txBody>
      </p:sp>
      <p:pic>
        <p:nvPicPr>
          <p:cNvPr id="6" name="Picture 5" descr="06_coordination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10B981"/>
                </a:solidFill>
              </a:defRPr>
            </a:pPr>
            <a:r>
              <a:t>S06-C01 · Hero Coordination Candidate Card [ACTION]</a:t>
            </a:r>
          </a:p>
          <a:p>
            <a:pPr>
              <a:defRPr sz="900">
                <a:solidFill>
                  <a:srgbClr val="64748B"/>
                </a:solidFill>
              </a:defRPr>
            </a:pPr>
            <a:r>
              <a:t>  Spotlights the single highest-impact multi-departmental bundling opportunity rea...</a:t>
            </a:r>
            <a:br/>
          </a:p>
          <a:p>
            <a:pPr>
              <a:defRPr sz="1000" b="1">
                <a:solidFill>
                  <a:srgbClr val="DC2626"/>
                </a:solidFill>
              </a:defRPr>
            </a:pPr>
            <a:r>
              <a:t>S06-C02 · Deterministic 8-Point Compatibility Matrix [ALERT]</a:t>
            </a:r>
          </a:p>
          <a:p>
            <a:pPr>
              <a:defRPr sz="900">
                <a:solidFill>
                  <a:srgbClr val="64748B"/>
                </a:solidFill>
              </a:defRPr>
            </a:pPr>
            <a:r>
              <a:t>  Ensures physical safety by enforcing deterministic prohibitions (e.g. ballast du...</a:t>
            </a:r>
            <a:br/>
          </a:p>
          <a:p>
            <a:pPr>
              <a:defRPr sz="1000" b="1">
                <a:solidFill>
                  <a:srgbClr val="7C3AED"/>
                </a:solidFill>
              </a:defRPr>
            </a:pPr>
            <a:r>
              <a:t>S06-C03 · Canonical Synergy Principles Breakdown [CARD]</a:t>
            </a:r>
          </a:p>
          <a:p>
            <a:pPr>
              <a:defRPr sz="900">
                <a:solidFill>
                  <a:srgbClr val="64748B"/>
                </a:solidFill>
              </a:defRPr>
            </a:pPr>
            <a:r>
              <a:t>  Explains the underlying operational justification for bundling recommendations....</a:t>
            </a:r>
            <a:br/>
          </a:p>
          <a:p>
            <a:pPr>
              <a:defRPr sz="1000" b="1">
                <a:solidFill>
                  <a:srgbClr val="0891B2"/>
                </a:solidFill>
              </a:defRPr>
            </a:pPr>
            <a:r>
              <a:t>S06-C04 · Pairwise Coordination Audit Roster [CHART]</a:t>
            </a:r>
          </a:p>
          <a:p>
            <a:pPr>
              <a:defRPr sz="900">
                <a:solidFill>
                  <a:srgbClr val="64748B"/>
                </a:solidFill>
              </a:defRPr>
            </a:pPr>
            <a:r>
              <a:t>  Provides transparency and auditability for every bundled possession recommendati...</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07: 7. INTEGRATED / SHADOW BLOCKS</a:t>
            </a:r>
          </a:p>
          <a:p>
            <a:pPr>
              <a:defRPr sz="1100">
                <a:solidFill>
                  <a:srgbClr val="D96F13"/>
                </a:solidFill>
              </a:defRPr>
            </a:pPr>
            <a:r>
              <a:t>Before vs. After Optimization ROI Analysis &amp; Corridor Possessions Compression</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COORDINATION</a:t>
            </a:r>
          </a:p>
        </p:txBody>
      </p:sp>
      <p:pic>
        <p:nvPicPr>
          <p:cNvPr id="6" name="Picture 5" descr="07_shadow_blocks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S07-C01 · Optimization ROI &amp; Impact Ribbon [CARD]</a:t>
            </a:r>
          </a:p>
          <a:p>
            <a:pPr>
              <a:defRPr sz="900">
                <a:solidFill>
                  <a:srgbClr val="64748B"/>
                </a:solidFill>
              </a:defRPr>
            </a:pPr>
            <a:r>
              <a:t>  Summarizes macro-level operational improvements achieved through CP-SAT optimiza...</a:t>
            </a:r>
            <a:br/>
          </a:p>
          <a:p>
            <a:pPr>
              <a:defRPr sz="1000" b="1">
                <a:solidFill>
                  <a:srgbClr val="0891B2"/>
                </a:solidFill>
              </a:defRPr>
            </a:pPr>
            <a:r>
              <a:t>S07-C02 · Baseline vs Integrated Comparative Gantt [CHART]</a:t>
            </a:r>
          </a:p>
          <a:p>
            <a:pPr>
              <a:defRPr sz="900">
                <a:solidFill>
                  <a:srgbClr val="64748B"/>
                </a:solidFill>
              </a:defRPr>
            </a:pPr>
            <a:r>
              <a:t>  Provides unmistakable visual evidence of how block compression frees up open tra...</a:t>
            </a:r>
            <a:br/>
          </a:p>
          <a:p>
            <a:pPr>
              <a:defRPr sz="1000" b="1">
                <a:solidFill>
                  <a:srgbClr val="0891B2"/>
                </a:solidFill>
              </a:defRPr>
            </a:pPr>
            <a:r>
              <a:t>S07-C03 · Corridor Availability Gain Analysis [CHART]</a:t>
            </a:r>
          </a:p>
          <a:p>
            <a:pPr>
              <a:defRPr sz="900">
                <a:solidFill>
                  <a:srgbClr val="64748B"/>
                </a:solidFill>
              </a:defRPr>
            </a:pPr>
            <a:r>
              <a:t>  Proves that availability improvements are distributed equitably across the entir...</a:t>
            </a:r>
            <a:br/>
          </a:p>
          <a:p>
            <a:pPr>
              <a:defRPr sz="1000" b="1">
                <a:solidFill>
                  <a:srgbClr val="7C3AED"/>
                </a:solidFill>
              </a:defRPr>
            </a:pPr>
            <a:r>
              <a:t>S07-C04 · Departmental Possession Compression Ledger [CARD]</a:t>
            </a:r>
          </a:p>
          <a:p>
            <a:pPr>
              <a:defRPr sz="900">
                <a:solidFill>
                  <a:srgbClr val="64748B"/>
                </a:solidFill>
              </a:defRPr>
            </a:pPr>
            <a:r>
              <a:t>  Demonstrates that every engineering department benefits equitably without losing...</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08: 8. TRAIN &amp; BLOCK CONFLICTS</a:t>
            </a:r>
          </a:p>
          <a:p>
            <a:pPr>
              <a:defRPr sz="1100">
                <a:solidFill>
                  <a:srgbClr val="D96F13"/>
                </a:solidFill>
              </a:defRPr>
            </a:pPr>
            <a:r>
              <a:t>Directional UP/DOWN Timetable Swimlanes &amp; Statutory Headway Conflict Radar</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COORDINATION</a:t>
            </a:r>
          </a:p>
        </p:txBody>
      </p:sp>
      <p:pic>
        <p:nvPicPr>
          <p:cNvPr id="6" name="Picture 5" descr="08_train_conflicts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D96F13"/>
                </a:solidFill>
              </a:defRPr>
            </a:pPr>
            <a:r>
              <a:t>S08-C01 · Directional Track Line Selector [FORM]</a:t>
            </a:r>
          </a:p>
          <a:p>
            <a:pPr>
              <a:defRPr sz="900">
                <a:solidFill>
                  <a:srgbClr val="64748B"/>
                </a:solidFill>
              </a:defRPr>
            </a:pPr>
            <a:r>
              <a:t>  Filters timetable and conflict views by physical track direction....</a:t>
            </a:r>
            <a:br/>
          </a:p>
          <a:p>
            <a:pPr>
              <a:defRPr sz="1000" b="1">
                <a:solidFill>
                  <a:srgbClr val="7C3AED"/>
                </a:solidFill>
              </a:defRPr>
            </a:pPr>
            <a:r>
              <a:t>S08-C02 · 1,819 Timetable Trains Telemetry Banner [CARD]</a:t>
            </a:r>
          </a:p>
          <a:p>
            <a:pPr>
              <a:defRPr sz="900">
                <a:solidFill>
                  <a:srgbClr val="64748B"/>
                </a:solidFill>
              </a:defRPr>
            </a:pPr>
            <a:r>
              <a:t>  Confirms the scale of train movements audited and current collision-free status....</a:t>
            </a:r>
            <a:br/>
          </a:p>
          <a:p>
            <a:pPr>
              <a:defRPr sz="1000" b="1">
                <a:solidFill>
                  <a:srgbClr val="DC2626"/>
                </a:solidFill>
              </a:defRPr>
            </a:pPr>
            <a:r>
              <a:t>S08-C03 · Directional UP/DOWN Conflict Swimlanes [ALERT]</a:t>
            </a:r>
          </a:p>
          <a:p>
            <a:pPr>
              <a:defRPr sz="900">
                <a:solidFill>
                  <a:srgbClr val="64748B"/>
                </a:solidFill>
              </a:defRPr>
            </a:pPr>
            <a:r>
              <a:t>  Visualizes the physical separation between moving passenger trains and stationar...</a:t>
            </a:r>
            <a:br/>
          </a:p>
          <a:p>
            <a:pPr>
              <a:defRPr sz="1000" b="1">
                <a:solidFill>
                  <a:srgbClr val="10B981"/>
                </a:solidFill>
              </a:defRPr>
            </a:pPr>
            <a:r>
              <a:t>S08-C04 · Statutory 10-Minute Headway Buffer Compliance Card [ACTION]</a:t>
            </a:r>
          </a:p>
          <a:p>
            <a:pPr>
              <a:defRPr sz="900">
                <a:solidFill>
                  <a:srgbClr val="64748B"/>
                </a:solidFill>
              </a:defRPr>
            </a:pPr>
            <a:r>
              <a:t>  Provides formal mathematical certification that all blocks comply with Indian Ra...</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09: 9. AI RISK &amp; PRIORITY</a:t>
            </a:r>
          </a:p>
          <a:p>
            <a:pPr>
              <a:defRPr sz="1100">
                <a:solidFill>
                  <a:srgbClr val="D96F13"/>
                </a:solidFill>
              </a:defRPr>
            </a:pPr>
            <a:r>
              <a:t>XGBoost v2.4 Champion Model, Physics Weibull Curves &amp; SHAP Explainability</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INTELLIGENCE</a:t>
            </a:r>
          </a:p>
        </p:txBody>
      </p:sp>
      <p:pic>
        <p:nvPicPr>
          <p:cNvPr id="6" name="Picture 5" descr="09_ai_priority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S09-C01 · XGBoost Champion Model Telemetry Banner [CARD]</a:t>
            </a:r>
          </a:p>
          <a:p>
            <a:pPr>
              <a:defRPr sz="900">
                <a:solidFill>
                  <a:srgbClr val="64748B"/>
                </a:solidFill>
              </a:defRPr>
            </a:pPr>
            <a:r>
              <a:t>  Displays current production machine learning model version and offline validatio...</a:t>
            </a:r>
            <a:br/>
          </a:p>
          <a:p>
            <a:pPr>
              <a:defRPr sz="1000" b="1">
                <a:solidFill>
                  <a:srgbClr val="0891B2"/>
                </a:solidFill>
              </a:defRPr>
            </a:pPr>
            <a:r>
              <a:t>S09-C02 · Physics-Informed Weibull Hazard Curve [CHART]</a:t>
            </a:r>
          </a:p>
          <a:p>
            <a:pPr>
              <a:defRPr sz="900">
                <a:solidFill>
                  <a:srgbClr val="64748B"/>
                </a:solidFill>
              </a:defRPr>
            </a:pPr>
            <a:r>
              <a:t>  Predicts remaining useful life (RUL) and probability of breakdown before next sc...</a:t>
            </a:r>
            <a:br/>
          </a:p>
          <a:p>
            <a:pPr>
              <a:defRPr sz="1000" b="1">
                <a:solidFill>
                  <a:srgbClr val="DC2626"/>
                </a:solidFill>
              </a:defRPr>
            </a:pPr>
            <a:r>
              <a:t>S09-C03 · Deterministic Safety Override Policy Panel [ALERT]</a:t>
            </a:r>
          </a:p>
          <a:p>
            <a:pPr>
              <a:defRPr sz="900">
                <a:solidFill>
                  <a:srgbClr val="64748B"/>
                </a:solidFill>
              </a:defRPr>
            </a:pPr>
            <a:r>
              <a:t>  Ensures deterministic safety: non-negotiable safety rules override statistical p...</a:t>
            </a:r>
            <a:br/>
          </a:p>
          <a:p>
            <a:pPr>
              <a:defRPr sz="1000" b="1">
                <a:solidFill>
                  <a:srgbClr val="0891B2"/>
                </a:solidFill>
              </a:defRPr>
            </a:pPr>
            <a:r>
              <a:t>S09-C04 · Local SHAP Feature Attribution Chart [CHART]</a:t>
            </a:r>
          </a:p>
          <a:p>
            <a:pPr>
              <a:defRPr sz="900">
                <a:solidFill>
                  <a:srgbClr val="64748B"/>
                </a:solidFill>
              </a:defRPr>
            </a:pPr>
            <a:r>
              <a:t>  Provides complete explainability so controllers understand why an asset was assi...</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10: 10. FAILURE INTELLIGENCE</a:t>
            </a:r>
          </a:p>
          <a:p>
            <a:pPr>
              <a:defRPr sz="1100">
                <a:solidFill>
                  <a:srgbClr val="D96F13"/>
                </a:solidFill>
              </a:defRPr>
            </a:pPr>
            <a:r>
              <a:t>UIMS Asset Incident Logs, MTBF Analytics &amp; Root-Cause Failure Pareto</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INTELLIGENCE</a:t>
            </a:r>
          </a:p>
        </p:txBody>
      </p:sp>
      <p:pic>
        <p:nvPicPr>
          <p:cNvPr id="6" name="Picture 5" descr="10_failure_intelligence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S10-C01 · UIMS Incident Telemetry Header [CARD]</a:t>
            </a:r>
          </a:p>
          <a:p>
            <a:pPr>
              <a:defRPr sz="900">
                <a:solidFill>
                  <a:srgbClr val="64748B"/>
                </a:solidFill>
              </a:defRPr>
            </a:pPr>
            <a:r>
              <a:t>  Displays high-level reliability indicators across all divisional assets....</a:t>
            </a:r>
            <a:br/>
          </a:p>
          <a:p>
            <a:pPr>
              <a:defRPr sz="1000" b="1">
                <a:solidFill>
                  <a:srgbClr val="D96F13"/>
                </a:solidFill>
              </a:defRPr>
            </a:pPr>
            <a:r>
              <a:t>S10-C02 · Chronological Incident Timeline &amp; Filter Toolbar [FORM]</a:t>
            </a:r>
          </a:p>
          <a:p>
            <a:pPr>
              <a:defRPr sz="900">
                <a:solidFill>
                  <a:srgbClr val="64748B"/>
                </a:solidFill>
              </a:defRPr>
            </a:pPr>
            <a:r>
              <a:t>  Enables granular filtering of historical failure logs by time, location, and sev...</a:t>
            </a:r>
            <a:br/>
          </a:p>
          <a:p>
            <a:pPr>
              <a:defRPr sz="1000" b="1">
                <a:solidFill>
                  <a:srgbClr val="0891B2"/>
                </a:solidFill>
              </a:defRPr>
            </a:pPr>
            <a:r>
              <a:t>S10-C03 · Root-Cause Failure Pareto Chart [CHART]</a:t>
            </a:r>
          </a:p>
          <a:p>
            <a:pPr>
              <a:defRPr sz="900">
                <a:solidFill>
                  <a:srgbClr val="64748B"/>
                </a:solidFill>
              </a:defRPr>
            </a:pPr>
            <a:r>
              <a:t>  Identifies the vital few root causes responsible for the majority of asset break...</a:t>
            </a:r>
            <a:br/>
          </a:p>
          <a:p>
            <a:pPr>
              <a:defRPr sz="1000" b="1">
                <a:solidFill>
                  <a:srgbClr val="10B981"/>
                </a:solidFill>
              </a:defRPr>
            </a:pPr>
            <a:r>
              <a:t>S10-C04 · Preventative Remediation Action Table [ACTION]</a:t>
            </a:r>
          </a:p>
          <a:p>
            <a:pPr>
              <a:defRPr sz="900">
                <a:solidFill>
                  <a:srgbClr val="64748B"/>
                </a:solidFill>
              </a:defRPr>
            </a:pPr>
            <a:r>
              <a:t>  Converts historical intelligence into immediate preventative maintenance actions...</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11: 11. ASSET HEALTH</a:t>
            </a:r>
          </a:p>
          <a:p>
            <a:pPr>
              <a:defRPr sz="1100">
                <a:solidFill>
                  <a:srgbClr val="D96F13"/>
                </a:solidFill>
              </a:defRPr>
            </a:pPr>
            <a:r>
              <a:t>12,000 Canonical Assets Monitor, USFD Rail Flaw Telemetry &amp; Degradation Rates</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INTELLIGENCE</a:t>
            </a:r>
          </a:p>
        </p:txBody>
      </p:sp>
      <p:pic>
        <p:nvPicPr>
          <p:cNvPr id="6" name="Picture 5" descr="11_asset_health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S11-C01 · 12,000 Canonical Assets Monitor Header [CARD]</a:t>
            </a:r>
          </a:p>
          <a:p>
            <a:pPr>
              <a:defRPr sz="900">
                <a:solidFill>
                  <a:srgbClr val="64748B"/>
                </a:solidFill>
              </a:defRPr>
            </a:pPr>
            <a:r>
              <a:t>  Provides macro-level situational awareness of total physical infrastructure cond...</a:t>
            </a:r>
            <a:br/>
          </a:p>
          <a:p>
            <a:pPr>
              <a:defRPr sz="1000" b="1">
                <a:solidFill>
                  <a:srgbClr val="D96F13"/>
                </a:solidFill>
              </a:defRPr>
            </a:pPr>
            <a:r>
              <a:t>S11-C02 · Departmental Asset Health Distribution [FORM]</a:t>
            </a:r>
          </a:p>
          <a:p>
            <a:pPr>
              <a:defRPr sz="900">
                <a:solidFill>
                  <a:srgbClr val="64748B"/>
                </a:solidFill>
              </a:defRPr>
            </a:pPr>
            <a:r>
              <a:t>  Compares physical asset health across the three primary engineering disciplines....</a:t>
            </a:r>
            <a:br/>
          </a:p>
          <a:p>
            <a:pPr>
              <a:defRPr sz="1000" b="1">
                <a:solidFill>
                  <a:srgbClr val="0891B2"/>
                </a:solidFill>
              </a:defRPr>
            </a:pPr>
            <a:r>
              <a:t>S11-C03 · USFD Rail Flaw Telemetry &amp; Wear Monitor [CHART]</a:t>
            </a:r>
          </a:p>
          <a:p>
            <a:pPr>
              <a:defRPr sz="900">
                <a:solidFill>
                  <a:srgbClr val="64748B"/>
                </a:solidFill>
              </a:defRPr>
            </a:pPr>
            <a:r>
              <a:t>  Displays precision non-destructive testing (NDT) data for safety-critical track ...</a:t>
            </a:r>
            <a:br/>
          </a:p>
          <a:p>
            <a:pPr>
              <a:defRPr sz="1000" b="1">
                <a:solidFill>
                  <a:srgbClr val="10B981"/>
                </a:solidFill>
              </a:defRPr>
            </a:pPr>
            <a:r>
              <a:t>S11-C04 · Machinery &amp; Crew Requirement Specification [ACTION]</a:t>
            </a:r>
          </a:p>
          <a:p>
            <a:pPr>
              <a:defRPr sz="900">
                <a:solidFill>
                  <a:srgbClr val="64748B"/>
                </a:solidFill>
              </a:defRPr>
            </a:pPr>
            <a:r>
              <a:t>  Ensures that every maintenance block requisition has pre-verified machinery and ...</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12: 12. DATA INGESTION</a:t>
            </a:r>
          </a:p>
          <a:p>
            <a:pPr>
              <a:defRPr sz="1100">
                <a:solidFill>
                  <a:srgbClr val="D96F13"/>
                </a:solidFill>
              </a:defRPr>
            </a:pPr>
            <a:r>
              <a:t>Enterprise Railway Feeds (COIS, ICMS, UIMS, TMS) &amp; Multi-Source Pipelines</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DATA</a:t>
            </a:r>
          </a:p>
        </p:txBody>
      </p:sp>
      <p:pic>
        <p:nvPicPr>
          <p:cNvPr id="6" name="Picture 5" descr="12_data_ingestion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S12-C01 · Enterprise Ingestion Feed Status Ribbon [CARD]</a:t>
            </a:r>
          </a:p>
          <a:p>
            <a:pPr>
              <a:defRPr sz="900">
                <a:solidFill>
                  <a:srgbClr val="64748B"/>
                </a:solidFill>
              </a:defRPr>
            </a:pPr>
            <a:r>
              <a:t>  Provides real-time visibility into the health and sync latency of external railw...</a:t>
            </a:r>
            <a:br/>
          </a:p>
          <a:p>
            <a:pPr>
              <a:defRPr sz="1000" b="1">
                <a:solidFill>
                  <a:srgbClr val="D96F13"/>
                </a:solidFill>
              </a:defRPr>
            </a:pPr>
            <a:r>
              <a:t>S12-C02 · Manual File Upload &amp; Batch ETL Trigger [FORM]</a:t>
            </a:r>
          </a:p>
          <a:p>
            <a:pPr>
              <a:defRPr sz="900">
                <a:solidFill>
                  <a:srgbClr val="64748B"/>
                </a:solidFill>
              </a:defRPr>
            </a:pPr>
            <a:r>
              <a:t>  Enables offline updates of train schedules, track asset geometries, and machine ...</a:t>
            </a:r>
            <a:br/>
          </a:p>
          <a:p>
            <a:pPr>
              <a:defRPr sz="1000" b="1">
                <a:solidFill>
                  <a:srgbClr val="7C3AED"/>
                </a:solidFill>
              </a:defRPr>
            </a:pPr>
            <a:r>
              <a:t>S12-C03 · Immutable Ingestion Audit History Table [CARD]</a:t>
            </a:r>
          </a:p>
          <a:p>
            <a:pPr>
              <a:defRPr sz="900">
                <a:solidFill>
                  <a:srgbClr val="64748B"/>
                </a:solidFill>
              </a:defRPr>
            </a:pPr>
            <a:r>
              <a:t>  Maintains an auditable, tamper-evident log of all data updates across the applic...</a:t>
            </a:r>
            <a:br/>
          </a:p>
          <a:p>
            <a:pPr>
              <a:defRPr sz="1000" b="1">
                <a:solidFill>
                  <a:srgbClr val="DC2626"/>
                </a:solidFill>
              </a:defRPr>
            </a:pPr>
            <a:r>
              <a:t>S12-C04 · Validation Pipeline Telemetry &amp; Error Monitor [ALERT]</a:t>
            </a:r>
          </a:p>
          <a:p>
            <a:pPr>
              <a:defRPr sz="900">
                <a:solidFill>
                  <a:srgbClr val="64748B"/>
                </a:solidFill>
              </a:defRPr>
            </a:pPr>
            <a:r>
              <a:t>  Confirms that incoming data meets strict relational and referential integrity st...</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13: 13. DATA QUALITY</a:t>
            </a:r>
          </a:p>
          <a:p>
            <a:pPr>
              <a:defRPr sz="1100">
                <a:solidFill>
                  <a:srgbClr val="D96F13"/>
                </a:solidFill>
              </a:defRPr>
            </a:pPr>
            <a:r>
              <a:t>21 Canonical Datasets Audit, Zero-Null Referential Integrity &amp; Schema Gate</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DATA</a:t>
            </a:r>
          </a:p>
        </p:txBody>
      </p:sp>
      <p:pic>
        <p:nvPicPr>
          <p:cNvPr id="6" name="Picture 5" descr="13_data_quality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S13-C01 · 21 Canonical Datasets Audit Overview [CARD]</a:t>
            </a:r>
          </a:p>
          <a:p>
            <a:pPr>
              <a:defRPr sz="900">
                <a:solidFill>
                  <a:srgbClr val="64748B"/>
                </a:solidFill>
              </a:defRPr>
            </a:pPr>
            <a:r>
              <a:t>  Summarizes complete data health and verifies that no corrupted datasets exist in...</a:t>
            </a:r>
            <a:br/>
          </a:p>
          <a:p>
            <a:pPr>
              <a:defRPr sz="1000" b="1">
                <a:solidFill>
                  <a:srgbClr val="DC2626"/>
                </a:solidFill>
              </a:defRPr>
            </a:pPr>
            <a:r>
              <a:t>S13-C02 · Data Integrity Verification Rules Panel [ALERT]</a:t>
            </a:r>
          </a:p>
          <a:p>
            <a:pPr>
              <a:defRPr sz="900">
                <a:solidFill>
                  <a:srgbClr val="64748B"/>
                </a:solidFill>
              </a:defRPr>
            </a:pPr>
            <a:r>
              <a:t>  Displays the exact mathematical and relational assertions enforced across the da...</a:t>
            </a:r>
            <a:br/>
          </a:p>
          <a:p>
            <a:pPr>
              <a:defRPr sz="1000" b="1">
                <a:solidFill>
                  <a:srgbClr val="0891B2"/>
                </a:solidFill>
              </a:defRPr>
            </a:pPr>
            <a:r>
              <a:t>S13-C03 · Dataset-by-Dataset Verification Matrix [CHART]</a:t>
            </a:r>
          </a:p>
          <a:p>
            <a:pPr>
              <a:defRPr sz="900">
                <a:solidFill>
                  <a:srgbClr val="64748B"/>
                </a:solidFill>
              </a:defRPr>
            </a:pPr>
            <a:r>
              <a:t>  Provides individual status, row counts, and last validation timestamps for every...</a:t>
            </a:r>
            <a:br/>
          </a:p>
          <a:p>
            <a:pPr>
              <a:defRPr sz="1000" b="1">
                <a:solidFill>
                  <a:srgbClr val="10B981"/>
                </a:solidFill>
              </a:defRPr>
            </a:pPr>
            <a:r>
              <a:t>S13-C04 · Trigger Re-Validation &amp; Anomaly Export Controls [ACTION]</a:t>
            </a:r>
          </a:p>
          <a:p>
            <a:pPr>
              <a:defRPr sz="900">
                <a:solidFill>
                  <a:srgbClr val="64748B"/>
                </a:solidFill>
              </a:defRPr>
            </a:pPr>
            <a:r>
              <a:t>  Allows users to execute an on-demand integrity audit across all 21 tables in rea...</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14: 14. MODEL / DATA VERSIONS</a:t>
            </a:r>
          </a:p>
          <a:p>
            <a:pPr>
              <a:defRPr sz="1100">
                <a:solidFill>
                  <a:srgbClr val="D96F13"/>
                </a:solidFill>
              </a:defRPr>
            </a:pPr>
            <a:r>
              <a:t>Model Registry, Hyperparameter Lineage &amp; 6 Candidate Benchmark Leaderboard</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DATA</a:t>
            </a:r>
          </a:p>
        </p:txBody>
      </p:sp>
      <p:pic>
        <p:nvPicPr>
          <p:cNvPr id="6" name="Picture 5" descr="14_model_versions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S14-C01 · Model Governance &amp; Registry Banner [CARD]</a:t>
            </a:r>
          </a:p>
          <a:p>
            <a:pPr>
              <a:defRPr sz="900">
                <a:solidFill>
                  <a:srgbClr val="64748B"/>
                </a:solidFill>
              </a:defRPr>
            </a:pPr>
            <a:r>
              <a:t>  Identifies the currently deployed machine learning model serving live inference ...</a:t>
            </a:r>
            <a:br/>
          </a:p>
          <a:p>
            <a:pPr>
              <a:defRPr sz="1000" b="1">
                <a:solidFill>
                  <a:srgbClr val="0891B2"/>
                </a:solidFill>
              </a:defRPr>
            </a:pPr>
            <a:r>
              <a:t>S14-C02 · 6 Candidate Benchmark Leaderboard [CHART]</a:t>
            </a:r>
          </a:p>
          <a:p>
            <a:pPr>
              <a:defRPr sz="900">
                <a:solidFill>
                  <a:srgbClr val="64748B"/>
                </a:solidFill>
              </a:defRPr>
            </a:pPr>
            <a:r>
              <a:t>  Compares candidate model performance on identical holdout validation datasets....</a:t>
            </a:r>
            <a:br/>
          </a:p>
          <a:p>
            <a:pPr>
              <a:defRPr sz="1000" b="1">
                <a:solidFill>
                  <a:srgbClr val="7C3AED"/>
                </a:solidFill>
              </a:defRPr>
            </a:pPr>
            <a:r>
              <a:t>S14-C03 · Hyperparameter Lineage &amp; Dataset Splits [CARD]</a:t>
            </a:r>
          </a:p>
          <a:p>
            <a:pPr>
              <a:defRPr sz="900">
                <a:solidFill>
                  <a:srgbClr val="64748B"/>
                </a:solidFill>
              </a:defRPr>
            </a:pPr>
            <a:r>
              <a:t>  Maintains reproducible records of exact training configurations for every model ...</a:t>
            </a:r>
            <a:br/>
          </a:p>
          <a:p>
            <a:pPr>
              <a:defRPr sz="1000" b="1">
                <a:solidFill>
                  <a:srgbClr val="10B981"/>
                </a:solidFill>
              </a:defRPr>
            </a:pPr>
            <a:r>
              <a:t>S14-C04 · Champion Promotion &amp; Hot-Swap Action Button [ACTION]</a:t>
            </a:r>
          </a:p>
          <a:p>
            <a:pPr>
              <a:defRPr sz="900">
                <a:solidFill>
                  <a:srgbClr val="64748B"/>
                </a:solidFill>
              </a:defRPr>
            </a:pPr>
            <a:r>
              <a:t>  Enables zero-downtime hot-swapping of production machine learning models....</a:t>
            </a:r>
            <a:br/>
          </a:p>
          <a:p>
            <a:pPr>
              <a:defRPr sz="1000" b="1">
                <a:solidFill>
                  <a:srgbClr val="2563EB"/>
                </a:solidFill>
              </a:defRPr>
            </a:pPr>
            <a:r>
              <a:t>S14-C05 · Data Version Snapshot Hash Card [NAV]</a:t>
            </a:r>
          </a:p>
          <a:p>
            <a:pPr>
              <a:defRPr sz="900">
                <a:solidFill>
                  <a:srgbClr val="64748B"/>
                </a:solidFill>
              </a:defRPr>
            </a:pPr>
            <a:r>
              <a:t>  Links each trained model to the exact immutable snapshot of operational data it ...</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15: 15. HUMAN REVIEW &amp; AUDIT</a:t>
            </a:r>
          </a:p>
          <a:p>
            <a:pPr>
              <a:defRPr sz="1100">
                <a:solidFill>
                  <a:srgbClr val="D96F13"/>
                </a:solidFill>
              </a:defRPr>
            </a:pPr>
            <a:r>
              <a:t>L4 Divisional Traffic Controller Sign-Off Stepper &amp; Immutable Dispatch Audit Trail</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CONTROL</a:t>
            </a:r>
          </a:p>
        </p:txBody>
      </p:sp>
      <p:pic>
        <p:nvPicPr>
          <p:cNvPr id="6" name="Picture 5" descr="15_approvals_audit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2563EB"/>
                </a:solidFill>
              </a:defRPr>
            </a:pPr>
            <a:r>
              <a:t>S15-C01 · L4 Controller Multi-Stage Review Stepper [NAV]</a:t>
            </a:r>
          </a:p>
          <a:p>
            <a:pPr>
              <a:defRPr sz="900">
                <a:solidFill>
                  <a:srgbClr val="64748B"/>
                </a:solidFill>
              </a:defRPr>
            </a:pPr>
            <a:r>
              <a:t>  Guides the Chief Controller through mandatory statutory verification stages in r...</a:t>
            </a:r>
            <a:br/>
          </a:p>
          <a:p>
            <a:pPr>
              <a:defRPr sz="1000" b="1">
                <a:solidFill>
                  <a:srgbClr val="7C3AED"/>
                </a:solidFill>
              </a:defRPr>
            </a:pPr>
            <a:r>
              <a:t>S15-C02 · Pending Block Allocation Review Card [CARD]</a:t>
            </a:r>
          </a:p>
          <a:p>
            <a:pPr>
              <a:defRPr sz="900">
                <a:solidFill>
                  <a:srgbClr val="64748B"/>
                </a:solidFill>
              </a:defRPr>
            </a:pPr>
            <a:r>
              <a:t>  Presents all operational parameters of the pending block allocation for human ve...</a:t>
            </a:r>
            <a:br/>
          </a:p>
          <a:p>
            <a:pPr>
              <a:defRPr sz="1000" b="1">
                <a:solidFill>
                  <a:srgbClr val="10B981"/>
                </a:solidFill>
              </a:defRPr>
            </a:pPr>
            <a:r>
              <a:t>S15-C03 · Controller Decision &amp; Override Controls [ACTION]</a:t>
            </a:r>
          </a:p>
          <a:p>
            <a:pPr>
              <a:defRPr sz="900">
                <a:solidFill>
                  <a:srgbClr val="64748B"/>
                </a:solidFill>
              </a:defRPr>
            </a:pPr>
            <a:r>
              <a:t>  Empowers the human controller with final, unappealable decision authority over a...</a:t>
            </a:r>
            <a:br/>
          </a:p>
          <a:p>
            <a:pPr>
              <a:defRPr sz="1000" b="1">
                <a:solidFill>
                  <a:srgbClr val="DC2626"/>
                </a:solidFill>
              </a:defRPr>
            </a:pPr>
            <a:r>
              <a:t>S15-C04 · Mandatory Safety &amp; Interlock Checklist [ALERT]</a:t>
            </a:r>
          </a:p>
          <a:p>
            <a:pPr>
              <a:defRPr sz="900">
                <a:solidFill>
                  <a:srgbClr val="64748B"/>
                </a:solidFill>
              </a:defRPr>
            </a:pPr>
            <a:r>
              <a:t>  Enforces non-negotiable physical life-safety pre-conditions before crews step on...</a:t>
            </a:r>
            <a:br/>
          </a:p>
          <a:p>
            <a:pPr>
              <a:defRPr sz="1000" b="1">
                <a:solidFill>
                  <a:srgbClr val="0891B2"/>
                </a:solidFill>
              </a:defRPr>
            </a:pPr>
            <a:r>
              <a:t>S15-C05 · Immutable Dispatch Audit Trail Record [CHART]</a:t>
            </a:r>
          </a:p>
          <a:p>
            <a:pPr>
              <a:defRPr sz="900">
                <a:solidFill>
                  <a:srgbClr val="64748B"/>
                </a:solidFill>
              </a:defRPr>
            </a:pPr>
            <a:r>
              <a:t>  Creates an immutable, legally binding digital record of the dispatch authority....</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16: 16. VERIFICATION SUITE</a:t>
            </a:r>
          </a:p>
          <a:p>
            <a:pPr>
              <a:defRPr sz="1100">
                <a:solidFill>
                  <a:srgbClr val="D96F13"/>
                </a:solidFill>
              </a:defRPr>
            </a:pPr>
            <a:r>
              <a:t>6 Physical Railway Safety Laws, 12/12 Mathematical Proof Invariants &amp; Solver Telemetry</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CONTROL</a:t>
            </a:r>
          </a:p>
        </p:txBody>
      </p:sp>
      <p:pic>
        <p:nvPicPr>
          <p:cNvPr id="6" name="Picture 5" descr="16_verification_suite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DC2626"/>
                </a:solidFill>
              </a:defRPr>
            </a:pPr>
            <a:r>
              <a:t>S16-C01 · 12/12 Mathematical Proof Gate Header [ALERT]</a:t>
            </a:r>
          </a:p>
          <a:p>
            <a:pPr>
              <a:defRPr sz="900">
                <a:solidFill>
                  <a:srgbClr val="64748B"/>
                </a:solidFill>
              </a:defRPr>
            </a:pPr>
            <a:r>
              <a:t>  Declares formal mathematical and statutory safety certification of the active sc...</a:t>
            </a:r>
            <a:br/>
          </a:p>
          <a:p>
            <a:pPr>
              <a:defRPr sz="1000" b="1">
                <a:solidFill>
                  <a:srgbClr val="0891B2"/>
                </a:solidFill>
              </a:defRPr>
            </a:pPr>
            <a:r>
              <a:t>S16-C02 · 6 Physical Railway Safety Laws Matrix [CHART]</a:t>
            </a:r>
          </a:p>
          <a:p>
            <a:pPr>
              <a:defRPr sz="900">
                <a:solidFill>
                  <a:srgbClr val="64748B"/>
                </a:solidFill>
              </a:defRPr>
            </a:pPr>
            <a:r>
              <a:t>  Exhibits individual verification proofs for the 6 non-negotiable physical laws o...</a:t>
            </a:r>
            <a:br/>
          </a:p>
          <a:p>
            <a:pPr>
              <a:defRPr sz="1000" b="1">
                <a:solidFill>
                  <a:srgbClr val="0891B2"/>
                </a:solidFill>
              </a:defRPr>
            </a:pPr>
            <a:r>
              <a:t>S16-C03 · Injected Collision Detection Proof Validator [CHART]</a:t>
            </a:r>
          </a:p>
          <a:p>
            <a:pPr>
              <a:defRPr sz="900">
                <a:solidFill>
                  <a:srgbClr val="64748B"/>
                </a:solidFill>
              </a:defRPr>
            </a:pPr>
            <a:r>
              <a:t>  Proves adversarial robustness: verifies that the safety validator actually catch...</a:t>
            </a:r>
            <a:br/>
          </a:p>
          <a:p>
            <a:pPr>
              <a:defRPr sz="1000" b="1">
                <a:solidFill>
                  <a:srgbClr val="7C3AED"/>
                </a:solidFill>
              </a:defRPr>
            </a:pPr>
            <a:r>
              <a:t>S16-C04 · Singleflight Mutex &amp; 60s Recompute Lock Monitor [CARD]</a:t>
            </a:r>
          </a:p>
          <a:p>
            <a:pPr>
              <a:defRPr sz="900">
                <a:solidFill>
                  <a:srgbClr val="64748B"/>
                </a:solidFill>
              </a:defRPr>
            </a:pPr>
            <a:r>
              <a:t>  Prevents race conditions and solver thrashing when multiple controllers interact...</a:t>
            </a:r>
            <a:br/>
          </a:p>
          <a:p>
            <a:pPr>
              <a:defRPr sz="1000" b="1">
                <a:solidFill>
                  <a:srgbClr val="10B981"/>
                </a:solidFill>
              </a:defRPr>
            </a:pPr>
            <a:r>
              <a:t>S16-C05 · Formal Safety Certificate Export &amp; Audit Seal [ACTION]</a:t>
            </a:r>
          </a:p>
          <a:p>
            <a:pPr>
              <a:defRPr sz="900">
                <a:solidFill>
                  <a:srgbClr val="64748B"/>
                </a:solidFill>
              </a:defRPr>
            </a:pPr>
            <a:r>
              <a:t>  Generates the official formal safety compliance certificate for regulatory filin...</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17: 17. WHAT-IF SIMULATOR</a:t>
            </a:r>
          </a:p>
          <a:p>
            <a:pPr>
              <a:defRPr sz="1100">
                <a:solidFill>
                  <a:srgbClr val="D96F13"/>
                </a:solidFill>
              </a:defRPr>
            </a:pPr>
            <a:r>
              <a:t>Dynamic Contingency Replanning, Disruption Injection &amp; Ripple Delay Sandbox</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INTELLIGENCE</a:t>
            </a:r>
          </a:p>
        </p:txBody>
      </p:sp>
      <p:pic>
        <p:nvPicPr>
          <p:cNvPr id="6" name="Picture 5" descr="17_what_if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2563EB"/>
                </a:solidFill>
              </a:defRPr>
            </a:pPr>
            <a:r>
              <a:t>S17-C01 · Simulation Sandbox Banner &amp; Reset Controls [NAV]</a:t>
            </a:r>
          </a:p>
          <a:p>
            <a:pPr>
              <a:defRPr sz="900">
                <a:solidFill>
                  <a:srgbClr val="64748B"/>
                </a:solidFill>
              </a:defRPr>
            </a:pPr>
            <a:r>
              <a:t>  Guarantees that exploratory testing never corrupts live operational schedules or...</a:t>
            </a:r>
            <a:br/>
          </a:p>
          <a:p>
            <a:pPr>
              <a:defRPr sz="1000" b="1">
                <a:solidFill>
                  <a:srgbClr val="D96F13"/>
                </a:solidFill>
              </a:defRPr>
            </a:pPr>
            <a:r>
              <a:t>S17-C02 · Target Block Selector &amp; Temporal Shift Controls [FORM]</a:t>
            </a:r>
          </a:p>
          <a:p>
            <a:pPr>
              <a:defRPr sz="900">
                <a:solidFill>
                  <a:srgbClr val="64748B"/>
                </a:solidFill>
              </a:defRPr>
            </a:pPr>
            <a:r>
              <a:t>  Simulates real-world operational delays such as machine breakdowns or train dera...</a:t>
            </a:r>
            <a:br/>
          </a:p>
          <a:p>
            <a:pPr>
              <a:defRPr sz="1000" b="1">
                <a:solidFill>
                  <a:srgbClr val="DC2626"/>
                </a:solidFill>
              </a:defRPr>
            </a:pPr>
            <a:r>
              <a:t>S17-C03 · Collision Radar &amp; Infeasible Conflict Alert Banner [ALERT]</a:t>
            </a:r>
          </a:p>
          <a:p>
            <a:pPr>
              <a:defRPr sz="900">
                <a:solidFill>
                  <a:srgbClr val="64748B"/>
                </a:solidFill>
              </a:defRPr>
            </a:pPr>
            <a:r>
              <a:t>  Alerts the controller that the simulated shift infringes upon a passenger train ...</a:t>
            </a:r>
            <a:br/>
          </a:p>
          <a:p>
            <a:pPr>
              <a:defRPr sz="1000" b="1">
                <a:solidFill>
                  <a:srgbClr val="0891B2"/>
                </a:solidFill>
              </a:defRPr>
            </a:pPr>
            <a:r>
              <a:t>S17-C04 · Ripple Delay Propagation Analytics [CHART]</a:t>
            </a:r>
          </a:p>
          <a:p>
            <a:pPr>
              <a:defRPr sz="900">
                <a:solidFill>
                  <a:srgbClr val="64748B"/>
                </a:solidFill>
              </a:defRPr>
            </a:pPr>
            <a:r>
              <a:t>  Quantifies the total passenger delay impact across the entire division....</a:t>
            </a:r>
            <a:br/>
          </a:p>
          <a:p>
            <a:pPr>
              <a:defRPr sz="1000" b="1">
                <a:solidFill>
                  <a:srgbClr val="10B981"/>
                </a:solidFill>
              </a:defRPr>
            </a:pPr>
            <a:r>
              <a:t>S17-C05 · Alternative Feasible Schedule Recommender [ACTION]</a:t>
            </a:r>
          </a:p>
          <a:p>
            <a:pPr>
              <a:defRPr sz="900">
                <a:solidFill>
                  <a:srgbClr val="64748B"/>
                </a:solidFill>
              </a:defRPr>
            </a:pPr>
            <a:r>
              <a:t>  Provides an immediate, viable alternative when the controller's initial shift is...</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SECTION 18: 18. SCENARIO EXPLORER</a:t>
            </a:r>
          </a:p>
          <a:p>
            <a:pPr>
              <a:defRPr sz="1100">
                <a:solidFill>
                  <a:srgbClr val="D96F13"/>
                </a:solidFill>
              </a:defRPr>
            </a:pPr>
            <a:r>
              <a:t>29 Operational Disruptions Benchmark Suite &amp; Robustness Coverage Matrix</a:t>
            </a:r>
          </a:p>
        </p:txBody>
      </p:sp>
      <p:sp>
        <p:nvSpPr>
          <p:cNvPr id="5" name="Rectangle 4"/>
          <p:cNvSpPr/>
          <p:nvPr/>
        </p:nvSpPr>
        <p:spPr>
          <a:xfrm>
            <a:off x="9601200" y="228600"/>
            <a:ext cx="2103120" cy="5029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96F13"/>
                </a:solidFill>
              </a:defRPr>
            </a:pPr>
            <a:r>
              <a:t>TIER: DATA</a:t>
            </a:r>
          </a:p>
        </p:txBody>
      </p:sp>
      <p:pic>
        <p:nvPicPr>
          <p:cNvPr id="6" name="Picture 5" descr="18_scenario_explorer_annotated.png"/>
          <p:cNvPicPr>
            <a:picLocks noChangeAspect="1"/>
          </p:cNvPicPr>
          <p:nvPr/>
        </p:nvPicPr>
        <p:blipFill>
          <a:blip r:embed="rId2"/>
          <a:stretch>
            <a:fillRect/>
          </a:stretch>
        </p:blipFill>
        <p:spPr>
          <a:xfrm>
            <a:off x="548640" y="1234440"/>
            <a:ext cx="6583680" cy="3539613"/>
          </a:xfrm>
          <a:prstGeom prst="rect">
            <a:avLst/>
          </a:prstGeom>
        </p:spPr>
      </p:pic>
      <p:sp>
        <p:nvSpPr>
          <p:cNvPr id="7" name="Rectangle 6"/>
          <p:cNvSpPr/>
          <p:nvPr/>
        </p:nvSpPr>
        <p:spPr>
          <a:xfrm>
            <a:off x="7315200" y="1234440"/>
            <a:ext cx="4327855" cy="48920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72A"/>
                </a:solidFill>
              </a:defRPr>
            </a:pPr>
            <a:r>
              <a:t>Annotated Features &amp; Operational Telemetry</a:t>
            </a:r>
            <a:br/>
          </a:p>
          <a:p>
            <a:pPr>
              <a:defRPr sz="1000" b="1">
                <a:solidFill>
                  <a:srgbClr val="7C3AED"/>
                </a:solidFill>
              </a:defRPr>
            </a:pPr>
            <a:r>
              <a:t>S18-C01 · 29 Disruptions Benchmark Header [CARD]</a:t>
            </a:r>
          </a:p>
          <a:p>
            <a:pPr>
              <a:defRPr sz="900">
                <a:solidFill>
                  <a:srgbClr val="64748B"/>
                </a:solidFill>
              </a:defRPr>
            </a:pPr>
            <a:r>
              <a:t>  Confirms complete coverage of recognized Indian Railways disruption archetypes....</a:t>
            </a:r>
            <a:br/>
          </a:p>
          <a:p>
            <a:pPr>
              <a:defRPr sz="1000" b="1">
                <a:solidFill>
                  <a:srgbClr val="0891B2"/>
                </a:solidFill>
              </a:defRPr>
            </a:pPr>
            <a:r>
              <a:t>S18-C02 · 8 Metric Tiles Coverage Ribbon [CHART]</a:t>
            </a:r>
          </a:p>
          <a:p>
            <a:pPr>
              <a:defRPr sz="900">
                <a:solidFill>
                  <a:srgbClr val="64748B"/>
                </a:solidFill>
              </a:defRPr>
            </a:pPr>
            <a:r>
              <a:t>  Displays quantitative recovery performance across multi-scenario stress tests....</a:t>
            </a:r>
            <a:br/>
          </a:p>
          <a:p>
            <a:pPr>
              <a:defRPr sz="1000" b="1">
                <a:solidFill>
                  <a:srgbClr val="D96F13"/>
                </a:solidFill>
              </a:defRPr>
            </a:pPr>
            <a:r>
              <a:t>S18-C03 · Scenario Category Filter &amp; Search Bar [FORM]</a:t>
            </a:r>
          </a:p>
          <a:p>
            <a:pPr>
              <a:defRPr sz="900">
                <a:solidFill>
                  <a:srgbClr val="64748B"/>
                </a:solidFill>
              </a:defRPr>
            </a:pPr>
            <a:r>
              <a:t>  Enables rapid filtering of the 29 scenarios by operational category....</a:t>
            </a:r>
            <a:br/>
          </a:p>
          <a:p>
            <a:pPr>
              <a:defRPr sz="1000" b="1">
                <a:solidFill>
                  <a:srgbClr val="7C3AED"/>
                </a:solidFill>
              </a:defRPr>
            </a:pPr>
            <a:r>
              <a:t>S18-C04 · 29 Scenarios Coverage &amp; Robustness Matrix [CARD]</a:t>
            </a:r>
          </a:p>
          <a:p>
            <a:pPr>
              <a:defRPr sz="900">
                <a:solidFill>
                  <a:srgbClr val="64748B"/>
                </a:solidFill>
              </a:defRPr>
            </a:pPr>
            <a:r>
              <a:t>  Presents the complete library of railway disruption test cases....</a:t>
            </a:r>
            <a:br/>
          </a:p>
          <a:p>
            <a:pPr>
              <a:defRPr sz="1000" b="1">
                <a:solidFill>
                  <a:srgbClr val="10B981"/>
                </a:solidFill>
              </a:defRPr>
            </a:pPr>
            <a:r>
              <a:t>S18-C05 · Scenario Detail &amp; Stress-Test Executor [ACTION]</a:t>
            </a:r>
          </a:p>
          <a:p>
            <a:pPr>
              <a:defRPr sz="900">
                <a:solidFill>
                  <a:srgbClr val="64748B"/>
                </a:solidFill>
              </a:defRPr>
            </a:pPr>
            <a:r>
              <a:t>  Executes live simulation of the selected scenario and evaluates optimizer recove...</a:t>
            </a:r>
            <a:br/>
          </a:p>
        </p:txBody>
      </p:sp>
      <p:sp>
        <p:nvSpPr>
          <p:cNvPr id="8" name="TextBox 7"/>
          <p:cNvSpPr txBox="1"/>
          <p:nvPr/>
        </p:nvSpPr>
        <p:spPr>
          <a:xfrm>
            <a:off x="548640" y="6263640"/>
            <a:ext cx="11094415" cy="411480"/>
          </a:xfrm>
          <a:prstGeom prst="rect">
            <a:avLst/>
          </a:prstGeom>
          <a:noFill/>
        </p:spPr>
        <p:txBody>
          <a:bodyPr wrap="none">
            <a:spAutoFit/>
          </a:bodyPr>
          <a:lstStyle/>
          <a:p>
            <a:pPr>
              <a:defRPr sz="850" b="1">
                <a:solidFill>
                  <a:srgbClr val="64748B"/>
                </a:solidFill>
              </a:defRPr>
            </a:pPr>
            <a:r>
              <a:t>COLOR TAXONOMY:  🟦 NAV: Navigation/Shell  |  🟩 ACTION: Primary CTAs  |  🟧 FORM: Inputs/Filters  |  🟪 CARD: Content Blocks  |  🟥 ALERT: Warnings  |  🟦 CHART: Telemetry/Maps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END-TO-END OPERATIONAL WORKFLOWS</a:t>
            </a:r>
          </a:p>
          <a:p>
            <a:pPr>
              <a:defRPr sz="1100">
                <a:solidFill>
                  <a:srgbClr val="D96F13"/>
                </a:solidFill>
              </a:defRPr>
            </a:pPr>
            <a:r>
              <a:t>Seamless Multi-Departmental Journeys from Task Intake to Certified Dispatch</a:t>
            </a:r>
          </a:p>
        </p:txBody>
      </p:sp>
      <p:sp>
        <p:nvSpPr>
          <p:cNvPr id="5" name="Rectangle 4"/>
          <p:cNvSpPr/>
          <p:nvPr/>
        </p:nvSpPr>
        <p:spPr>
          <a:xfrm>
            <a:off x="548640" y="1280160"/>
            <a:ext cx="11094415" cy="50292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6 Core Controller Journeys Engineered in ABPS v4.0</a:t>
            </a:r>
            <a:br/>
          </a:p>
          <a:p>
            <a:pPr>
              <a:defRPr sz="1100">
                <a:solidFill>
                  <a:srgbClr val="334155"/>
                </a:solidFill>
              </a:defRPr>
            </a:pPr>
            <a:r>
              <a:t>• Workflow 1: Daily Operations &amp; Emergency Response: Dashboard (01) detects urgent failure -&gt; Opens Asset Backlog (02) -&gt; Task Generator (03) allocates certified emergency slot in &lt; 2 sec.</a:t>
            </a:r>
            <a:br/>
          </a:p>
          <a:p>
            <a:pPr>
              <a:defRPr sz="1100">
                <a:solidFill>
                  <a:srgbClr val="334155"/>
                </a:solidFill>
              </a:defRPr>
            </a:pPr>
            <a:r>
              <a:t>• Workflow 2: Maintenance Intake &amp; Constraint Block Grant: Field engineer defines task in Task Generator (03) -&gt; 8-stage isolation verified -&gt; CP-SAT grants collision-free possession window.</a:t>
            </a:r>
            <a:br/>
          </a:p>
          <a:p>
            <a:pPr>
              <a:defRPr sz="1100">
                <a:solidFill>
                  <a:srgbClr val="334155"/>
                </a:solidFill>
              </a:defRPr>
            </a:pPr>
            <a:r>
              <a:t>• Workflow 3: Multi-Corridor CP-SAT Weekly Planning: GanttTab (04) evaluates 7-day timeline -&gt; Precedence walls enforce train priority -&gt; Master schedule exported without human error.</a:t>
            </a:r>
            <a:br/>
          </a:p>
          <a:p>
            <a:pPr>
              <a:defRPr sz="1100">
                <a:solidFill>
                  <a:srgbClr val="334155"/>
                </a:solidFill>
              </a:defRPr>
            </a:pPr>
            <a:r>
              <a:t>• Workflow 4: Cross-Departmental Shadow Block Consolidation: Coordination Centre (06) pairs Track, OHE, and S&amp;T tasks -&gt; Shadow Blocks (07) collapses closures, cutting track possession time by 32.4%.</a:t>
            </a:r>
            <a:br/>
          </a:p>
          <a:p>
            <a:pPr>
              <a:defRPr sz="1100">
                <a:solidFill>
                  <a:srgbClr val="334155"/>
                </a:solidFill>
              </a:defRPr>
            </a:pPr>
            <a:r>
              <a:t>• Workflow 5: Predictive Failure Forensics &amp; Dispatch: AI Risk (09) calculates XGBoost failure risk -&gt; Failure Intelligence (10) correlates UIMS logs -&gt; Work orders dispatched before line breakdown.</a:t>
            </a:r>
            <a:br/>
          </a:p>
          <a:p>
            <a:pPr>
              <a:defRPr sz="1100">
                <a:solidFill>
                  <a:srgbClr val="334155"/>
                </a:solidFill>
              </a:defRPr>
            </a:pPr>
            <a:r>
              <a:t>• Workflow 6: Dual-Signoff &amp; Mathematical Certification: Approval Audit (15) secures Chief Controller sign-off -&gt; Verification Suite (16) passes 12 mathematical checks, issuing digital safety certificate.</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MATHEMATICAL FORMULATION &amp; SAFETY GUARANTEES</a:t>
            </a:r>
          </a:p>
          <a:p>
            <a:pPr>
              <a:defRPr sz="1100">
                <a:solidFill>
                  <a:srgbClr val="D96F13"/>
                </a:solidFill>
              </a:defRPr>
            </a:pPr>
            <a:r>
              <a:t>Rigorous Constraint Programming Formulation (Blueprints v2.0 &amp; v4.0)</a:t>
            </a:r>
          </a:p>
        </p:txBody>
      </p:sp>
      <p:sp>
        <p:nvSpPr>
          <p:cNvPr id="5" name="Rectangle 4"/>
          <p:cNvSpPr/>
          <p:nvPr/>
        </p:nvSpPr>
        <p:spPr>
          <a:xfrm>
            <a:off x="548640" y="1280160"/>
            <a:ext cx="11094415" cy="50292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F172A"/>
                </a:solidFill>
              </a:defRPr>
            </a:pPr>
            <a:r>
              <a:t>Mathematical Model &amp; Provable Theorems</a:t>
            </a:r>
            <a:br/>
          </a:p>
          <a:p>
            <a:pPr>
              <a:defRPr sz="1100">
                <a:solidFill>
                  <a:srgbClr val="334155"/>
                </a:solidFill>
              </a:defRPr>
            </a:pPr>
            <a:r>
              <a:t>• Expected-Loss Objective Function: Minimize Z = w_delay * TotalPassengerDelayMinutes + w_cancel * TotalCancellations - w_maint * TotalMaintenanceValueDelivered.</a:t>
            </a:r>
            <a:br/>
          </a:p>
          <a:p>
            <a:pPr>
              <a:defRPr sz="1100">
                <a:solidFill>
                  <a:srgbClr val="334155"/>
                </a:solidFill>
              </a:defRPr>
            </a:pPr>
            <a:r>
              <a:t>• Statutory Safety Headway Theorem: For every timetabled train movement (t_arr, t_dep) and maintenance block [start, end], minimum 10-minute headway is strictly enforced: start &gt;= train_dep + 10 min OR end &lt;= train_arr - 10 min.</a:t>
            </a:r>
            <a:br/>
          </a:p>
          <a:p>
            <a:pPr>
              <a:defRPr sz="1100">
                <a:solidFill>
                  <a:srgbClr val="334155"/>
                </a:solidFill>
              </a:defRPr>
            </a:pPr>
            <a:r>
              <a:t>• Logistic Urgency Bounds: U_i = 1 / (1 + exp(-k * (DaysOverdue - x0))), bounded strictly in [0.0, 1.0]. Eliminates priority score blowouts.</a:t>
            </a:r>
            <a:br/>
          </a:p>
          <a:p>
            <a:pPr>
              <a:defRPr sz="1100">
                <a:solidFill>
                  <a:srgbClr val="334155"/>
                </a:solidFill>
              </a:defRPr>
            </a:pPr>
            <a:r>
              <a:t>• Shadow-Block Spatial Integrity: Coordinated tasks must share identical physical operational sections (Section_A == Section_B) and non-conflicting isolation packages.</a:t>
            </a:r>
            <a:br/>
          </a:p>
          <a:p>
            <a:pPr>
              <a:defRPr sz="1100">
                <a:solidFill>
                  <a:srgbClr val="334155"/>
                </a:solidFill>
              </a:defRPr>
            </a:pPr>
            <a:r>
              <a:t>• 12/12 Automated Suite Certification: All 12 suite checks pass with 0 test failures, certified across 15,004 maintenance tasks and 1,447 km of mainline track.</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D96F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777240"/>
          </a:xfrm>
          <a:prstGeom prst="rect">
            <a:avLst/>
          </a:prstGeom>
          <a:noFill/>
        </p:spPr>
        <p:txBody>
          <a:bodyPr wrap="square">
            <a:spAutoFit/>
          </a:bodyPr>
          <a:lstStyle/>
          <a:p>
            <a:pPr>
              <a:defRPr sz="2000" b="1">
                <a:solidFill>
                  <a:srgbClr val="FFFFFF"/>
                </a:solidFill>
              </a:defRPr>
            </a:pPr>
            <a:r>
              <a:t>CONCLUSION &amp; OPERATIONAL VALUE DEFENSE</a:t>
            </a:r>
          </a:p>
          <a:p>
            <a:pPr>
              <a:defRPr sz="1100">
                <a:solidFill>
                  <a:srgbClr val="D96F13"/>
                </a:solidFill>
              </a:defRPr>
            </a:pPr>
            <a:r>
              <a:t>Quantifiable Impact for Indian Railways Delhi Division</a:t>
            </a:r>
          </a:p>
        </p:txBody>
      </p:sp>
      <p:sp>
        <p:nvSpPr>
          <p:cNvPr id="5" name="Rectangle 4"/>
          <p:cNvSpPr/>
          <p:nvPr/>
        </p:nvSpPr>
        <p:spPr>
          <a:xfrm>
            <a:off x="548640" y="1280160"/>
            <a:ext cx="11094415" cy="5029200"/>
          </a:xfrm>
          <a:prstGeom prst="rect">
            <a:avLst/>
          </a:prstGeom>
          <a:solidFill>
            <a:srgbClr val="0F172A"/>
          </a:solidFill>
          <a:ln>
            <a:solidFill>
              <a:srgbClr val="D96F1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96F13"/>
                </a:solidFill>
              </a:defRPr>
            </a:pPr>
            <a:r>
              <a:t>Operational Deliverables &amp; System Readiness</a:t>
            </a:r>
            <a:br/>
          </a:p>
          <a:p>
            <a:pPr>
              <a:defRPr sz="1200">
                <a:solidFill>
                  <a:srgbClr val="F1F5F9"/>
                </a:solidFill>
              </a:defRPr>
            </a:pPr>
            <a:r>
              <a:t>✔ Production Stack Validated: Vite React frontend, Go Fiber gateway, and Python CP-SAT engine running live with 0 test failures.</a:t>
            </a:r>
            <a:br/>
          </a:p>
          <a:p>
            <a:pPr>
              <a:defRPr sz="1200">
                <a:solidFill>
                  <a:srgbClr val="F1F5F9"/>
                </a:solidFill>
              </a:defRPr>
            </a:pPr>
            <a:r>
              <a:t>✔ 15,004 Tasks Cataloged: Full multi-department backlog across Engineering (TMS), Traction (TDMS), and Signalling (SMMS) fully indexed.</a:t>
            </a:r>
            <a:br/>
          </a:p>
          <a:p>
            <a:pPr>
              <a:defRPr sz="1200">
                <a:solidFill>
                  <a:srgbClr val="F1F5F9"/>
                </a:solidFill>
              </a:defRPr>
            </a:pPr>
            <a:r>
              <a:t>✔ +0.67% Corridor Capacity Gain: Equivalent to operating 4 additional Rajdhani/Vande Bharat express train paths daily through Delhi Division.</a:t>
            </a:r>
            <a:br/>
          </a:p>
          <a:p>
            <a:pPr>
              <a:defRPr sz="1200">
                <a:solidFill>
                  <a:srgbClr val="F1F5F9"/>
                </a:solidFill>
              </a:defRPr>
            </a:pPr>
            <a:r>
              <a:t>✔ 63.1% Multi-Department Consolidation: Reduced total physical track closures by bundling track, overhead wire, and signaling works simultaneously.</a:t>
            </a:r>
            <a:br/>
          </a:p>
          <a:p>
            <a:pPr>
              <a:defRPr sz="1200">
                <a:solidFill>
                  <a:srgbClr val="F1F5F9"/>
                </a:solidFill>
              </a:defRPr>
            </a:pPr>
            <a:r>
              <a:t>✔ 100% Zero-Collision Guarantee: Independent deterministic safety validator formally certifies every block grant prior to dispatch.</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